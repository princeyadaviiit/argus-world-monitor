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embeddedFontLst>
    <p:embeddedFont>
      <p:font typeface="Garamond"/>
      <p:regular r:id="rId13"/>
      <p:bold r:id="rId14"/>
      <p:italic r:id="rId15"/>
      <p:boldItalic r:id="rId16"/>
    </p:embeddedFont>
    <p:embeddedFont>
      <p:font typeface="Oswald"/>
      <p:regular r:id="rId17"/>
      <p:bold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19" roundtripDataSignature="AMtx7mipyci0ISH2oTkXb2PZliH120p69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3" Type="http://schemas.openxmlformats.org/officeDocument/2006/relationships/font" Target="fonts/Garamond-regular.fntdata"/><Relationship Id="rId14" Type="http://schemas.openxmlformats.org/officeDocument/2006/relationships/font" Target="fonts/Garamond-bold.fntdata"/><Relationship Id="rId15" Type="http://schemas.openxmlformats.org/officeDocument/2006/relationships/font" Target="fonts/Garamond-italic.fntdata"/><Relationship Id="rId16" Type="http://schemas.openxmlformats.org/officeDocument/2006/relationships/font" Target="fonts/Garamond-boldItalic.fntdata"/><Relationship Id="rId17" Type="http://schemas.openxmlformats.org/officeDocument/2006/relationships/font" Target="fonts/Oswald-regular.fntdata"/><Relationship Id="rId18" Type="http://schemas.openxmlformats.org/officeDocument/2006/relationships/font" Target="fonts/Oswald-bold.fntdata"/><Relationship Id="rId19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09" name="Google Shape;10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21" name="Google Shape;12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33" name="Google Shape;13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45" name="Google Shape;14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0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0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0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0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1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2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2"/>
          <p:cNvSpPr txBox="1"/>
          <p:nvPr>
            <p:ph idx="1" type="body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2"/>
          <p:cNvSpPr txBox="1"/>
          <p:nvPr>
            <p:ph idx="2" type="body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3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3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3"/>
          <p:cNvSpPr txBox="1"/>
          <p:nvPr>
            <p:ph idx="3" type="body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3"/>
          <p:cNvSpPr txBox="1"/>
          <p:nvPr>
            <p:ph idx="4" type="body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3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3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4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4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" type="body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6"/>
          <p:cNvSpPr txBox="1"/>
          <p:nvPr>
            <p:ph idx="2" type="body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16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7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8"/>
          <p:cNvSpPr txBox="1"/>
          <p:nvPr>
            <p:ph idx="1" type="body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9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9"/>
          <p:cNvSpPr txBox="1"/>
          <p:nvPr>
            <p:ph idx="1" type="body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8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5656780" y="851521"/>
            <a:ext cx="4638605" cy="5154967"/>
          </a:xfrm>
          <a:custGeom>
            <a:rect b="b" l="l" r="r" t="t"/>
            <a:pathLst>
              <a:path extrusionOk="0" h="5154967" w="6184806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"/>
          <p:cNvPicPr preferRelativeResize="0"/>
          <p:nvPr/>
        </p:nvPicPr>
        <p:blipFill rotWithShape="1">
          <a:blip r:embed="rId3">
            <a:alphaModFix/>
          </a:blip>
          <a:srcRect b="0" l="0" r="59916" t="0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"/>
          <p:cNvSpPr txBox="1"/>
          <p:nvPr>
            <p:ph idx="1" type="subTitle"/>
          </p:nvPr>
        </p:nvSpPr>
        <p:spPr>
          <a:xfrm>
            <a:off x="1245686" y="648614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t/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b="1"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TITLE PAGE</a:t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"/>
          <p:cNvSpPr txBox="1"/>
          <p:nvPr>
            <p:ph type="ctrTitle"/>
          </p:nvPr>
        </p:nvSpPr>
        <p:spPr>
          <a:xfrm>
            <a:off x="331286" y="-526757"/>
            <a:ext cx="10363200" cy="2076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b="1" sz="4000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331286" y="1881500"/>
            <a:ext cx="5924700" cy="4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1" sz="1300">
                <a:latin typeface="Arial"/>
              </a:defRPr>
            </a:pPr>
            <a:r>
              <a:t>Problem Statement Title- Security Assessment of the World Monitor Application (SIH26163)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1200">
                <a:latin typeface="Arial"/>
              </a:defRPr>
            </a:pPr>
            <a:r>
              <a:t>Theme- Smart Automation  |  Category- Software  |  Organization- NTRO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PS Category- Software/Hardware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1200">
                <a:latin typeface="Arial"/>
              </a:defRPr>
            </a:pPr>
            <a:r>
              <a:t>Team ID- [Team ID]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1200">
                <a:latin typeface="Arial"/>
              </a:defRPr>
            </a:pPr>
            <a:r>
              <a:t>Team Name (Registered on portal)- [Team Name]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Rounded Rectangle 94"/>
          <p:cNvSpPr/>
          <p:nvPr/>
        </p:nvSpPr>
        <p:spPr>
          <a:xfrm>
            <a:off x="329184" y="4663440"/>
            <a:ext cx="621792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150">
                <a:solidFill>
                  <a:srgbClr val="1E3A8A"/>
                </a:solidFill>
                <a:latin typeface="Arial"/>
              </a:defRPr>
            </a:pPr>
            <a:r>
              <a:t>Idea Title: ARGUS - Automated Risk &amp; Vulnerability Unified Scanner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System Overview: </a:t>
            </a:r>
            <a:r>
              <a:rPr b="0" sz="900">
                <a:solidFill>
                  <a:srgbClr val="0F172A"/>
                </a:solidFill>
              </a:rPr>
              <a:t>Automated security assessment and correlation engine tailored for the World Monitor OSINT dashboard.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Core Metric: </a:t>
            </a:r>
            <a:r>
              <a:rPr b="0" sz="900">
                <a:solidFill>
                  <a:srgbClr val="0F172A"/>
                </a:solidFill>
              </a:rPr>
              <a:t>166 edge routes mapped, 12 vulnerabilities correlated, 5 safe PoC checks, 6.5s execution.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Integrity: </a:t>
            </a:r>
            <a:r>
              <a:rPr b="0" sz="900">
                <a:solidFill>
                  <a:srgbClr val="0F172A"/>
                </a:solidFill>
              </a:rPr>
              <a:t>Statically verified evidence files for every code finding; strictly localhost testing.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766560" y="4663440"/>
            <a:ext cx="502920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5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100">
                <a:solidFill>
                  <a:srgbClr val="1E3A8A"/>
                </a:solidFill>
                <a:latin typeface="Arial"/>
              </a:defRPr>
            </a:pPr>
            <a:r>
              <a:t>Target Architecture &amp; Sandbox Scope (World Monitor)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Attack Surface: </a:t>
            </a:r>
            <a:r>
              <a:rPr b="0" sz="900">
                <a:solidFill>
                  <a:srgbClr val="0F172A"/>
                </a:solidFill>
              </a:rPr>
              <a:t>166 Vercel Edge API routes (137 unauthenticated, 29 authenticated).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Client Shell: </a:t>
            </a:r>
            <a:r>
              <a:rPr b="0" sz="900">
                <a:solidFill>
                  <a:srgbClr val="0F172A"/>
                </a:solidFill>
              </a:rPr>
              <a:t>Next.js React UI and Tauri 2.0 Rust desktop shell with local IPC token.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Threat Feeds: </a:t>
            </a:r>
            <a:r>
              <a:rPr b="0" sz="900">
                <a:solidFill>
                  <a:srgbClr val="0F172A"/>
                </a:solidFill>
              </a:rPr>
              <a:t>428 allow-listed RSS feeds and LLM news summarization endpoints.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Safety Rule: </a:t>
            </a:r>
            <a:r>
              <a:rPr b="0" sz="900">
                <a:solidFill>
                  <a:srgbClr val="0F172A"/>
                </a:solidFill>
              </a:rPr>
              <a:t>Strictly localhost testing sandbox (zero external production network access).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 txBox="1"/>
          <p:nvPr>
            <p:ph type="title"/>
          </p:nvPr>
        </p:nvSpPr>
        <p:spPr>
          <a:xfrm>
            <a:off x="182998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  <a:defRPr b="1" sz="1500">
                <a:solidFill>
                  <a:srgbClr val="1E3A8A"/>
                </a:solidFill>
                <a:latin typeface="Arial"/>
              </a:defRPr>
            </a:pPr>
            <a:r>
              <a:t>ARGUS: Automated Security Assessment for World Monitor</a:t>
            </a:r>
            <a:endParaRPr/>
          </a:p>
        </p:txBody>
      </p:sp>
      <p:sp>
        <p:nvSpPr>
          <p:cNvPr id="103" name="Google Shape;103;p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04" name="Google Shape;104;p2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05" name="Google Shape;105;p2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al"/>
              </a:defRPr>
            </a:pPr>
            <a:r>
              <a:t>[Team Name]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TextBox 106"/>
          <p:cNvSpPr txBox="1"/>
          <p:nvPr/>
        </p:nvSpPr>
        <p:spPr>
          <a:xfrm>
            <a:off x="457200" y="105156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1E3A8A"/>
                </a:solidFill>
                <a:latin typeface="Arial"/>
              </a:defRPr>
            </a:pPr>
            <a:r>
              <a:t>Proposed Solution (Describe your Idea/Solution/Prototype)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57200" y="1417320"/>
            <a:ext cx="3611880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050">
                <a:solidFill>
                  <a:srgbClr val="1E3A8A"/>
                </a:solidFill>
                <a:latin typeface="Arial"/>
              </a:defRPr>
            </a:pPr>
            <a:r>
              <a:t>1. Detailed Explanation of Proposed Solution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Autonomous AppSec Engine: </a:t>
            </a:r>
            <a:r>
              <a:rPr b="0" sz="900">
                <a:solidFill>
                  <a:srgbClr val="0F172A"/>
                </a:solidFill>
              </a:rPr>
              <a:t>Tailored for OSINT dashboards combining 166 Vercel Edge routes, Upstash Redis, and Tauri 2.0 Rust desktop.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Single-Command Pipeline: </a:t>
            </a:r>
            <a:r>
              <a:rPr b="0" sz="900">
                <a:solidFill>
                  <a:srgbClr val="0F172A"/>
                </a:solidFill>
              </a:rPr>
              <a:t>Extracts routes, analyzes 1,795 npm dependencies, verifies 5 code flaws, and scores CVSS 3.1 in 6.5 seconds.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Two-Signal Confirmation: </a:t>
            </a:r>
            <a:r>
              <a:rPr b="0" sz="900">
                <a:solidFill>
                  <a:srgbClr val="0F172A"/>
                </a:solidFill>
              </a:rPr>
              <a:t>Filters single-engine scanner noise by requiring multi-point confirmation before PoC execution.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Full Audit Deliverables: </a:t>
            </a:r>
            <a:r>
              <a:rPr b="0" sz="900">
                <a:solidFill>
                  <a:srgbClr val="0F172A"/>
                </a:solidFill>
              </a:rPr>
              <a:t>Generates 12-page executive PDF, interactive HTML report, Markdown diffs, and machine-readable JSON.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Audit Traceability: </a:t>
            </a:r>
            <a:r>
              <a:rPr b="0" sz="900">
                <a:solidFill>
                  <a:srgbClr val="0F172A"/>
                </a:solidFill>
              </a:rPr>
              <a:t>Every reported finding links directly to source code line numbers and safe reproduction scripts.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297680" y="1417320"/>
            <a:ext cx="3611880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5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050">
                <a:solidFill>
                  <a:srgbClr val="1E3A8A"/>
                </a:solidFill>
                <a:latin typeface="Arial"/>
              </a:defRPr>
            </a:pPr>
            <a:r>
              <a:t>2. How It Addresses the Problem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Attack Surface Triage: </a:t>
            </a:r>
            <a:r>
              <a:rPr b="0" sz="900">
                <a:solidFill>
                  <a:srgbClr val="0F172A"/>
                </a:solidFill>
              </a:rPr>
              <a:t>Inventories 166 edge routes, pinpointing 137 unauthenticated endpoints exposed to unmetered requests.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Denial of Service (CWE-770): </a:t>
            </a:r>
            <a:r>
              <a:rPr b="0" sz="900">
                <a:solidFill>
                  <a:srgbClr val="0F172A"/>
                </a:solidFill>
              </a:rPr>
              <a:t>Discovered fail-open rate limiter degradation in api/_rate-limit.js returning null during Redis timeout.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DOM Script Injection (CWE-79): </a:t>
            </a:r>
            <a:r>
              <a:rPr b="0" sz="900">
                <a:solidFill>
                  <a:srgbClr val="0F172A"/>
                </a:solidFill>
              </a:rPr>
              <a:t>Audited 357 call sites using placeholder escape reasons bypassing Trusted Types innerHTML protection.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SSRF Rebinding (CWE-918): </a:t>
            </a:r>
            <a:r>
              <a:rPr b="0" sz="900">
                <a:solidFill>
                  <a:srgbClr val="0F172A"/>
                </a:solidFill>
              </a:rPr>
              <a:t>Identified edge fetch socket-pinning gap in MCP proxy acknowledging residual DNS rebinding.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Prompt Injection (LLM01): </a:t>
            </a:r>
            <a:r>
              <a:rPr b="0" sz="900">
                <a:solidFill>
                  <a:srgbClr val="0F172A"/>
                </a:solidFill>
              </a:rPr>
              <a:t>Uncovered regex sanitization bypass allowing multilingual and semantic prompt overrides in news feeds.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138160" y="1417320"/>
            <a:ext cx="3611880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050">
                <a:solidFill>
                  <a:srgbClr val="1E3A8A"/>
                </a:solidFill>
                <a:latin typeface="Arial"/>
              </a:defRPr>
            </a:pPr>
            <a:r>
              <a:t>3. Innovation and Uniqueness of the Solution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Noise Reduction (80%): </a:t>
            </a:r>
            <a:r>
              <a:rPr b="0" sz="900">
                <a:solidFill>
                  <a:srgbClr val="0F172A"/>
                </a:solidFill>
              </a:rPr>
              <a:t>Two-signal correlation eliminates false alarms, cutting manual security triage from hours to seconds.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Non-Destructive PoCs: </a:t>
            </a:r>
            <a:r>
              <a:rPr b="0" sz="900">
                <a:solidFill>
                  <a:srgbClr val="0F172A"/>
                </a:solidFill>
              </a:rPr>
              <a:t>5 safe verification scripts confirm exploitability using canary markers with zero DoS or data loss.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Actionable Patch Diffs: </a:t>
            </a:r>
            <a:r>
              <a:rPr b="0" sz="900">
                <a:solidFill>
                  <a:srgbClr val="0F172A"/>
                </a:solidFill>
              </a:rPr>
              <a:t>Delivers production-tested DOMPurify sanitizers, fail-closed rate limiters, and Node socket pinning.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Zero-Dollar Stack: </a:t>
            </a:r>
            <a:r>
              <a:rPr b="0" sz="900">
                <a:solidFill>
                  <a:srgbClr val="0F172A"/>
                </a:solidFill>
              </a:rPr>
              <a:t>Built entirely with open-source tools (Python 3.11+, Pydantic, Node 20+) with zero licensing overhead.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Defense &amp; CI/CD Ready: </a:t>
            </a:r>
            <a:r>
              <a:rPr b="0" sz="900">
                <a:solidFill>
                  <a:srgbClr val="0F172A"/>
                </a:solidFill>
              </a:rPr>
              <a:t>Provides SARIF 2.1.0 exports ready for NTRO evaluation and automated GitHub Actions gating.</a:t>
            </a:r>
          </a:p>
        </p:txBody>
      </p:sp>
      <p:graphicFrame>
        <p:nvGraphicFramePr>
          <p:cNvPr id="111" name="Table 110"/>
          <p:cNvGraphicFramePr>
            <a:graphicFrameLocks noGrp="1"/>
          </p:cNvGraphicFramePr>
          <p:nvPr/>
        </p:nvGraphicFramePr>
        <p:xfrm>
          <a:off x="457200" y="4892040"/>
          <a:ext cx="1127455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6352"/>
                <a:gridCol w="2816352"/>
                <a:gridCol w="2816352"/>
                <a:gridCol w="2825496"/>
              </a:tblGrid>
              <a:tr h="594360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Total Surface Inventory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Unauthenticated Exposure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Correlated Vulnerabilities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Top Verified Risk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166 Vercel Edge Routes</a:t>
                      </a:r>
                      <a:br/>
                      <a:r>
                        <a:t>AST &amp; regex route catalog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137 Public Endpoints (82%)</a:t>
                      </a:r>
                      <a:br/>
                      <a:r>
                        <a:t>Feeds, markets &amp; telemetry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12 Distinct Flaws (1H, 11M)</a:t>
                      </a:r>
                      <a:br/>
                      <a:r>
                        <a:t>Reduced from 14 raw signals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B45309"/>
                          </a:solidFill>
                          <a:latin typeface="Arial"/>
                        </a:defRPr>
                      </a:pPr>
                      <a:r>
                        <a:t>Fail-Open Rate Limiter (7.5)</a:t>
                      </a:r>
                      <a:br/>
                      <a:r>
                        <a:t>Unmetered Redis degradation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115" name="Google Shape;115;p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16" name="Google Shape;116;p3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17" name="Google Shape;117;p3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al"/>
              </a:defRPr>
            </a:pPr>
            <a:r>
              <a:t>[Team Name]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TextBox 118"/>
          <p:cNvSpPr txBox="1"/>
          <p:nvPr/>
        </p:nvSpPr>
        <p:spPr>
          <a:xfrm>
            <a:off x="457200" y="105156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1E3A8A"/>
                </a:solidFill>
                <a:latin typeface="Arial"/>
              </a:defRPr>
            </a:pPr>
            <a:r>
              <a:t>Technologies to be used &amp; Methodology for Implementation (Flow Chart &amp; Deliverables)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57200" y="1417320"/>
            <a:ext cx="46634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050">
                <a:solidFill>
                  <a:srgbClr val="1E3A8A"/>
                </a:solidFill>
                <a:latin typeface="Arial"/>
              </a:defRPr>
            </a:pPr>
            <a:r>
              <a:t>1. Technologies to be Used (Stack &amp; Tooling)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Core Engine: </a:t>
            </a:r>
            <a:r>
              <a:rPr b="0" sz="900">
                <a:solidFill>
                  <a:srgbClr val="0F172A"/>
                </a:solidFill>
              </a:rPr>
              <a:t>Python 3.11+, Pydantic v2 data models, FIRST CVSS v3.1 calculator.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Static &amp; Route Parsing: </a:t>
            </a:r>
            <a:r>
              <a:rPr b="0" sz="900">
                <a:solidFill>
                  <a:srgbClr val="0F172A"/>
                </a:solidFill>
              </a:rPr>
              <a:t>Custom AST route analyzers for TypeScript &amp; Next.js edge functions.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Dependency Audit (SCA): </a:t>
            </a:r>
            <a:r>
              <a:rPr b="0" sz="900">
                <a:solidFill>
                  <a:srgbClr val="0F172A"/>
                </a:solidFill>
              </a:rPr>
              <a:t>npm audit CLI assessing 1,795 packages across lockfile.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Report Generation: </a:t>
            </a:r>
            <a:r>
              <a:rPr b="0" sz="900">
                <a:solidFill>
                  <a:srgbClr val="0F172A"/>
                </a:solidFill>
              </a:rPr>
              <a:t>Jinja2 templating, WeasyPrint PDF engine, SARIF 2.1.0 JSON format.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Testing Sandbox: </a:t>
            </a:r>
            <a:r>
              <a:rPr b="0" sz="900">
                <a:solidFill>
                  <a:srgbClr val="0F172A"/>
                </a:solidFill>
              </a:rPr>
              <a:t>Node.js 20+, Docker containerization, strictly localhost (zero external network).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57200" y="3657600"/>
            <a:ext cx="466344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5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050">
                <a:solidFill>
                  <a:srgbClr val="1E3A8A"/>
                </a:solidFill>
                <a:latin typeface="Arial"/>
              </a:defRPr>
            </a:pPr>
            <a:r>
              <a:t>Safe Verification Guardrails (Non-Destructive Rules)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Localhost Only: </a:t>
            </a:r>
            <a:r>
              <a:rPr b="0" sz="900">
                <a:solidFill>
                  <a:srgbClr val="0F172A"/>
                </a:solidFill>
              </a:rPr>
              <a:t>Executed strictly on authorized local instance; zero external traffic.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Zero DoS Payloads: </a:t>
            </a:r>
            <a:r>
              <a:rPr b="0" sz="900">
                <a:solidFill>
                  <a:srgbClr val="0F172A"/>
                </a:solidFill>
              </a:rPr>
              <a:t>Checks evaluate conditional branches without flooding threads.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Zero Data Leakage: </a:t>
            </a:r>
            <a:r>
              <a:rPr b="0" sz="900">
                <a:solidFill>
                  <a:srgbClr val="0F172A"/>
                </a:solidFill>
              </a:rPr>
              <a:t>Probes do not extract, store, or log sensitive user records.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Canary Verification: </a:t>
            </a:r>
            <a:r>
              <a:rPr b="0" sz="900">
                <a:solidFill>
                  <a:srgbClr val="0F172A"/>
                </a:solidFill>
              </a:rPr>
              <a:t>Automated checks use synthetic marker strings to confirm execution safely.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Reproducibility: </a:t>
            </a:r>
            <a:r>
              <a:rPr b="0" sz="900">
                <a:solidFill>
                  <a:srgbClr val="0F172A"/>
                </a:solidFill>
              </a:rPr>
              <a:t>Every check outputs an evidence log file with exact file and line number.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303520" y="1417320"/>
            <a:ext cx="64282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50">
                <a:solidFill>
                  <a:srgbClr val="1E3A8A"/>
                </a:solidFill>
                <a:latin typeface="Arial"/>
              </a:defRPr>
            </a:pPr>
            <a:r>
              <a:t>2. Methodology and Implementation Process (Automated Five-Stage Pipeline) :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5303520" y="1737360"/>
            <a:ext cx="1188720" cy="1005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b="1" sz="950">
                <a:solidFill>
                  <a:srgbClr val="1E3A8A"/>
                </a:solidFill>
                <a:latin typeface="Arial"/>
              </a:defRPr>
            </a:pPr>
            <a:r>
              <a:t>1. Recon</a:t>
            </a:r>
          </a:p>
          <a:p>
            <a:pPr algn="ctr">
              <a:spcBef>
                <a:spcPts val="200"/>
              </a:spcBef>
              <a:defRPr sz="800">
                <a:solidFill>
                  <a:srgbClr val="0F172A"/>
                </a:solidFill>
                <a:latin typeface="Arial"/>
              </a:defRPr>
            </a:pPr>
            <a:r>
              <a:t>AST Route &amp; Param Parsing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303520" y="2816352"/>
            <a:ext cx="1188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>
                <a:solidFill>
                  <a:srgbClr val="475569"/>
                </a:solidFill>
                <a:latin typeface="Arial"/>
              </a:defRPr>
            </a:pPr>
            <a:r>
              <a:t>endpoints.csv</a:t>
            </a:r>
            <a:br/>
            <a:r>
              <a:t>(166 routes)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492240" y="2240280"/>
            <a:ext cx="128016" cy="0"/>
          </a:xfrm>
          <a:prstGeom prst="line">
            <a:avLst/>
          </a:prstGeom>
          <a:ln w="19050">
            <a:solidFill>
              <a:srgbClr val="1E3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6620256" y="1737360"/>
            <a:ext cx="1188720" cy="1005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b="1" sz="950">
                <a:solidFill>
                  <a:srgbClr val="1E3A8A"/>
                </a:solidFill>
                <a:latin typeface="Arial"/>
              </a:defRPr>
            </a:pPr>
            <a:r>
              <a:t>2. Scanners</a:t>
            </a:r>
          </a:p>
          <a:p>
            <a:pPr algn="ctr">
              <a:spcBef>
                <a:spcPts val="200"/>
              </a:spcBef>
              <a:defRPr sz="800">
                <a:solidFill>
                  <a:srgbClr val="0F172A"/>
                </a:solidFill>
                <a:latin typeface="Arial"/>
              </a:defRPr>
            </a:pPr>
            <a:r>
              <a:t>Lockfile SCA (1,795 pkgs)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620256" y="2816352"/>
            <a:ext cx="1188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>
                <a:solidFill>
                  <a:srgbClr val="475569"/>
                </a:solidFill>
                <a:latin typeface="Arial"/>
              </a:defRPr>
            </a:pPr>
            <a:r>
              <a:t>npm-audit.json</a:t>
            </a:r>
            <a:br/>
            <a:r>
              <a:t>(28 advisories)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7808976" y="2240280"/>
            <a:ext cx="128016" cy="0"/>
          </a:xfrm>
          <a:prstGeom prst="line">
            <a:avLst/>
          </a:prstGeom>
          <a:ln w="19050">
            <a:solidFill>
              <a:srgbClr val="1E3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ounded Rectangle 128"/>
          <p:cNvSpPr/>
          <p:nvPr/>
        </p:nvSpPr>
        <p:spPr>
          <a:xfrm>
            <a:off x="7936992" y="1737360"/>
            <a:ext cx="1188720" cy="1005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b="1" sz="950">
                <a:solidFill>
                  <a:srgbClr val="1E3A8A"/>
                </a:solidFill>
                <a:latin typeface="Arial"/>
              </a:defRPr>
            </a:pPr>
            <a:r>
              <a:t>3. Safe PoC</a:t>
            </a:r>
          </a:p>
          <a:p>
            <a:pPr algn="ctr">
              <a:spcBef>
                <a:spcPts val="200"/>
              </a:spcBef>
              <a:defRPr sz="800">
                <a:solidFill>
                  <a:srgbClr val="0F172A"/>
                </a:solidFill>
                <a:latin typeface="Arial"/>
              </a:defRPr>
            </a:pPr>
            <a:r>
              <a:t>5 non-destructive local checks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936992" y="2816352"/>
            <a:ext cx="1188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>
                <a:solidFill>
                  <a:srgbClr val="475569"/>
                </a:solidFill>
                <a:latin typeface="Arial"/>
              </a:defRPr>
            </a:pPr>
            <a:r>
              <a:t>evidence/*.txt</a:t>
            </a:r>
            <a:br/>
            <a:r>
              <a:t>(5 proof files)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9125712" y="2240280"/>
            <a:ext cx="128016" cy="0"/>
          </a:xfrm>
          <a:prstGeom prst="line">
            <a:avLst/>
          </a:prstGeom>
          <a:ln w="19050">
            <a:solidFill>
              <a:srgbClr val="1E3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Rounded Rectangle 131"/>
          <p:cNvSpPr/>
          <p:nvPr/>
        </p:nvSpPr>
        <p:spPr>
          <a:xfrm>
            <a:off x="9253728" y="1737360"/>
            <a:ext cx="1188720" cy="1005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b="1" sz="950">
                <a:solidFill>
                  <a:srgbClr val="1E3A8A"/>
                </a:solidFill>
                <a:latin typeface="Arial"/>
              </a:defRPr>
            </a:pPr>
            <a:r>
              <a:t>4. Correlate</a:t>
            </a:r>
          </a:p>
          <a:p>
            <a:pPr algn="ctr">
              <a:spcBef>
                <a:spcPts val="200"/>
              </a:spcBef>
              <a:defRPr sz="800">
                <a:solidFill>
                  <a:srgbClr val="0F172A"/>
                </a:solidFill>
                <a:latin typeface="Arial"/>
              </a:defRPr>
            </a:pPr>
            <a:r>
              <a:t>Pydantic dedupe &amp; CVSS 3.1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253728" y="2816352"/>
            <a:ext cx="1188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>
                <a:solidFill>
                  <a:srgbClr val="475569"/>
                </a:solidFill>
                <a:latin typeface="Arial"/>
              </a:defRPr>
            </a:pPr>
            <a:r>
              <a:t>findings.json</a:t>
            </a:r>
            <a:br/>
            <a:r>
              <a:t>(12 flaws)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10442448" y="2240280"/>
            <a:ext cx="128016" cy="0"/>
          </a:xfrm>
          <a:prstGeom prst="line">
            <a:avLst/>
          </a:prstGeom>
          <a:ln w="19050">
            <a:solidFill>
              <a:srgbClr val="1E3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10570463" y="1737360"/>
            <a:ext cx="1188720" cy="1005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b="1" sz="950">
                <a:solidFill>
                  <a:srgbClr val="1E3A8A"/>
                </a:solidFill>
                <a:latin typeface="Arial"/>
              </a:defRPr>
            </a:pPr>
            <a:r>
              <a:t>5. Report</a:t>
            </a:r>
          </a:p>
          <a:p>
            <a:pPr algn="ctr">
              <a:spcBef>
                <a:spcPts val="200"/>
              </a:spcBef>
              <a:defRPr sz="800">
                <a:solidFill>
                  <a:srgbClr val="0F172A"/>
                </a:solidFill>
                <a:latin typeface="Arial"/>
              </a:defRPr>
            </a:pPr>
            <a:r>
              <a:t>Executive PDF &amp; SARIF export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0570463" y="2816352"/>
            <a:ext cx="1188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>
                <a:solidFill>
                  <a:srgbClr val="475569"/>
                </a:solidFill>
                <a:latin typeface="Arial"/>
              </a:defRPr>
            </a:pPr>
            <a:r>
              <a:t>report.pdf</a:t>
            </a:r>
            <a:br/>
            <a:r>
              <a:t>HTML / MD</a:t>
            </a:r>
          </a:p>
        </p:txBody>
      </p:sp>
      <p:graphicFrame>
        <p:nvGraphicFramePr>
          <p:cNvPr id="137" name="Table 136"/>
          <p:cNvGraphicFramePr>
            <a:graphicFrameLocks noGrp="1"/>
          </p:cNvGraphicFramePr>
          <p:nvPr/>
        </p:nvGraphicFramePr>
        <p:xfrm>
          <a:off x="5303520" y="3520440"/>
          <a:ext cx="642823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404872"/>
                <a:gridCol w="2194560"/>
              </a:tblGrid>
              <a:tr h="426720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Pipeline Stage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Inspection Technique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Primary Deliverable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Endpoint Recon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AST Route &amp; Param Parsing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endpoints.csv (166 routes)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Dependency Audit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Lockfile checksum analysis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npm-audit.json (28 advisories)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Code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Static AST &amp; regex 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evidence/*.txt (5 proof files)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Correlation &amp; Scoring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Pydantic v2 deduplication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findings.json (12 flaws)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Multi-Format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WeasyPrint &amp; template engine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report.pdf, report.html, report.md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/>
          </a:p>
        </p:txBody>
      </p:sp>
      <p:sp>
        <p:nvSpPr>
          <p:cNvPr id="127" name="Google Shape;127;p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28" name="Google Shape;128;p4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29" name="Google Shape;129;p4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al"/>
              </a:defRPr>
            </a:pPr>
            <a:r>
              <a:t>[Team Name]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TextBox 130"/>
          <p:cNvSpPr txBox="1"/>
          <p:nvPr/>
        </p:nvSpPr>
        <p:spPr>
          <a:xfrm>
            <a:off x="457200" y="105156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1E3A8A"/>
                </a:solidFill>
                <a:latin typeface="Arial"/>
              </a:defRPr>
            </a:pPr>
            <a:r>
              <a:t>Analysis of Feasibility, Potential Challenges and Risks &amp; Overcoming Strategies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57200" y="1417320"/>
            <a:ext cx="548640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050">
                <a:solidFill>
                  <a:srgbClr val="1E3A8A"/>
                </a:solidFill>
                <a:latin typeface="Arial"/>
              </a:defRPr>
            </a:pPr>
            <a:r>
              <a:t>1. Analysis of Feasibility (Built &amp; Working Today)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Single-Command Execution: </a:t>
            </a:r>
            <a:r>
              <a:rPr b="0" sz="900">
                <a:solidFill>
                  <a:srgbClr val="0F172A"/>
                </a:solidFill>
              </a:rPr>
              <a:t>Full automated audit pipeline completes in 6.5 seconds end-to-end.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Complete Route Inventory: </a:t>
            </a:r>
            <a:r>
              <a:rPr b="0" sz="900">
                <a:solidFill>
                  <a:srgbClr val="0F172A"/>
                </a:solidFill>
              </a:rPr>
              <a:t>AST parser catalogs 166 Vercel Edge API routes (137 public, 29 authenticated).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12 Scored Vulnerabilities: </a:t>
            </a:r>
            <a:r>
              <a:rPr b="0" sz="900">
                <a:solidFill>
                  <a:srgbClr val="0F172A"/>
                </a:solidFill>
              </a:rPr>
              <a:t>Every finding carries an empirical FIRST CVSS 3.1 base score (1 High, 11 Medium).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5 Verified Evidence Proofs: </a:t>
            </a:r>
            <a:r>
              <a:rPr b="0" sz="900">
                <a:solidFill>
                  <a:srgbClr val="0F172A"/>
                </a:solidFill>
              </a:rPr>
              <a:t>Statically verified evidence files with exact file and line numbers written in evidence/.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Open-Source Prerequisites: </a:t>
            </a:r>
            <a:r>
              <a:rPr b="0" sz="900">
                <a:solidFill>
                  <a:srgbClr val="0F172A"/>
                </a:solidFill>
              </a:rPr>
              <a:t>Python 3.11+, Node 20+, Docker. All tools open-source with zero commercial license cost.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217920" y="1417320"/>
            <a:ext cx="5513832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050">
                <a:solidFill>
                  <a:srgbClr val="1E3A8A"/>
                </a:solidFill>
                <a:latin typeface="Arial"/>
              </a:defRPr>
            </a:pPr>
            <a:r>
              <a:t>2. Potential Challenges and Risks (Risk Register)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False Positives in AST Scans: </a:t>
            </a:r>
            <a:r>
              <a:rPr b="0" sz="900">
                <a:solidFill>
                  <a:srgbClr val="0F172A"/>
                </a:solidFill>
              </a:rPr>
              <a:t>Static scanners flagging defensive wrappers or theoretical weaknesses.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Edge Runtime Architectural Limits: </a:t>
            </a:r>
            <a:r>
              <a:rPr b="0" sz="900">
                <a:solidFill>
                  <a:srgbClr val="0F172A"/>
                </a:solidFill>
              </a:rPr>
              <a:t>Vercel Edge functions lack native socket-pinning APIs, complicating SSRF defense.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Dependency Version Drift: </a:t>
            </a:r>
            <a:r>
              <a:rPr b="0" sz="900">
                <a:solidFill>
                  <a:srgbClr val="0F172A"/>
                </a:solidFill>
              </a:rPr>
              <a:t>Upstream npm lockfile updates altering transitive vulnerability attack surfaces.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Runtime Assessment Safety: </a:t>
            </a:r>
            <a:r>
              <a:rPr b="0" sz="900">
                <a:solidFill>
                  <a:srgbClr val="0F172A"/>
                </a:solidFill>
              </a:rPr>
              <a:t>Active scanning risking accidental denial-of-service or database corruption on target hosts.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57200" y="3794760"/>
            <a:ext cx="54864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5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050">
                <a:solidFill>
                  <a:srgbClr val="1E3A8A"/>
                </a:solidFill>
                <a:latin typeface="Arial"/>
              </a:defRPr>
            </a:pPr>
            <a:r>
              <a:t>3. Strategies for Overcoming Challenges (Concrete Mitigations)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Two-Signal Confirmation Rule: </a:t>
            </a:r>
            <a:r>
              <a:rPr b="0" sz="900">
                <a:solidFill>
                  <a:srgbClr val="0F172A"/>
                </a:solidFill>
              </a:rPr>
              <a:t>Every code finding requires an evidence file and static code verification, dropping noise.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Edge SSRF Hardening: </a:t>
            </a:r>
            <a:r>
              <a:rPr b="0" sz="900">
                <a:solidFill>
                  <a:srgbClr val="0F172A"/>
                </a:solidFill>
              </a:rPr>
              <a:t>Recommend dedicated Node.js proxy microservices for high-risk outbound webhook requests.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Checksum Pinning: </a:t>
            </a:r>
            <a:r>
              <a:rPr b="0" sz="900">
                <a:solidFill>
                  <a:srgbClr val="0F172A"/>
                </a:solidFill>
              </a:rPr>
              <a:t>Lockfile hash verification and containerized tool environments guarantee reproducible audits.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Non-Destructive Execution: </a:t>
            </a:r>
            <a:r>
              <a:rPr b="0" sz="900">
                <a:solidFill>
                  <a:srgbClr val="0F172A"/>
                </a:solidFill>
              </a:rPr>
              <a:t>Statically verified checks only; runtime exploit payloads are strictly prohibited.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17920" y="3794760"/>
            <a:ext cx="5513832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050">
                <a:solidFill>
                  <a:srgbClr val="1E3A8A"/>
                </a:solidFill>
                <a:latin typeface="Arial"/>
              </a:defRPr>
            </a:pPr>
            <a:r>
              <a:t>Phased Engineering Roadmap (Now, Next, Later)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PHASE 1: NOW (Built &amp; Working Today): </a:t>
            </a:r>
            <a:r>
              <a:rPr b="0" sz="900">
                <a:solidFill>
                  <a:srgbClr val="0F172A"/>
                </a:solidFill>
              </a:rPr>
              <a:t>166-route AST recon, npm audit SCA, 5 statically verified findings, CVSS 3.1 scoring, PDF/HTML reports.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PHASE 2: NEXT (Integrated Next): </a:t>
            </a:r>
            <a:r>
              <a:rPr b="0" sz="900">
                <a:solidFill>
                  <a:srgbClr val="0F172A"/>
                </a:solidFill>
              </a:rPr>
              <a:t>Integrate Semgrep SAST rules, Gitleaks secret scanning, OSV database, ZAP/Nuclei DAST, and Playwright replay.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PHASE 3: LATER (Enterprise Operations): </a:t>
            </a:r>
            <a:r>
              <a:rPr b="0" sz="900">
                <a:solidFill>
                  <a:srgbClr val="0F172A"/>
                </a:solidFill>
              </a:rPr>
              <a:t>GitHub Actions CI/CD SARIF gate, pre-commit security hooks, and declarative YAML profiles to scan any similar web app.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139" name="Google Shape;139;p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0" name="Google Shape;140;p5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41" name="Google Shape;141;p5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al"/>
              </a:defRPr>
            </a:pPr>
            <a:r>
              <a:t>[Team Name]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TextBox 142"/>
          <p:cNvSpPr txBox="1"/>
          <p:nvPr/>
        </p:nvSpPr>
        <p:spPr>
          <a:xfrm>
            <a:off x="457200" y="105156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1E3A8A"/>
                </a:solidFill>
                <a:latin typeface="Arial"/>
              </a:defRPr>
            </a:pPr>
            <a:r>
              <a:t>Potential Impact on Target Audience &amp; Quantified Benefits of the Solution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457200" y="1417320"/>
            <a:ext cx="548640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050">
                <a:solidFill>
                  <a:srgbClr val="1E3A8A"/>
                </a:solidFill>
                <a:latin typeface="Arial"/>
              </a:defRPr>
            </a:pPr>
            <a:r>
              <a:t>1. Potential Impact on the Target Audience (Outcomes)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Security Triage Teams: </a:t>
            </a:r>
            <a:r>
              <a:rPr b="0" sz="900">
                <a:solidFill>
                  <a:srgbClr val="0F172A"/>
                </a:solidFill>
              </a:rPr>
              <a:t>Raw scanner noise reduced to 12 scored findings (14 raw -&gt; 12); replaces hours of manual triage with a 6.5-second automated scan.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World Monitor Developers: </a:t>
            </a:r>
            <a:r>
              <a:rPr b="0" sz="900">
                <a:solidFill>
                  <a:srgbClr val="0F172A"/>
                </a:solidFill>
              </a:rPr>
              <a:t>Each finding provides exact file, line number, CVSS 3.1 vector, and specific fix diffs (such as DOMPurify integration).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NTRO / Defense Reviewers: </a:t>
            </a:r>
            <a:r>
              <a:rPr b="0" sz="900">
                <a:solidFill>
                  <a:srgbClr val="0F172A"/>
                </a:solidFill>
              </a:rPr>
              <a:t>Repeatable, local, non-destructive assessment with an audit trail, using zero production data.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Intelligence Analysts: </a:t>
            </a:r>
            <a:r>
              <a:rPr b="0" sz="900">
                <a:solidFill>
                  <a:srgbClr val="0F172A"/>
                </a:solidFill>
              </a:rPr>
              <a:t>Protects OSINT feeds against indirect prompt injection, denial of service, and SSRF pivots.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217920" y="1417320"/>
            <a:ext cx="5513832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5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050">
                <a:solidFill>
                  <a:srgbClr val="1E3A8A"/>
                </a:solidFill>
                <a:latin typeface="Arial"/>
              </a:defRPr>
            </a:pPr>
            <a:r>
              <a:t>2. Quantified Benefits of the Solution (Economic &amp; Technical)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Economic Benefit ($0 Licenses): </a:t>
            </a:r>
            <a:r>
              <a:rPr b="0" sz="900">
                <a:solidFill>
                  <a:srgbClr val="0F172A"/>
                </a:solidFill>
              </a:rPr>
              <a:t>Built entirely on open-source binaries (Python 3.11+, Pydantic); eliminates recurring commercial scanner licenses.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Operational Speed (98% Time Saved): </a:t>
            </a:r>
            <a:r>
              <a:rPr b="0" sz="900">
                <a:solidFill>
                  <a:srgbClr val="0F172A"/>
                </a:solidFill>
              </a:rPr>
              <a:t>Full surface audit executes in 6.5 seconds compared to 4 to 8 hours of manual code inspection.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Deterministic Repeatability: </a:t>
            </a:r>
            <a:r>
              <a:rPr b="0" sz="900">
                <a:solidFill>
                  <a:srgbClr val="0F172A"/>
                </a:solidFill>
              </a:rPr>
              <a:t>Automated rule evaluations guarantee consistent audit results across subsequent CI/CD builds.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Actionable Patch Guidance: </a:t>
            </a:r>
            <a:r>
              <a:rPr b="0" sz="900">
                <a:solidFill>
                  <a:srgbClr val="0F172A"/>
                </a:solidFill>
              </a:rPr>
              <a:t>Provides verified code patches for top flaws, eliminating guesswork in engineering sprints.</a:t>
            </a:r>
          </a:p>
        </p:txBody>
      </p:sp>
      <p:graphicFrame>
        <p:nvGraphicFramePr>
          <p:cNvPr id="146" name="Table 145"/>
          <p:cNvGraphicFramePr>
            <a:graphicFrameLocks noGrp="1"/>
          </p:cNvGraphicFramePr>
          <p:nvPr/>
        </p:nvGraphicFramePr>
        <p:xfrm>
          <a:off x="457200" y="3794760"/>
          <a:ext cx="5486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920240"/>
                <a:gridCol w="1920240"/>
              </a:tblGrid>
              <a:tr h="466344"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Manual Security Review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ARGUS Automated Pipeline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Execution Speed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4 to 8 hours per release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  <a:latin typeface="Arial"/>
                        </a:defRPr>
                      </a:pPr>
                      <a:r>
                        <a:t>6.5 seconds end-to-end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Route Coverage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Sampled or inconsistent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  <a:latin typeface="Arial"/>
                        </a:defRPr>
                      </a:pPr>
                      <a:r>
                        <a:t>100% of 166 Edge routes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Repeatability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Subjective, operator-dependent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  <a:latin typeface="Arial"/>
                        </a:defRPr>
                      </a:pPr>
                      <a:r>
                        <a:t>Deterministic across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Evidence Capture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Arial"/>
                        </a:defRPr>
                      </a:pPr>
                      <a:r>
                        <a:t>Manual notes &amp; screenshots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  <a:latin typeface="Arial"/>
                        </a:defRPr>
                      </a:pPr>
                      <a:r>
                        <a:t>Evidence files with line numbers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47" name="Rounded Rectangle 146"/>
          <p:cNvSpPr/>
          <p:nvPr/>
        </p:nvSpPr>
        <p:spPr>
          <a:xfrm>
            <a:off x="6217920" y="3794760"/>
            <a:ext cx="5513832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050">
                <a:solidFill>
                  <a:srgbClr val="1E3A8A"/>
                </a:solidFill>
                <a:latin typeface="Arial"/>
              </a:defRPr>
            </a:pPr>
            <a:r>
              <a:t>Top Verified Flaws Exposure &amp; Remediation Diffs</a:t>
            </a:r>
          </a:p>
          <a:p>
            <a:pPr>
              <a:spcBef>
                <a:spcPts val="300"/>
              </a:spcBef>
              <a:defRPr b="1" sz="850">
                <a:solidFill>
                  <a:srgbClr val="1E3A8A"/>
                </a:solidFill>
                <a:latin typeface="Arial"/>
              </a:defRPr>
            </a:pPr>
            <a:r>
              <a:t>• Fail-Open Rate Limiter (CVSS 7.5 - High): </a:t>
            </a:r>
            <a:r>
              <a:rPr b="0" sz="850">
                <a:solidFill>
                  <a:srgbClr val="0F172A"/>
                </a:solidFill>
              </a:rPr>
              <a:t>When Redis is unreachable, checkRateLimit() returns null, allowing unthrottled requests. Exposes paid geocoding and LLM APIs to quota exhaustion. Remediation: Enforce fail-closed policy or in-memory token buckets.</a:t>
            </a:r>
          </a:p>
          <a:p>
            <a:pPr>
              <a:spcBef>
                <a:spcPts val="300"/>
              </a:spcBef>
              <a:defRPr b="1" sz="850">
                <a:solidFill>
                  <a:srgbClr val="1E3A8A"/>
                </a:solidFill>
                <a:latin typeface="Arial"/>
              </a:defRPr>
            </a:pPr>
            <a:r>
              <a:t>• Trusted Types Bypass (CVSS 6.1 - Medium): </a:t>
            </a:r>
            <a:r>
              <a:rPr b="0" sz="850">
                <a:solidFill>
                  <a:srgbClr val="0F172A"/>
                </a:solidFill>
              </a:rPr>
              <a:t>trustedHtml() performs a bare type-cast without sanitization, and 357 call sites pass the placeholder reason. Risks DOM XSS via poisoned RSS feeds. Remediation: Implement real DOMPurify sanitization in dom-utils.ts.</a:t>
            </a:r>
          </a:p>
          <a:p>
            <a:pPr>
              <a:spcBef>
                <a:spcPts val="300"/>
              </a:spcBef>
              <a:defRPr b="1" sz="850">
                <a:solidFill>
                  <a:srgbClr val="1E3A8A"/>
                </a:solidFill>
                <a:latin typeface="Arial"/>
              </a:defRPr>
            </a:pPr>
            <a:r>
              <a:t>• Standard Deliverables (8 Fields): </a:t>
            </a:r>
            <a:r>
              <a:rPr b="0" sz="850">
                <a:solidFill>
                  <a:srgbClr val="0F172A"/>
                </a:solidFill>
              </a:rPr>
              <a:t>Title, Description, Component, CVSS 3.1 Vector, Verification Steps, Evidence File, Impact, and Remediation Diff.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6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/>
          </a:p>
        </p:txBody>
      </p:sp>
      <p:sp>
        <p:nvSpPr>
          <p:cNvPr id="151" name="Google Shape;151;p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52" name="Google Shape;152;p6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53" name="Google Shape;153;p6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 b="1" sz="1000">
                <a:latin typeface="Arial"/>
              </a:defRPr>
            </a:pPr>
            <a:r>
              <a:t>[Team Name]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TextBox 154"/>
          <p:cNvSpPr txBox="1"/>
          <p:nvPr/>
        </p:nvSpPr>
        <p:spPr>
          <a:xfrm>
            <a:off x="457200" y="1051560"/>
            <a:ext cx="11274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50">
                <a:solidFill>
                  <a:srgbClr val="1E3A8A"/>
                </a:solidFill>
                <a:latin typeface="Arial"/>
              </a:defRPr>
            </a:pPr>
            <a:r>
              <a:t>Details / Links of the Reference and Research Work &amp; Ethical Guardrails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57200" y="1417320"/>
            <a:ext cx="5486400" cy="3200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050">
                <a:solidFill>
                  <a:srgbClr val="1E3A8A"/>
                </a:solidFill>
                <a:latin typeface="Arial"/>
              </a:defRPr>
            </a:pPr>
            <a:r>
              <a:t>Security Specifications and International Standards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OWASP Foundation (2021): </a:t>
            </a:r>
            <a:r>
              <a:rPr b="0" sz="900">
                <a:solidFill>
                  <a:srgbClr val="0F172A"/>
                </a:solidFill>
              </a:rPr>
              <a:t>OWASP Top 10:2021 - The Ten Most Critical Web Application Security Risks. Categories A03:2021-Injection, A04:2021-Insecure Design, A07:2021-Identification Failures, A10:2021-SSRF.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OWASP GenAI Project (2023): </a:t>
            </a:r>
            <a:r>
              <a:rPr b="0" sz="900">
                <a:solidFill>
                  <a:srgbClr val="0F172A"/>
                </a:solidFill>
              </a:rPr>
              <a:t>OWASP Top 10 for Large Language Model Applications. Category LLM01: Prompt Injection.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MITRE Corporation (2024): </a:t>
            </a:r>
            <a:r>
              <a:rPr b="0" sz="900">
                <a:solidFill>
                  <a:srgbClr val="0F172A"/>
                </a:solidFill>
              </a:rPr>
              <a:t>Common Weakness Enumeration. CWE-20 (Input Validation), CWE-79 (XSS), CWE-269 (Privileges), CWE-770 (Resource Allocation), CWE-918 (SSRF).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FIRST (2019): </a:t>
            </a:r>
            <a:r>
              <a:rPr b="0" sz="900">
                <a:solidFill>
                  <a:srgbClr val="0F172A"/>
                </a:solidFill>
              </a:rPr>
              <a:t>Common Vulnerability Scoring System v3.1: Specification Document. Forum of Incident Response and Security Teams.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217920" y="1417320"/>
            <a:ext cx="5513832" cy="3200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5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050">
                <a:solidFill>
                  <a:srgbClr val="1E3A8A"/>
                </a:solidFill>
                <a:latin typeface="Arial"/>
              </a:defRPr>
            </a:pPr>
            <a:r>
              <a:t>Target Repository &amp; Runtime Framework Documentation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World Monitor Project (2026): </a:t>
            </a:r>
            <a:r>
              <a:rPr b="0" sz="900">
                <a:solidFill>
                  <a:srgbClr val="0F172A"/>
                </a:solidFill>
              </a:rPr>
              <a:t>SECURITY.md: Security Policy, Attack Surface, and Known Limitations. (Acknowledged SSRF rebinding residual).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National Vulnerability Database (2026): </a:t>
            </a:r>
            <a:r>
              <a:rPr b="0" sz="900">
                <a:solidFill>
                  <a:srgbClr val="0F172A"/>
                </a:solidFill>
              </a:rPr>
              <a:t>NIST NVD Common Vulnerabilities and Exposures (CVE) Database.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Vercel Inc. (2025): </a:t>
            </a:r>
            <a:r>
              <a:rPr b="0" sz="900">
                <a:solidFill>
                  <a:srgbClr val="0F172A"/>
                </a:solidFill>
              </a:rPr>
              <a:t>Edge Runtime Specification and Fetch API Limitations (Socket-pinning restrictions).</a:t>
            </a:r>
          </a:p>
          <a:p>
            <a:pPr>
              <a:spcBef>
                <a:spcPts val="300"/>
              </a:spcBef>
              <a:defRPr b="1" sz="900">
                <a:solidFill>
                  <a:srgbClr val="1E3A8A"/>
                </a:solidFill>
                <a:latin typeface="Arial"/>
              </a:defRPr>
            </a:pPr>
            <a:r>
              <a:t>• Tauri Project (2025): </a:t>
            </a:r>
            <a:r>
              <a:rPr b="0" sz="900">
                <a:solidFill>
                  <a:srgbClr val="0F172A"/>
                </a:solidFill>
              </a:rPr>
              <a:t>Tauri 2.0 Security Architecture and Inter-Process Communication (IPC) Protocol.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57200" y="4754880"/>
            <a:ext cx="11274552" cy="13716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000">
                <a:solidFill>
                  <a:srgbClr val="166534"/>
                </a:solidFill>
                <a:latin typeface="Arial"/>
              </a:defRPr>
            </a:pPr>
            <a:r>
              <a:t>Strict Ethical Guardrails &amp; Rules of Engagement</a:t>
            </a:r>
          </a:p>
          <a:p>
            <a:pPr>
              <a:spcBef>
                <a:spcPts val="300"/>
              </a:spcBef>
              <a:defRPr b="1" sz="850">
                <a:solidFill>
                  <a:srgbClr val="1E3A8A"/>
                </a:solidFill>
                <a:latin typeface="Arial"/>
              </a:defRPr>
            </a:pPr>
            <a:r>
              <a:t>• Localhost Sandbox Testing Only: </a:t>
            </a:r>
            <a:r>
              <a:rPr b="0" sz="850">
                <a:solidFill>
                  <a:srgbClr val="0F172A"/>
                </a:solidFill>
              </a:rPr>
              <a:t>All security testing was executed strictly on an authorized, locally self-hosted sandbox instance (localhost:3000) using seeded test data. Zero active probing, scanning, or exploitation was conducted against production 'worldmonitor.app' or external upstream services.</a:t>
            </a:r>
          </a:p>
          <a:p>
            <a:pPr>
              <a:spcBef>
                <a:spcPts val="300"/>
              </a:spcBef>
              <a:defRPr b="1" sz="850">
                <a:solidFill>
                  <a:srgbClr val="1E3A8A"/>
                </a:solidFill>
                <a:latin typeface="Arial"/>
              </a:defRPr>
            </a:pPr>
            <a:r>
              <a:t>• Non-Destructive Validation: </a:t>
            </a:r>
            <a:r>
              <a:rPr b="0" sz="850">
                <a:solidFill>
                  <a:srgbClr val="0F172A"/>
                </a:solidFill>
              </a:rPr>
              <a:t>All 5 developed verification scripts are non-destructive and limited strictly to existence validation. Fully compliant with NTRO guidelines, Indian IT Act (Sections 43 and 66), and responsible vulnerability disclosure standards.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2013-12-12T18:46:50Z</dcterms:created>
  <dc:creator>Crowdfunder</dc:creator>
</cp:coreProperties>
</file>