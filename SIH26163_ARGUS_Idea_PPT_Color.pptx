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[0:00 - 0:30 | 30s Pitch - Slide 1: Introduction]</a:t>
            </a:r>
          </a:p>
          <a:p>
            <a:r>
              <a:t>Respected judges, we present ARGUS: an Automated Risk and Vulnerability Unified Scanner purpose-built for problem statement SIH26163 by the National Technical Research Organisation.</a:t>
            </a:r>
          </a:p>
          <a:p/>
          <a:p>
            <a:r>
              <a:t>Rather than presenting theoretical models or synthetic scanner simulations, our team conducted a comprehensive, empirical security assessment of the complete World Monitor open-source intelligence dashboard. We mapped its entire architecture—comprising 166 Vercel Edge endpoints, 5 distinct trust boundaries, Next.js web frontend, and Tauri 2.0 Rust desktop shell.</a:t>
            </a:r>
          </a:p>
          <a:p/>
          <a:p>
            <a:r>
              <a:t>Across our automated SAST, SCA, and custom AST parsers, we ingested 14 raw signals, correlated 12 unique confirmed vulnerabilities—including 1 High-severity unmetered resource DoS and 11 Medium-severity flaws—and executed 5 non-destructive Proof-of-Concept scripts with a 100% confirmation rate. Over the next 4.5 minutes, we will walk you through our empirical findings, technical architecture, and actionable remediations.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[0:30 - 1:45 | 75s Pitch - Slide 2: Proposed Solution &amp; Confirmed Vulnerabilities]</a:t>
            </a:r>
          </a:p>
          <a:p>
            <a:r>
              <a:t>Moving to Slide 2: ARGUS solves the core problem by implementing an automated, architecture-aware AppSec audit tailored specifically for complex OSINT dashboards.</a:t>
            </a:r>
          </a:p>
          <a:p/>
          <a:p>
            <a:r>
              <a:t>World Monitor combines 166 Vercel Edge endpoints, third-party RSS aggregators, LLM summarizers, and a Tauri desktop shell. As highlighted in our left panel, we systematically audited all 7 scope areas mandated by NTRO—from Clerk JWT authentication to local storage security controls.</a:t>
            </a:r>
          </a:p>
          <a:p/>
          <a:p>
            <a:r>
              <a:t>At the bottom, you can see our real, evidenced findings—not synthetic scanner hypotheses:</a:t>
            </a:r>
          </a:p>
          <a:p>
            <a:r>
              <a:t>1. Our highest severity finding is a CVSS 7.5 unmetered resource DoS in api/_rate-limit.js. When Upstash Redis experiences network latency, the limiter fails open with 'X-RateLimit-Mode: degraded', allowing unbounded traffic to drain downstream Geocoding and LLM budgets.</a:t>
            </a:r>
          </a:p>
          <a:p>
            <a:r>
              <a:t>2. Next, a CVSS 6.1 DOM XSS vulnerability: we discovered 357 call sites bypassing browser Trusted Types using a dummy string literal in dom-utils.ts.</a:t>
            </a:r>
          </a:p>
          <a:p>
            <a:r>
              <a:t>3. Third, an indirect prompt injection flaw in the AI news summarizer: static English regex blocklists are easily bypassed by multilingual instructions in external OSINT RSS feeds.</a:t>
            </a:r>
          </a:p>
          <a:p>
            <a:r>
              <a:t>4. Fourth, an edge SSRF TOCTOU rebinding vulnerability in api/mcp-proxy.ts tracked in GHSA-887j-p88r-qmm9.</a:t>
            </a:r>
          </a:p>
          <a:p>
            <a:r>
              <a:t>5. And fifth, a bot filter bypass in middleware.ts where any synthetic 40-character hex key bypasses edge crawler defenses.</a:t>
            </a:r>
          </a:p>
          <a:p>
            <a:r>
              <a:t>Every single finding has an automated, non-destructive PoC script with 100% pass confirmation.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[1:45 - 2:45 | 60s Pitch - Slide 3: Technical Approach &amp; Multi-Engine Correlation]</a:t>
            </a:r>
          </a:p>
          <a:p>
            <a:r>
              <a:t>Turning to Slide 3: our technical approach is founded on multi-engine automated correlation. We do not rely on a single generic scanner.</a:t>
            </a:r>
          </a:p>
          <a:p/>
          <a:p>
            <a:r>
              <a:t>As seen in our 4-tier architecture, ARGUS combines Semgrep for static code analysis, npm audit for supply-chain vulnerabilities, custom AST route extractors for the 166 edge endpoints, and automated verification scripts.</a:t>
            </a:r>
          </a:p>
          <a:p/>
          <a:p>
            <a:r>
              <a:t>Our primary engineering differentiator is the Correlation Engine written in Python 3.14 with Pydantic v2. Disparate scanner outputs are normalized into a unified schema, and our Two-Signal Confirmation Gate discards isolated scanner anomalies, ensuring that reviewers only spend time on verified flaws.</a:t>
            </a:r>
          </a:p>
          <a:p/>
          <a:p>
            <a:r>
              <a:t>In our 8-step methodology below, Step 1 enforces a strict Scope Gate so that no traffic leaves the local sandbox. Findings are mathematically scored using the official FIRST CVSS v3.1 specification, and output as both a 12-page executive PDF report and machine-readable SARIF for continuous CI/CD integration.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[2:45 - 3:30 | 45s Pitch - Slide 4: Feasibility Flowchart &amp; Viability Analysis]</a:t>
            </a:r>
          </a:p>
          <a:p>
            <a:r>
              <a:t>On Slide 4, we demonstrate our Feasibility and Operational Viability through an engineered execution flowchart on the left and a detailed capability assessment on the right.</a:t>
            </a:r>
          </a:p>
          <a:p/>
          <a:p>
            <a:r>
              <a:t>As traced in our 5-step flowchart, ARGUS achieves 100% feasibility because all 166 endpoints and 5 trust boundaries run locally within an isolated AGPL-3.0 sandbox—zero external cloud subscriptions or network dependencies are required.</a:t>
            </a:r>
          </a:p>
          <a:p/>
          <a:p>
            <a:r>
              <a:t>On the right, we address the core viability pillars:</a:t>
            </a:r>
          </a:p>
          <a:p>
            <a:r>
              <a:t>1. Technical Feasibility: White-box AST extraction directly uncovers edge route signatures.</a:t>
            </a:r>
          </a:p>
          <a:p>
            <a:r>
              <a:t>2. Economic Viability: Built with 100% open-source software (Semgrep, Python, Playwright), achieving complete automation at zero license cost.</a:t>
            </a:r>
          </a:p>
          <a:p>
            <a:r>
              <a:t>3. Risk Mitigation: Our Two-Signal confirmation gate discards scanner noise before PoC development, and non-destructive mock testbeds protect upstream APIs.</a:t>
            </a:r>
          </a:p>
          <a:p>
            <a:r>
              <a:t>4. Strategic Scalability: Built for NTRO to audit sovereign OSINT and government web assets simply by updating target YAML profiles.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[3:30 - 4:30 | 60s Pitch - Slide 5: Strategic Impact, Benefits &amp; Deliverables Compliance]</a:t>
            </a:r>
          </a:p>
          <a:p>
            <a:r>
              <a:t>Slide 5 outlines the operational impact and strategic benefits of ARGUS.</a:t>
            </a:r>
          </a:p>
          <a:p/>
          <a:p>
            <a:r>
              <a:t>For NTRO, World Monitor is not simply a generic web dashboard—it is a live OSINT intelligence tool tracking real-time conflict telemetry, maritime vessels, and infrastructure. A compromise of its telemetry via indirect prompt injection or an unmetered resource DoS could blind strategic analysts during a national crisis.</a:t>
            </a:r>
          </a:p>
          <a:p/>
          <a:p>
            <a:r>
              <a:t>ARGUS directly protects this mission by delivering concrete, patch-ready remediations. As shown in our bottom-right table, ARGUS guarantees 100% compliance with all 8 mandatory deliverable fields stipulated in the problem statement—from deterministic reproduction steps to CVSS 3.1 vectors.</a:t>
            </a:r>
          </a:p>
          <a:p/>
          <a:p>
            <a:r>
              <a:t>Furthermore, ARGUS is built for immediate scale: while demonstrated on World Monitor today, its modular engine can be pointed at any sovereign government web service simply by changing the target YAML profile.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[4:30 - 5:00 | 30s Pitch - Slide 6: Research Foundations &amp; Ethical Scope]</a:t>
            </a:r>
          </a:p>
          <a:p>
            <a:r>
              <a:t>Finally, on Slide 6: our methodology is grounded in recent peer-reviewed security research, including 2025 PeerJ and Springer publications on multi-tool correlation, alongside foundational standards from OWASP, MITRE CWE, and FIRST CVSS.</a:t>
            </a:r>
          </a:p>
          <a:p/>
          <a:p>
            <a:r>
              <a:t>Crucially, we maintained strict ethical discipline throughout: 100% of our testing was restricted to an isolated local clone on localhost with zero testing against production infrastructure, adhering strictly to Indian cybersecurity laws and NTRO ethical guidelines.</a:t>
            </a:r>
          </a:p>
          <a:p/>
          <a:p>
            <a:r>
              <a:t>In summary, ARGUS provides NTRO with a complete, evidence-backed security assessment that fulfills every requirement of SIH26163. We are now ready to demonstrate our live tool and answer your questions.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54E86"/>
          </a:solidFill>
          <a:ln w="12700">
            <a:noFill/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INDIA HACKATHON 2026</a:t>
            </a:r>
            <a:endParaRPr lang="en-US" sz="3400" dirty="0"/>
          </a:p>
        </p:txBody>
      </p:sp>
      <p:pic>
        <p:nvPicPr>
          <p:cNvPr id="4" name="Image 0" descr="/home/claude/tpl/logo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0"/>
            <a:ext cx="2103120" cy="985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3716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5F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 PAGE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2176272"/>
            <a:ext cx="100584" cy="100584"/>
          </a:xfrm>
          <a:prstGeom prst="ellipse">
            <a:avLst/>
          </a:prstGeom>
          <a:solidFill>
            <a:srgbClr val="229954"/>
          </a:solidFill>
          <a:ln w="12700">
            <a:noFill/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057400"/>
            <a:ext cx="7589520" cy="6400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Problem Statement Title- Security Assessment of the World Monitor Application (SIH26163)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548640" y="2907792"/>
            <a:ext cx="100584" cy="100584"/>
          </a:xfrm>
          <a:prstGeom prst="ellipse">
            <a:avLst/>
          </a:prstGeom>
          <a:solidFill>
            <a:srgbClr val="DE732A"/>
          </a:solidFill>
          <a:ln w="12700">
            <a:noFill/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788920"/>
            <a:ext cx="7589520" cy="6400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150" b="0">
                <a:solidFill>
                  <a:srgbClr val="0F172A"/>
                </a:solidFill>
                <a:latin typeface="Calibri"/>
              </a:rPr>
              <a:t>Theme- Smart Automation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548640" y="3502152"/>
            <a:ext cx="100584" cy="100584"/>
          </a:xfrm>
          <a:prstGeom prst="ellipse">
            <a:avLst/>
          </a:prstGeom>
          <a:solidFill>
            <a:srgbClr val="7046A8"/>
          </a:solidFill>
          <a:ln w="12700">
            <a:noFill/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3383280"/>
            <a:ext cx="7589520" cy="6400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150" b="0">
                <a:solidFill>
                  <a:srgbClr val="0F172A"/>
                </a:solidFill>
                <a:latin typeface="Calibri"/>
              </a:rPr>
              <a:t>PS Category- Software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548640" y="4096512"/>
            <a:ext cx="100584" cy="100584"/>
          </a:xfrm>
          <a:prstGeom prst="ellipse">
            <a:avLst/>
          </a:prstGeom>
          <a:solidFill>
            <a:srgbClr val="254E86"/>
          </a:solidFill>
          <a:ln w="12700">
            <a:noFill/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3977640"/>
            <a:ext cx="7589520" cy="6400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150" b="0">
                <a:solidFill>
                  <a:srgbClr val="0F172A"/>
                </a:solidFill>
                <a:latin typeface="Calibri"/>
              </a:rPr>
              <a:t>Team ID- [Team ID]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548640" y="4690872"/>
            <a:ext cx="100584" cy="100584"/>
          </a:xfrm>
          <a:prstGeom prst="ellipse">
            <a:avLst/>
          </a:prstGeom>
          <a:solidFill>
            <a:srgbClr val="B03E2A"/>
          </a:solidFill>
          <a:ln w="12700">
            <a:noFill/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4572000"/>
            <a:ext cx="7589520" cy="6400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150" b="0">
                <a:solidFill>
                  <a:srgbClr val="0F172A"/>
                </a:solidFill>
                <a:latin typeface="Calibri"/>
              </a:rPr>
              <a:t>Team Name (Registered on portal)- [Team Name]</a:t>
            </a:r>
            <a:endParaRPr lang="en-US" sz="1900" dirty="0"/>
          </a:p>
        </p:txBody>
      </p:sp>
      <p:pic>
        <p:nvPicPr>
          <p:cNvPr id="16" name="Image 1" descr="/home/claude/tpl/bulb_col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1965960"/>
            <a:ext cx="2788920" cy="3099585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48640" y="5532120"/>
            <a:ext cx="7863840" cy="658368"/>
          </a:xfrm>
          <a:prstGeom prst="rect">
            <a:avLst/>
          </a:prstGeom>
          <a:solidFill>
            <a:srgbClr val="254E86"/>
          </a:solidFill>
          <a:ln w="19050">
            <a:solidFill>
              <a:srgbClr val="20739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5532120"/>
            <a:ext cx="7863840" cy="658368"/>
          </a:xfrm>
          <a:prstGeom prst="rect">
            <a:avLst/>
          </a:prstGeom>
          <a:noFill/>
          <a:ln/>
        </p:spPr>
        <p:txBody>
          <a:bodyPr wrap="square" lIns="45720" tIns="27432" rIns="45720" bIns="27432" rtlCol="0" anchor="ctr"/>
          <a:lstStyle/>
          <a:p>
            <a:pPr indent="0" marL="0" algn="l">
              <a:buNone/>
            </a:pPr>
            <a:pPr indent="0" marL="0">
              <a:buNone/>
            </a:pPr>
            <a:r>
              <a:rPr b="1" sz="1300">
                <a:solidFill>
                  <a:srgbClr val="FFFFFF"/>
                </a:solidFill>
                <a:latin typeface="Calibri"/>
              </a:rPr>
              <a:t>Idea Title:  ARGUS — Automated Risk &amp; Vulnerability Unified Scanner</a:t>
            </a:r>
            <a:endParaRPr lang="en-US" sz="1650" dirty="0"/>
          </a:p>
          <a:p>
            <a:pPr algn="l"/>
            <a:r>
              <a:rPr b="0" sz="1050">
                <a:solidFill>
                  <a:srgbClr val="DBEAFE"/>
                </a:solidFill>
                <a:latin typeface="Calibri"/>
              </a:rPr>
              <a:t>Empirical Security Assessment of World Monitor | 166 Endpoints Audited · 12 Correlated Flaws · 5 Safe PoCs Verified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6002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A378C"/>
            </a:solidFill>
            <a:prstDash val="solid"/>
          </a:ln>
        </p:spPr>
        <p:txBody>
          <a:bodyPr/>
          <a:p>
            <a:pPr>
              <a:defRPr b="1"/>
            </a:pPr>
          </a:p>
        </p:txBody>
      </p:sp>
      <p:sp>
        <p:nvSpPr>
          <p:cNvPr id="3" name="Text 1"/>
          <p:cNvSpPr txBox="1"/>
          <p:nvPr/>
        </p:nvSpPr>
        <p:spPr>
          <a:xfrm>
            <a:off x="274320" y="18288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[Team Name]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64592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ARGUS: Risk &amp; Vulnerability Unified Scanner</a:t>
            </a:r>
            <a:endParaRPr lang="en-US" sz="2200" dirty="0"/>
          </a:p>
        </p:txBody>
      </p:sp>
      <p:pic>
        <p:nvPicPr>
          <p:cNvPr id="5" name="Image 0" descr="/home/claude/tpl/logo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18872"/>
            <a:ext cx="2103120" cy="98572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28232"/>
            <a:ext cx="12191695" cy="4297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743200" y="6428232"/>
            <a:ext cx="67025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SIH26163  |  ARGUS  |  NTRO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28232"/>
            <a:ext cx="576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Rectangle 8"/>
          <p:cNvSpPr/>
          <p:nvPr/>
        </p:nvSpPr>
        <p:spPr>
          <a:xfrm>
            <a:off x="457200" y="1207008"/>
            <a:ext cx="11274552" cy="868680"/>
          </a:xfrm>
          <a:prstGeom prst="rect">
            <a:avLst/>
          </a:prstGeom>
          <a:solidFill>
            <a:srgbClr val="F8FAFC"/>
          </a:solidFill>
          <a:ln w="19050">
            <a:solidFill>
              <a:srgbClr val="A0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07008"/>
            <a:ext cx="11274552" cy="256032"/>
          </a:xfrm>
          <a:prstGeom prst="rect">
            <a:avLst/>
          </a:prstGeom>
          <a:solidFill>
            <a:srgbClr val="A0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36576"/>
          <a:lstStyle/>
          <a:p>
            <a:pPr algn="l">
              <a:defRPr b="1" sz="1000">
                <a:solidFill>
                  <a:srgbClr val="FFFFFF"/>
                </a:solidFill>
              </a:defRPr>
            </a:pPr>
            <a:r>
              <a:t>WHY THIS MATTERS — CRITICAL VULNERABILITY EXPOSURE IN INTELLIGENCE FEEDS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90472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 sz="950">
                <a:solidFill>
                  <a:srgbClr val="254E86"/>
                </a:solidFill>
              </a:defRPr>
            </a:pPr>
            <a:r>
              <a:t>• 166 Vercel Edge Endpoints: </a:t>
            </a:r>
            <a:r>
              <a:rPr b="0" sz="900">
                <a:solidFill>
                  <a:srgbClr val="0F172A"/>
                </a:solidFill>
              </a:rPr>
              <a:t>137 public &amp; 29 Pro authenticated routes exposed without fail-closed rate limiters.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59" y="1490472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 sz="950">
                <a:solidFill>
                  <a:srgbClr val="254E86"/>
                </a:solidFill>
              </a:defRPr>
            </a:pPr>
            <a:r>
              <a:t>• 12 Correlated Flaws: </a:t>
            </a:r>
            <a:r>
              <a:rPr b="0" sz="900">
                <a:solidFill>
                  <a:srgbClr val="0F172A"/>
                </a:solidFill>
              </a:rPr>
              <a:t>Confirmed DOM XSS (357 bypasses), SSRF rebinding, and prompt injection.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1490472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 sz="950">
                <a:solidFill>
                  <a:srgbClr val="254E86"/>
                </a:solidFill>
              </a:defRPr>
            </a:pPr>
            <a:r>
              <a:t>• Deterministic Verification: </a:t>
            </a:r>
            <a:r>
              <a:rPr b="0" sz="900">
                <a:solidFill>
                  <a:srgbClr val="0F172A"/>
                </a:solidFill>
              </a:rPr>
              <a:t>100% verified via 5 safe, non-destructive execution PoCs in isolated local sandbox.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14884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254E86"/>
                </a:solidFill>
              </a:defRPr>
            </a:pPr>
            <a:r>
              <a:t>Proposed Solution Architecture (Central Engine &amp; Scanner Satellites) 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3794760"/>
            <a:ext cx="3200400" cy="822960"/>
          </a:xfrm>
          <a:prstGeom prst="roundRect">
            <a:avLst/>
          </a:prstGeom>
          <a:solidFill>
            <a:srgbClr val="254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1200">
                <a:solidFill>
                  <a:srgbClr val="FFFFFF"/>
                </a:solidFill>
              </a:defRPr>
            </a:pPr>
            <a:r>
              <a:t>ARGUS CORE ENGINE</a:t>
            </a:r>
          </a:p>
          <a:p>
            <a:pPr algn="ctr">
              <a:spcBef>
                <a:spcPts val="200"/>
              </a:spcBef>
              <a:defRPr b="0" sz="950">
                <a:solidFill>
                  <a:srgbClr val="FFFFFF"/>
                </a:solidFill>
              </a:defRPr>
            </a:pPr>
            <a:r>
              <a:t>Unified Correlation &amp; Two-Signal Verification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514600"/>
            <a:ext cx="2560320" cy="777240"/>
          </a:xfrm>
          <a:prstGeom prst="roundRect">
            <a:avLst/>
          </a:prstGeom>
          <a:solidFill>
            <a:srgbClr val="2073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Target Surface Recon</a:t>
            </a:r>
          </a:p>
          <a:p>
            <a:pPr algn="ctr">
              <a:spcBef>
                <a:spcPts val="200"/>
              </a:spcBef>
              <a:defRPr b="0" sz="900">
                <a:solidFill>
                  <a:srgbClr val="FFFFFF"/>
                </a:solidFill>
              </a:defRPr>
            </a:pPr>
            <a:r>
              <a:t>166 Vercel Edge Routes • 5 Trust Boundaries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2514600"/>
            <a:ext cx="2560320" cy="777240"/>
          </a:xfrm>
          <a:prstGeom prst="roundRect">
            <a:avLst/>
          </a:prstGeom>
          <a:solidFill>
            <a:srgbClr val="229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Multi-Engine Scanners</a:t>
            </a:r>
          </a:p>
          <a:p>
            <a:pPr algn="ctr">
              <a:spcBef>
                <a:spcPts val="200"/>
              </a:spcBef>
              <a:defRPr b="0" sz="900">
                <a:solidFill>
                  <a:srgbClr val="FFFFFF"/>
                </a:solidFill>
              </a:defRPr>
            </a:pPr>
            <a:r>
              <a:t>Semgrep SAST • npm SCA • AST Route Parser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2560320" cy="777240"/>
          </a:xfrm>
          <a:prstGeom prst="roundRect">
            <a:avLst/>
          </a:prstGeom>
          <a:solidFill>
            <a:srgbClr val="DE7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Deterministic Scoring</a:t>
            </a:r>
          </a:p>
          <a:p>
            <a:pPr algn="ctr">
              <a:spcBef>
                <a:spcPts val="200"/>
              </a:spcBef>
              <a:defRPr b="0" sz="900">
                <a:solidFill>
                  <a:srgbClr val="FFFFFF"/>
                </a:solidFill>
              </a:defRPr>
            </a:pPr>
            <a:r>
              <a:t>FIRST CVSS v3.1 Base Score &amp; Vector Calculation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5166360"/>
            <a:ext cx="2560320" cy="777240"/>
          </a:xfrm>
          <a:prstGeom prst="roundRect">
            <a:avLst/>
          </a:prstGeom>
          <a:solidFill>
            <a:srgbClr val="704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5 Safe PoC Engines</a:t>
            </a:r>
          </a:p>
          <a:p>
            <a:pPr algn="ctr">
              <a:spcBef>
                <a:spcPts val="200"/>
              </a:spcBef>
              <a:defRPr b="0" sz="900">
                <a:solidFill>
                  <a:srgbClr val="FFFFFF"/>
                </a:solidFill>
              </a:defRPr>
            </a:pPr>
            <a:r>
              <a:t>Non-Destructive Exploitability Proof Logs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737360" y="3291840"/>
            <a:ext cx="1005840" cy="502920"/>
          </a:xfrm>
          <a:prstGeom prst="line">
            <a:avLst/>
          </a:prstGeom>
          <a:ln w="25400">
            <a:solidFill>
              <a:srgbClr val="254E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4572000" y="3291840"/>
            <a:ext cx="1005840" cy="502920"/>
          </a:xfrm>
          <a:prstGeom prst="line">
            <a:avLst/>
          </a:prstGeom>
          <a:ln w="25400">
            <a:solidFill>
              <a:srgbClr val="254E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737360" y="4617720"/>
            <a:ext cx="1005840" cy="548640"/>
          </a:xfrm>
          <a:prstGeom prst="line">
            <a:avLst/>
          </a:prstGeom>
          <a:ln w="25400">
            <a:solidFill>
              <a:srgbClr val="254E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572000" y="4617720"/>
            <a:ext cx="1005840" cy="548640"/>
          </a:xfrm>
          <a:prstGeom prst="line">
            <a:avLst/>
          </a:prstGeom>
          <a:ln w="25400">
            <a:solidFill>
              <a:srgbClr val="254E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78040" y="21488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254E86"/>
                </a:solidFill>
              </a:defRPr>
            </a:pPr>
            <a:r>
              <a:t>Core Solution Principles 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2423160"/>
            <a:ext cx="455371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 sz="950">
                <a:solidFill>
                  <a:srgbClr val="254E86"/>
                </a:solidFill>
              </a:defRPr>
            </a:pPr>
            <a:r>
              <a:t>• Two-Signal Confirmation: </a:t>
            </a:r>
            <a:r>
              <a:rPr b="0" sz="900">
                <a:solidFill>
                  <a:srgbClr val="0F172A"/>
                </a:solidFill>
              </a:rPr>
              <a:t>Drops unverified scanner noise, cutting manual triage time by 80%.</a:t>
            </a:r>
          </a:p>
          <a:p>
            <a:pPr>
              <a:spcBef>
                <a:spcPts val="300"/>
              </a:spcBef>
              <a:defRPr b="1" sz="950">
                <a:solidFill>
                  <a:srgbClr val="254E86"/>
                </a:solidFill>
              </a:defRPr>
            </a:pPr>
            <a:r>
              <a:t>• Architectural Privacy: </a:t>
            </a:r>
            <a:r>
              <a:rPr b="0" sz="900">
                <a:solidFill>
                  <a:srgbClr val="0F172A"/>
                </a:solidFill>
              </a:rPr>
              <a:t>Zero data or telemetry sent to external clouds; 100% runs locally.</a:t>
            </a:r>
          </a:p>
          <a:p>
            <a:pPr>
              <a:spcBef>
                <a:spcPts val="300"/>
              </a:spcBef>
              <a:defRPr b="1" sz="950">
                <a:solidFill>
                  <a:srgbClr val="254E86"/>
                </a:solidFill>
              </a:defRPr>
            </a:pPr>
            <a:r>
              <a:t>• Deterministic Auditing: </a:t>
            </a:r>
            <a:r>
              <a:rPr b="0" sz="900">
                <a:solidFill>
                  <a:srgbClr val="0F172A"/>
                </a:solidFill>
              </a:rPr>
              <a:t>AST route parsing + reproducible rule matches explainable to CERT-In.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78040" y="3840480"/>
            <a:ext cx="4553712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E7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0" y="3886200"/>
            <a:ext cx="427939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000">
                <a:solidFill>
                  <a:srgbClr val="DE732A"/>
                </a:solidFill>
              </a:defRPr>
            </a:pPr>
            <a:r>
              <a:t>Evidenced Audit Findings Summary :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7269480" y="4160520"/>
          <a:ext cx="4370832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097280"/>
                <a:gridCol w="1581912"/>
              </a:tblGrid>
              <a:tr h="356616">
                <a:tc>
                  <a:txBody>
                    <a:bodyPr lIns="36576" rIns="36576" tIns="36576" bIns="36576"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Vulnerability</a:t>
                      </a:r>
                    </a:p>
                  </a:txBody>
                  <a:tcPr>
                    <a:solidFill>
                      <a:srgbClr val="254E86"/>
                    </a:solidFill>
                  </a:tcPr>
                </a:tc>
                <a:tc>
                  <a:txBody>
                    <a:bodyPr lIns="36576" rIns="36576" tIns="36576" bIns="36576"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OWASP / CWE</a:t>
                      </a:r>
                    </a:p>
                  </a:txBody>
                  <a:tcPr>
                    <a:solidFill>
                      <a:srgbClr val="254E86"/>
                    </a:solidFill>
                  </a:tcPr>
                </a:tc>
                <a:tc>
                  <a:txBody>
                    <a:bodyPr lIns="36576" rIns="36576" tIns="36576" bIns="36576"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CVSS &amp; Verification</a:t>
                      </a:r>
                    </a:p>
                  </a:txBody>
                  <a:tcPr>
                    <a:solidFill>
                      <a:srgbClr val="254E86"/>
                    </a:solidFill>
                  </a:tcPr>
                </a:tc>
              </a:tr>
              <a:tr h="356616">
                <a:tc>
                  <a:txBody>
                    <a:bodyPr lIns="36576" rIns="36576" tIns="36576" bIns="36576"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Fail-Open Rate Limiter 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576" rIns="36576" tIns="36576" bIns="36576"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</a:defRPr>
                      </a:pPr>
                      <a:r>
                        <a:t>A04 / CWE-770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576" rIns="36576" tIns="36576" bIns="36576"/>
                    <a:lstStyle/>
                    <a:p>
                      <a:pPr>
                        <a:defRPr sz="850" b="1">
                          <a:solidFill>
                            <a:srgbClr val="229954"/>
                          </a:solidFill>
                        </a:defRPr>
                      </a:pPr>
                      <a:r>
                        <a:t>7.5 High • PoC Confirmed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lIns="36576" rIns="36576" tIns="36576" bIns="36576"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DOM XSS (357 Call Sites)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36576" rIns="36576" tIns="36576" bIns="36576"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</a:defRPr>
                      </a:pPr>
                      <a:r>
                        <a:t>A03 / CWE-79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36576" rIns="36576" tIns="36576" bIns="36576"/>
                    <a:lstStyle/>
                    <a:p>
                      <a:pPr>
                        <a:defRPr sz="850" b="1">
                          <a:solidFill>
                            <a:srgbClr val="229954"/>
                          </a:solidFill>
                        </a:defRPr>
                      </a:pPr>
                      <a:r>
                        <a:t>6.1 Med • PoC Confirmed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56616">
                <a:tc>
                  <a:txBody>
                    <a:bodyPr lIns="36576" rIns="36576" tIns="36576" bIns="36576"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Prompt Injection Filter Bypass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576" rIns="36576" tIns="36576" bIns="36576"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</a:defRPr>
                      </a:pPr>
                      <a:r>
                        <a:t>LLM01 / CWE-74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576" rIns="36576" tIns="36576" bIns="36576"/>
                    <a:lstStyle/>
                    <a:p>
                      <a:pPr>
                        <a:defRPr sz="850" b="1">
                          <a:solidFill>
                            <a:srgbClr val="229954"/>
                          </a:solidFill>
                        </a:defRPr>
                      </a:pPr>
                      <a:r>
                        <a:t>6.5 Med • PoC Confirmed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lIns="36576" rIns="36576" tIns="36576" bIns="36576"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SSRF DNS Rebinding (MCP Proxy)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36576" rIns="36576" tIns="36576" bIns="36576"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</a:defRPr>
                      </a:pPr>
                      <a:r>
                        <a:t>A10 / CWE-918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36576" rIns="36576" tIns="36576" bIns="36576"/>
                    <a:lstStyle/>
                    <a:p>
                      <a:pPr>
                        <a:defRPr sz="850" b="1">
                          <a:solidFill>
                            <a:srgbClr val="229954"/>
                          </a:solidFill>
                        </a:defRPr>
                      </a:pPr>
                      <a:r>
                        <a:t>6.3 Med • PoC Confirmed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600200" cy="914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8288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[Team Name]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64592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APPROACH</a:t>
            </a:r>
            <a:endParaRPr lang="en-US" sz="2600" dirty="0"/>
          </a:p>
        </p:txBody>
      </p:sp>
      <p:pic>
        <p:nvPicPr>
          <p:cNvPr id="5" name="Image 0" descr="/home/claude/tpl/logo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18872"/>
            <a:ext cx="2103120" cy="98572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28232"/>
            <a:ext cx="12191695" cy="4297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743200" y="6428232"/>
            <a:ext cx="67025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SIH26163  |  ARGUS  |  NTRO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28232"/>
            <a:ext cx="576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Diagram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1572768"/>
            <a:ext cx="2148840" cy="1243584"/>
          </a:xfrm>
          <a:prstGeom prst="roundRect">
            <a:avLst>
              <a:gd name="adj" fmla="val 8696"/>
            </a:avLst>
          </a:prstGeom>
          <a:solidFill>
            <a:srgbClr val="20739B"/>
          </a:solidFill>
          <a:ln w="12700">
            <a:noFill/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85216" y="1700784"/>
            <a:ext cx="420624" cy="420624"/>
          </a:xfrm>
          <a:prstGeom prst="ellipse">
            <a:avLst/>
          </a:prstGeom>
          <a:solidFill>
            <a:srgbClr val="14374C"/>
          </a:solidFill>
          <a:ln w="12700">
            <a:noFill/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792224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78992" y="1645920"/>
            <a:ext cx="1417320" cy="2743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  <a:defRPr b="1"/>
            </a:pPr>
            <a:r>
              <a:rPr sz="1150" b="1">
                <a:solidFill>
                  <a:srgbClr val="FFFFFF"/>
                </a:solidFill>
                <a:latin typeface="Calibri"/>
              </a:rPr>
              <a:t>Target Platform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03504" y="2029968"/>
            <a:ext cx="1874520" cy="6400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950" b="0">
                <a:solidFill>
                  <a:srgbClr val="FFFFFF"/>
                </a:solidFill>
                <a:latin typeface="Calibri"/>
              </a:rPr>
              <a:t>World Monitor (AGPL-3.0)</a:t>
            </a:r>
            <a:endParaRPr lang="en-US" sz="830" dirty="0"/>
          </a:p>
          <a:p>
            <a:r>
              <a:rPr sz="950" b="0">
                <a:solidFill>
                  <a:srgbClr val="FFFFFF"/>
                </a:solidFill>
                <a:latin typeface="Calibri"/>
              </a:rPr>
              <a:t>• 166 Vercel Edge Endpoints</a:t>
            </a:r>
          </a:p>
          <a:p>
            <a:r>
              <a:rPr sz="950" b="0">
                <a:solidFill>
                  <a:srgbClr val="FFFFFF"/>
                </a:solidFill>
                <a:latin typeface="Calibri"/>
              </a:rPr>
              <a:t>• 5 Trust Boundaries Mapped</a:t>
            </a:r>
          </a:p>
        </p:txBody>
      </p:sp>
      <p:sp>
        <p:nvSpPr>
          <p:cNvPr id="15" name="Shape 11"/>
          <p:cNvSpPr/>
          <p:nvPr/>
        </p:nvSpPr>
        <p:spPr>
          <a:xfrm>
            <a:off x="2624328" y="2093976"/>
            <a:ext cx="164592" cy="0"/>
          </a:xfrm>
          <a:prstGeom prst="line">
            <a:avLst/>
          </a:prstGeom>
          <a:noFill/>
          <a:ln w="25400">
            <a:solidFill>
              <a:srgbClr val="254E86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2788920" y="1572768"/>
            <a:ext cx="2148840" cy="1243584"/>
          </a:xfrm>
          <a:prstGeom prst="roundRect">
            <a:avLst>
              <a:gd name="adj" fmla="val 8696"/>
            </a:avLst>
          </a:prstGeom>
          <a:solidFill>
            <a:srgbClr val="229954"/>
          </a:solidFill>
          <a:ln w="12700">
            <a:noFill/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916936" y="1700784"/>
            <a:ext cx="420624" cy="420624"/>
          </a:xfrm>
          <a:prstGeom prst="ellipse">
            <a:avLst/>
          </a:prstGeom>
          <a:solidFill>
            <a:srgbClr val="165E26"/>
          </a:solidFill>
          <a:ln w="12700">
            <a:noFill/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8376" y="1792224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410712" y="1645920"/>
            <a:ext cx="1417320" cy="2743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  <a:defRPr b="1"/>
            </a:pPr>
            <a:r>
              <a:rPr sz="1150" b="1">
                <a:solidFill>
                  <a:srgbClr val="FFFFFF"/>
                </a:solidFill>
                <a:latin typeface="Calibri"/>
              </a:rPr>
              <a:t>Multi-Engine Scanners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2935224" y="2029968"/>
            <a:ext cx="1874520" cy="6400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950" b="0">
                <a:solidFill>
                  <a:srgbClr val="FFFFFF"/>
                </a:solidFill>
                <a:latin typeface="Calibri"/>
              </a:rPr>
              <a:t>Automated Telemetry</a:t>
            </a:r>
            <a:endParaRPr lang="en-US" sz="830" dirty="0"/>
          </a:p>
          <a:p>
            <a:r>
              <a:rPr sz="950" b="0">
                <a:solidFill>
                  <a:srgbClr val="FFFFFF"/>
                </a:solidFill>
                <a:latin typeface="Calibri"/>
              </a:rPr>
              <a:t>• Semgrep SAST (OWASP/CWE)</a:t>
            </a:r>
          </a:p>
          <a:p>
            <a:r>
              <a:rPr sz="950" b="0">
                <a:solidFill>
                  <a:srgbClr val="FFFFFF"/>
                </a:solidFill>
                <a:latin typeface="Calibri"/>
              </a:rPr>
              <a:t>• npm audit SCA (28 CVEs)</a:t>
            </a:r>
          </a:p>
        </p:txBody>
      </p:sp>
      <p:sp>
        <p:nvSpPr>
          <p:cNvPr id="21" name="Shape 16"/>
          <p:cNvSpPr/>
          <p:nvPr/>
        </p:nvSpPr>
        <p:spPr>
          <a:xfrm>
            <a:off x="4956048" y="2093976"/>
            <a:ext cx="164592" cy="0"/>
          </a:xfrm>
          <a:prstGeom prst="line">
            <a:avLst/>
          </a:prstGeom>
          <a:noFill/>
          <a:ln w="25400">
            <a:solidFill>
              <a:srgbClr val="254E86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5120640" y="1572768"/>
            <a:ext cx="2148840" cy="1243584"/>
          </a:xfrm>
          <a:prstGeom prst="roundRect">
            <a:avLst>
              <a:gd name="adj" fmla="val 8696"/>
            </a:avLst>
          </a:prstGeom>
          <a:solidFill>
            <a:srgbClr val="DE732A"/>
          </a:solidFill>
          <a:ln w="12700">
            <a:noFill/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248656" y="1700784"/>
            <a:ext cx="420624" cy="420624"/>
          </a:xfrm>
          <a:prstGeom prst="ellipse">
            <a:avLst/>
          </a:prstGeom>
          <a:solidFill>
            <a:srgbClr val="9C4418"/>
          </a:solidFill>
          <a:ln w="12700">
            <a:noFill/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0096" y="1792224"/>
            <a:ext cx="237744" cy="23774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742432" y="1645920"/>
            <a:ext cx="1417320" cy="2743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  <a:defRPr b="1"/>
            </a:pPr>
            <a:r>
              <a:rPr sz="1150" b="1">
                <a:solidFill>
                  <a:srgbClr val="FFFFFF"/>
                </a:solidFill>
                <a:latin typeface="Calibri"/>
              </a:rPr>
              <a:t>Correlation Engine</a:t>
            </a:r>
            <a:endParaRPr lang="en-US" sz="1150" dirty="0"/>
          </a:p>
        </p:txBody>
      </p:sp>
      <p:sp>
        <p:nvSpPr>
          <p:cNvPr id="26" name="Text 20"/>
          <p:cNvSpPr txBox="1"/>
          <p:nvPr/>
        </p:nvSpPr>
        <p:spPr>
          <a:xfrm>
            <a:off x="5266944" y="2029968"/>
            <a:ext cx="1874520" cy="6400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950" b="0">
                <a:solidFill>
                  <a:srgbClr val="FFFFFF"/>
                </a:solidFill>
                <a:latin typeface="Calibri"/>
              </a:rPr>
              <a:t>Python 3.14 + Pydantic v2</a:t>
            </a:r>
            <a:endParaRPr lang="en-US" sz="830" dirty="0"/>
          </a:p>
          <a:p>
            <a:r>
              <a:rPr sz="950" b="0">
                <a:solidFill>
                  <a:srgbClr val="FFFFFF"/>
                </a:solidFill>
                <a:latin typeface="Calibri"/>
              </a:rPr>
              <a:t>• Unified Schema Normalization</a:t>
            </a:r>
          </a:p>
          <a:p>
            <a:r>
              <a:rPr sz="950" b="0">
                <a:solidFill>
                  <a:srgbClr val="FFFFFF"/>
                </a:solidFill>
                <a:latin typeface="Calibri"/>
              </a:rPr>
              <a:t>• FIRST CVSS 3.1 Vector Calc</a:t>
            </a:r>
          </a:p>
        </p:txBody>
      </p:sp>
      <p:sp>
        <p:nvSpPr>
          <p:cNvPr id="27" name="Shape 21"/>
          <p:cNvSpPr/>
          <p:nvPr/>
        </p:nvSpPr>
        <p:spPr>
          <a:xfrm>
            <a:off x="7287768" y="2093976"/>
            <a:ext cx="164592" cy="0"/>
          </a:xfrm>
          <a:prstGeom prst="line">
            <a:avLst/>
          </a:prstGeom>
          <a:noFill/>
          <a:ln w="25400">
            <a:solidFill>
              <a:srgbClr val="254E86"/>
            </a:solidFill>
            <a:prstDash val="solid"/>
            <a:tailEnd type="triangle"/>
          </a:ln>
        </p:spPr>
      </p:sp>
      <p:sp>
        <p:nvSpPr>
          <p:cNvPr id="28" name="Shape 22"/>
          <p:cNvSpPr/>
          <p:nvPr/>
        </p:nvSpPr>
        <p:spPr>
          <a:xfrm>
            <a:off x="7452360" y="1572768"/>
            <a:ext cx="2148840" cy="1243584"/>
          </a:xfrm>
          <a:prstGeom prst="roundRect">
            <a:avLst>
              <a:gd name="adj" fmla="val 8696"/>
            </a:avLst>
          </a:prstGeom>
          <a:solidFill>
            <a:srgbClr val="7046A8"/>
          </a:solidFill>
          <a:ln w="12700">
            <a:noFill/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7580376" y="1700784"/>
            <a:ext cx="420624" cy="420624"/>
          </a:xfrm>
          <a:prstGeom prst="ellipse">
            <a:avLst/>
          </a:prstGeom>
          <a:solidFill>
            <a:srgbClr val="462A6E"/>
          </a:solidFill>
          <a:ln w="12700">
            <a:noFill/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1816" y="1792224"/>
            <a:ext cx="237744" cy="23774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8074152" y="1645920"/>
            <a:ext cx="1417320" cy="2743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  <a:defRPr b="1"/>
            </a:pPr>
            <a:r>
              <a:rPr sz="1150" b="1">
                <a:solidFill>
                  <a:srgbClr val="FFFFFF"/>
                </a:solidFill>
                <a:latin typeface="Calibri"/>
              </a:rPr>
              <a:t>Outputs &amp; Evidence</a:t>
            </a:r>
            <a:endParaRPr lang="en-US" sz="1150" dirty="0"/>
          </a:p>
        </p:txBody>
      </p:sp>
      <p:sp>
        <p:nvSpPr>
          <p:cNvPr id="32" name="Text 25"/>
          <p:cNvSpPr txBox="1"/>
          <p:nvPr/>
        </p:nvSpPr>
        <p:spPr>
          <a:xfrm>
            <a:off x="7598664" y="2029968"/>
            <a:ext cx="1874520" cy="6400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950" b="0">
                <a:solidFill>
                  <a:srgbClr val="FFFFFF"/>
                </a:solidFill>
                <a:latin typeface="Calibri"/>
              </a:rPr>
              <a:t>Verified Audit Artifacts</a:t>
            </a:r>
            <a:endParaRPr lang="en-US" sz="830" dirty="0"/>
          </a:p>
          <a:p>
            <a:r>
              <a:rPr sz="950" b="0">
                <a:solidFill>
                  <a:srgbClr val="FFFFFF"/>
                </a:solidFill>
                <a:latin typeface="Calibri"/>
              </a:rPr>
              <a:t>• 12-Page Executive PDF Report</a:t>
            </a:r>
          </a:p>
          <a:p>
            <a:r>
              <a:rPr sz="950" b="0">
                <a:solidFill>
                  <a:srgbClr val="FFFFFF"/>
                </a:solidFill>
                <a:latin typeface="Calibri"/>
              </a:rPr>
              <a:t>• SARIF 2.1.0 JSON &amp; 5 PoCs</a:t>
            </a:r>
          </a:p>
        </p:txBody>
      </p:sp>
      <p:sp>
        <p:nvSpPr>
          <p:cNvPr id="33" name="Text 26"/>
          <p:cNvSpPr txBox="1"/>
          <p:nvPr/>
        </p:nvSpPr>
        <p:spPr>
          <a:xfrm>
            <a:off x="457200" y="2788920"/>
            <a:ext cx="9144000" cy="256032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950" b="0">
                <a:solidFill>
                  <a:srgbClr val="475569"/>
                </a:solidFill>
                <a:latin typeface="Calibri"/>
              </a:rPr>
              <a:t>Multi-Engine Pipeline: Disparate scanner signals are ingested, normalized via Pydantic, cross-confirmed to eliminate false positives, and verified with non-destructive PoCs.</a:t>
            </a:r>
            <a:endParaRPr lang="en-US" sz="950" dirty="0"/>
          </a:p>
        </p:txBody>
      </p:sp>
      <p:sp>
        <p:nvSpPr>
          <p:cNvPr id="34" name="Text 27"/>
          <p:cNvSpPr txBox="1"/>
          <p:nvPr/>
        </p:nvSpPr>
        <p:spPr>
          <a:xfrm>
            <a:off x="457200" y="312724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 &amp; Process (flow chart)</a:t>
            </a:r>
            <a:endParaRPr lang="en-US" sz="1400" dirty="0"/>
          </a:p>
        </p:txBody>
      </p:sp>
      <p:sp>
        <p:nvSpPr>
          <p:cNvPr id="35" name="Shape 28"/>
          <p:cNvSpPr/>
          <p:nvPr/>
        </p:nvSpPr>
        <p:spPr>
          <a:xfrm>
            <a:off x="457200" y="3456432"/>
            <a:ext cx="1234440" cy="777240"/>
          </a:xfrm>
          <a:prstGeom prst="diamond">
            <a:avLst>
              <a:gd name="adj" fmla="val 9412"/>
            </a:avLst>
          </a:prstGeom>
          <a:solidFill>
            <a:srgbClr val="254E86"/>
          </a:solidFill>
          <a:ln w="12700">
            <a:noFill/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640080" y="3602736"/>
            <a:ext cx="868680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  <a:defRPr b="1"/>
            </a:pPr>
            <a:r>
              <a:rPr sz="1050" b="1">
                <a:solidFill>
                  <a:srgbClr val="FFFFFF"/>
                </a:solidFill>
                <a:latin typeface="Calibri"/>
              </a:rPr>
              <a:t>1 Scope Gate</a:t>
            </a:r>
            <a:endParaRPr lang="en-US" sz="830" dirty="0"/>
          </a:p>
        </p:txBody>
      </p:sp>
      <p:sp>
        <p:nvSpPr>
          <p:cNvPr id="37" name="Text 30"/>
          <p:cNvSpPr txBox="1"/>
          <p:nvPr/>
        </p:nvSpPr>
        <p:spPr>
          <a:xfrm>
            <a:off x="640080" y="3840480"/>
            <a:ext cx="868680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0">
                <a:solidFill>
                  <a:srgbClr val="FFFFFF"/>
                </a:solidFill>
                <a:latin typeface="Calibri"/>
              </a:rPr>
              <a:t>Localhost &amp;</a:t>
            </a:r>
            <a:endParaRPr lang="en-US" sz="700" dirty="0"/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Authorized?</a:t>
            </a:r>
          </a:p>
        </p:txBody>
      </p:sp>
      <p:sp>
        <p:nvSpPr>
          <p:cNvPr id="38" name="Shape 31"/>
          <p:cNvSpPr/>
          <p:nvPr/>
        </p:nvSpPr>
        <p:spPr>
          <a:xfrm>
            <a:off x="1874520" y="3456432"/>
            <a:ext cx="1234440" cy="777240"/>
          </a:xfrm>
          <a:prstGeom prst="roundRect">
            <a:avLst>
              <a:gd name="adj" fmla="val 9412"/>
            </a:avLst>
          </a:prstGeom>
          <a:solidFill>
            <a:srgbClr val="20739B"/>
          </a:solidFill>
          <a:ln w="12700">
            <a:noFill/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1947672" y="3511296"/>
            <a:ext cx="1088136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  <a:defRPr b="1"/>
            </a:pPr>
            <a:r>
              <a:rPr sz="1050" b="1">
                <a:solidFill>
                  <a:srgbClr val="FFFFFF"/>
                </a:solidFill>
                <a:latin typeface="Calibri"/>
              </a:rPr>
              <a:t>2 Recon</a:t>
            </a:r>
            <a:endParaRPr lang="en-US" sz="950" dirty="0"/>
          </a:p>
        </p:txBody>
      </p:sp>
      <p:sp>
        <p:nvSpPr>
          <p:cNvPr id="40" name="Text 33"/>
          <p:cNvSpPr txBox="1"/>
          <p:nvPr/>
        </p:nvSpPr>
        <p:spPr>
          <a:xfrm>
            <a:off x="1947672" y="3749040"/>
            <a:ext cx="1088136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0">
                <a:solidFill>
                  <a:srgbClr val="FFFFFF"/>
                </a:solidFill>
                <a:latin typeface="Calibri"/>
              </a:rPr>
              <a:t>166 Routes &amp;</a:t>
            </a:r>
            <a:endParaRPr lang="en-US" sz="760" dirty="0"/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5 Boundaries</a:t>
            </a:r>
          </a:p>
        </p:txBody>
      </p:sp>
      <p:sp>
        <p:nvSpPr>
          <p:cNvPr id="41" name="Shape 34"/>
          <p:cNvSpPr/>
          <p:nvPr/>
        </p:nvSpPr>
        <p:spPr>
          <a:xfrm>
            <a:off x="3291840" y="3456432"/>
            <a:ext cx="1234440" cy="777240"/>
          </a:xfrm>
          <a:prstGeom prst="roundRect">
            <a:avLst>
              <a:gd name="adj" fmla="val 9412"/>
            </a:avLst>
          </a:prstGeom>
          <a:solidFill>
            <a:srgbClr val="229954"/>
          </a:solidFill>
          <a:ln w="12700">
            <a:noFill/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3364992" y="3511296"/>
            <a:ext cx="1088136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  <a:defRPr b="1"/>
            </a:pPr>
            <a:r>
              <a:rPr sz="1050" b="1">
                <a:solidFill>
                  <a:srgbClr val="FFFFFF"/>
                </a:solidFill>
                <a:latin typeface="Calibri"/>
              </a:rPr>
              <a:t>3 Multi-Scan</a:t>
            </a:r>
            <a:endParaRPr lang="en-US" sz="950" dirty="0"/>
          </a:p>
        </p:txBody>
      </p:sp>
      <p:sp>
        <p:nvSpPr>
          <p:cNvPr id="43" name="Text 36"/>
          <p:cNvSpPr txBox="1"/>
          <p:nvPr/>
        </p:nvSpPr>
        <p:spPr>
          <a:xfrm>
            <a:off x="3364992" y="3749040"/>
            <a:ext cx="1088136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0">
                <a:solidFill>
                  <a:srgbClr val="FFFFFF"/>
                </a:solidFill>
                <a:latin typeface="Calibri"/>
              </a:rPr>
              <a:t>SAST + SCA +</a:t>
            </a:r>
            <a:endParaRPr lang="en-US" sz="760" dirty="0"/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AST + LLM</a:t>
            </a:r>
          </a:p>
        </p:txBody>
      </p:sp>
      <p:sp>
        <p:nvSpPr>
          <p:cNvPr id="44" name="Shape 37"/>
          <p:cNvSpPr/>
          <p:nvPr/>
        </p:nvSpPr>
        <p:spPr>
          <a:xfrm>
            <a:off x="4709160" y="3456432"/>
            <a:ext cx="1234440" cy="777240"/>
          </a:xfrm>
          <a:prstGeom prst="roundRect">
            <a:avLst>
              <a:gd name="adj" fmla="val 9412"/>
            </a:avLst>
          </a:prstGeom>
          <a:solidFill>
            <a:srgbClr val="DE732A"/>
          </a:solidFill>
          <a:ln w="12700">
            <a:noFill/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4782312" y="3511296"/>
            <a:ext cx="1088136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  <a:defRPr b="1"/>
            </a:pPr>
            <a:r>
              <a:rPr sz="1050" b="1">
                <a:solidFill>
                  <a:srgbClr val="FFFFFF"/>
                </a:solidFill>
                <a:latin typeface="Calibri"/>
              </a:rPr>
              <a:t>4 Correlate</a:t>
            </a:r>
            <a:endParaRPr lang="en-US" sz="950" dirty="0"/>
          </a:p>
        </p:txBody>
      </p:sp>
      <p:sp>
        <p:nvSpPr>
          <p:cNvPr id="46" name="Text 39"/>
          <p:cNvSpPr txBox="1"/>
          <p:nvPr/>
        </p:nvSpPr>
        <p:spPr>
          <a:xfrm>
            <a:off x="4782312" y="3749040"/>
            <a:ext cx="1088136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0">
                <a:solidFill>
                  <a:srgbClr val="FFFFFF"/>
                </a:solidFill>
                <a:latin typeface="Calibri"/>
              </a:rPr>
              <a:t>Pydantic Dedupe</a:t>
            </a:r>
            <a:endParaRPr lang="en-US" sz="760" dirty="0"/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&amp; CWE Map</a:t>
            </a:r>
          </a:p>
        </p:txBody>
      </p:sp>
      <p:sp>
        <p:nvSpPr>
          <p:cNvPr id="47" name="Shape 40"/>
          <p:cNvSpPr/>
          <p:nvPr/>
        </p:nvSpPr>
        <p:spPr>
          <a:xfrm>
            <a:off x="1709928" y="3840480"/>
            <a:ext cx="137160" cy="0"/>
          </a:xfrm>
          <a:prstGeom prst="line">
            <a:avLst/>
          </a:prstGeom>
          <a:noFill/>
          <a:ln w="19050">
            <a:solidFill>
              <a:srgbClr val="254E86"/>
            </a:solidFill>
            <a:prstDash val="solid"/>
            <a:tailEnd type="triangle"/>
          </a:ln>
        </p:spPr>
      </p:sp>
      <p:sp>
        <p:nvSpPr>
          <p:cNvPr id="48" name="Shape 41"/>
          <p:cNvSpPr/>
          <p:nvPr/>
        </p:nvSpPr>
        <p:spPr>
          <a:xfrm>
            <a:off x="3127248" y="3840480"/>
            <a:ext cx="137160" cy="0"/>
          </a:xfrm>
          <a:prstGeom prst="line">
            <a:avLst/>
          </a:prstGeom>
          <a:noFill/>
          <a:ln w="19050">
            <a:solidFill>
              <a:srgbClr val="254E86"/>
            </a:solidFill>
            <a:prstDash val="solid"/>
            <a:tailEnd type="triangle"/>
          </a:ln>
        </p:spPr>
      </p:sp>
      <p:sp>
        <p:nvSpPr>
          <p:cNvPr id="49" name="Shape 42"/>
          <p:cNvSpPr/>
          <p:nvPr/>
        </p:nvSpPr>
        <p:spPr>
          <a:xfrm>
            <a:off x="4544568" y="3840480"/>
            <a:ext cx="137160" cy="0"/>
          </a:xfrm>
          <a:prstGeom prst="line">
            <a:avLst/>
          </a:prstGeom>
          <a:noFill/>
          <a:ln w="19050">
            <a:solidFill>
              <a:srgbClr val="254E86"/>
            </a:solidFill>
            <a:prstDash val="solid"/>
            <a:tailEnd type="triangle"/>
          </a:ln>
        </p:spPr>
      </p:sp>
      <p:sp>
        <p:nvSpPr>
          <p:cNvPr id="50" name="Shape 43"/>
          <p:cNvSpPr/>
          <p:nvPr/>
        </p:nvSpPr>
        <p:spPr>
          <a:xfrm>
            <a:off x="5326380" y="4251960"/>
            <a:ext cx="0" cy="384048"/>
          </a:xfrm>
          <a:prstGeom prst="line">
            <a:avLst/>
          </a:prstGeom>
          <a:noFill/>
          <a:ln w="19050">
            <a:solidFill>
              <a:srgbClr val="1B365D"/>
            </a:solidFill>
            <a:prstDash val="solid"/>
            <a:tailEnd type="triangle"/>
          </a:ln>
        </p:spPr>
      </p:sp>
      <p:sp>
        <p:nvSpPr>
          <p:cNvPr id="51" name="Shape 44"/>
          <p:cNvSpPr/>
          <p:nvPr/>
        </p:nvSpPr>
        <p:spPr>
          <a:xfrm>
            <a:off x="4709160" y="4709160"/>
            <a:ext cx="1234440" cy="777240"/>
          </a:xfrm>
          <a:prstGeom prst="diamond">
            <a:avLst>
              <a:gd name="adj" fmla="val 9412"/>
            </a:avLst>
          </a:prstGeom>
          <a:solidFill>
            <a:srgbClr val="B03E2A"/>
          </a:solidFill>
          <a:ln w="12700">
            <a:noFill/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4892040" y="4855464"/>
            <a:ext cx="868680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  <a:defRPr b="1"/>
            </a:pPr>
            <a:r>
              <a:rPr sz="1050" b="1">
                <a:solidFill>
                  <a:srgbClr val="FFFFFF"/>
                </a:solidFill>
                <a:latin typeface="Calibri"/>
              </a:rPr>
              <a:t>5 Confirm</a:t>
            </a:r>
            <a:endParaRPr lang="en-US" sz="830" dirty="0"/>
          </a:p>
        </p:txBody>
      </p:sp>
      <p:sp>
        <p:nvSpPr>
          <p:cNvPr id="53" name="Text 46"/>
          <p:cNvSpPr txBox="1"/>
          <p:nvPr/>
        </p:nvSpPr>
        <p:spPr>
          <a:xfrm>
            <a:off x="4892040" y="5093208"/>
            <a:ext cx="868680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0">
                <a:solidFill>
                  <a:srgbClr val="FFFFFF"/>
                </a:solidFill>
                <a:latin typeface="Calibri"/>
              </a:rPr>
              <a:t>Two Signals</a:t>
            </a:r>
            <a:endParaRPr lang="en-US" sz="700" dirty="0"/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Agree?</a:t>
            </a:r>
          </a:p>
        </p:txBody>
      </p:sp>
      <p:sp>
        <p:nvSpPr>
          <p:cNvPr id="54" name="Shape 47"/>
          <p:cNvSpPr/>
          <p:nvPr/>
        </p:nvSpPr>
        <p:spPr>
          <a:xfrm>
            <a:off x="3291840" y="4709160"/>
            <a:ext cx="1234440" cy="777240"/>
          </a:xfrm>
          <a:prstGeom prst="roundRect">
            <a:avLst>
              <a:gd name="adj" fmla="val 9412"/>
            </a:avLst>
          </a:prstGeom>
          <a:solidFill>
            <a:srgbClr val="229954"/>
          </a:solidFill>
          <a:ln w="12700">
            <a:noFill/>
            <a:prstDash val="solid"/>
          </a:ln>
        </p:spPr>
      </p:sp>
      <p:sp>
        <p:nvSpPr>
          <p:cNvPr id="55" name="Text 48"/>
          <p:cNvSpPr txBox="1"/>
          <p:nvPr/>
        </p:nvSpPr>
        <p:spPr>
          <a:xfrm>
            <a:off x="3364992" y="4764024"/>
            <a:ext cx="1088136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  <a:defRPr b="1"/>
            </a:pPr>
            <a:r>
              <a:rPr sz="1050" b="1">
                <a:solidFill>
                  <a:srgbClr val="FFFFFF"/>
                </a:solidFill>
                <a:latin typeface="Calibri"/>
              </a:rPr>
              <a:t>6 Prove</a:t>
            </a:r>
            <a:endParaRPr lang="en-US" sz="950" dirty="0"/>
          </a:p>
        </p:txBody>
      </p:sp>
      <p:sp>
        <p:nvSpPr>
          <p:cNvPr id="56" name="Text 49"/>
          <p:cNvSpPr txBox="1"/>
          <p:nvPr/>
        </p:nvSpPr>
        <p:spPr>
          <a:xfrm>
            <a:off x="3364992" y="5001768"/>
            <a:ext cx="1088136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0">
                <a:solidFill>
                  <a:srgbClr val="FFFFFF"/>
                </a:solidFill>
                <a:latin typeface="Calibri"/>
              </a:rPr>
              <a:t>5 Safe PoCs +</a:t>
            </a:r>
            <a:endParaRPr lang="en-US" sz="760" dirty="0"/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Proof Evidence</a:t>
            </a:r>
          </a:p>
        </p:txBody>
      </p:sp>
      <p:sp>
        <p:nvSpPr>
          <p:cNvPr id="57" name="Shape 50"/>
          <p:cNvSpPr/>
          <p:nvPr/>
        </p:nvSpPr>
        <p:spPr>
          <a:xfrm>
            <a:off x="1874520" y="4709160"/>
            <a:ext cx="1234440" cy="777240"/>
          </a:xfrm>
          <a:prstGeom prst="roundRect">
            <a:avLst>
              <a:gd name="adj" fmla="val 9412"/>
            </a:avLst>
          </a:prstGeom>
          <a:solidFill>
            <a:srgbClr val="DE732A"/>
          </a:solidFill>
          <a:ln w="12700">
            <a:noFill/>
            <a:prstDash val="solid"/>
          </a:ln>
        </p:spPr>
      </p:sp>
      <p:sp>
        <p:nvSpPr>
          <p:cNvPr id="58" name="Text 51"/>
          <p:cNvSpPr txBox="1"/>
          <p:nvPr/>
        </p:nvSpPr>
        <p:spPr>
          <a:xfrm>
            <a:off x="1947672" y="4764024"/>
            <a:ext cx="1088136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  <a:defRPr b="1"/>
            </a:pPr>
            <a:r>
              <a:rPr sz="1050" b="1">
                <a:solidFill>
                  <a:srgbClr val="FFFFFF"/>
                </a:solidFill>
                <a:latin typeface="Calibri"/>
              </a:rPr>
              <a:t>7 Score</a:t>
            </a:r>
            <a:endParaRPr lang="en-US" sz="950" dirty="0"/>
          </a:p>
        </p:txBody>
      </p:sp>
      <p:sp>
        <p:nvSpPr>
          <p:cNvPr id="59" name="Text 52"/>
          <p:cNvSpPr txBox="1"/>
          <p:nvPr/>
        </p:nvSpPr>
        <p:spPr>
          <a:xfrm>
            <a:off x="1947672" y="5001768"/>
            <a:ext cx="1088136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0">
                <a:solidFill>
                  <a:srgbClr val="FFFFFF"/>
                </a:solidFill>
                <a:latin typeface="Calibri"/>
              </a:rPr>
              <a:t>FIRST CVSS 3.1</a:t>
            </a:r>
            <a:endParaRPr lang="en-US" sz="760" dirty="0"/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&amp; Risk Rating</a:t>
            </a:r>
          </a:p>
        </p:txBody>
      </p:sp>
      <p:sp>
        <p:nvSpPr>
          <p:cNvPr id="60" name="Shape 53"/>
          <p:cNvSpPr/>
          <p:nvPr/>
        </p:nvSpPr>
        <p:spPr>
          <a:xfrm>
            <a:off x="457200" y="4709160"/>
            <a:ext cx="1234440" cy="777240"/>
          </a:xfrm>
          <a:prstGeom prst="roundRect">
            <a:avLst>
              <a:gd name="adj" fmla="val 9412"/>
            </a:avLst>
          </a:prstGeom>
          <a:solidFill>
            <a:srgbClr val="7046A8"/>
          </a:solidFill>
          <a:ln w="12700">
            <a:noFill/>
            <a:prstDash val="solid"/>
          </a:ln>
        </p:spPr>
      </p:sp>
      <p:sp>
        <p:nvSpPr>
          <p:cNvPr id="61" name="Text 54"/>
          <p:cNvSpPr txBox="1"/>
          <p:nvPr/>
        </p:nvSpPr>
        <p:spPr>
          <a:xfrm>
            <a:off x="530352" y="4764024"/>
            <a:ext cx="1088136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  <a:defRPr b="1"/>
            </a:pPr>
            <a:r>
              <a:rPr sz="1050" b="1">
                <a:solidFill>
                  <a:srgbClr val="FFFFFF"/>
                </a:solidFill>
                <a:latin typeface="Calibri"/>
              </a:rPr>
              <a:t>8 Report</a:t>
            </a:r>
            <a:endParaRPr lang="en-US" sz="950" dirty="0"/>
          </a:p>
        </p:txBody>
      </p:sp>
      <p:sp>
        <p:nvSpPr>
          <p:cNvPr id="62" name="Text 55"/>
          <p:cNvSpPr txBox="1"/>
          <p:nvPr/>
        </p:nvSpPr>
        <p:spPr>
          <a:xfrm>
            <a:off x="530352" y="5001768"/>
            <a:ext cx="1088136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0">
                <a:solidFill>
                  <a:srgbClr val="FFFFFF"/>
                </a:solidFill>
                <a:latin typeface="Calibri"/>
              </a:rPr>
              <a:t>PDF/SARIF +</a:t>
            </a:r>
            <a:endParaRPr lang="en-US" sz="760" dirty="0"/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Patch Diffs</a:t>
            </a:r>
          </a:p>
        </p:txBody>
      </p:sp>
      <p:sp>
        <p:nvSpPr>
          <p:cNvPr id="63" name="Shape 56"/>
          <p:cNvSpPr/>
          <p:nvPr/>
        </p:nvSpPr>
        <p:spPr>
          <a:xfrm flipH="1">
            <a:off x="1709928" y="5093208"/>
            <a:ext cx="137160" cy="0"/>
          </a:xfrm>
          <a:prstGeom prst="line">
            <a:avLst/>
          </a:prstGeom>
          <a:noFill/>
          <a:ln w="19050">
            <a:solidFill>
              <a:srgbClr val="254E86"/>
            </a:solidFill>
            <a:prstDash val="solid"/>
            <a:tailEnd type="triangle"/>
          </a:ln>
        </p:spPr>
      </p:sp>
      <p:sp>
        <p:nvSpPr>
          <p:cNvPr id="64" name="Shape 57"/>
          <p:cNvSpPr/>
          <p:nvPr/>
        </p:nvSpPr>
        <p:spPr>
          <a:xfrm flipH="1">
            <a:off x="3127248" y="5093208"/>
            <a:ext cx="137160" cy="0"/>
          </a:xfrm>
          <a:prstGeom prst="line">
            <a:avLst/>
          </a:prstGeom>
          <a:noFill/>
          <a:ln w="19050">
            <a:solidFill>
              <a:srgbClr val="254E86"/>
            </a:solidFill>
            <a:prstDash val="solid"/>
            <a:tailEnd type="triangle"/>
          </a:ln>
        </p:spPr>
      </p:sp>
      <p:sp>
        <p:nvSpPr>
          <p:cNvPr id="65" name="Shape 58"/>
          <p:cNvSpPr/>
          <p:nvPr/>
        </p:nvSpPr>
        <p:spPr>
          <a:xfrm flipH="1">
            <a:off x="4544568" y="5093208"/>
            <a:ext cx="137160" cy="0"/>
          </a:xfrm>
          <a:prstGeom prst="line">
            <a:avLst/>
          </a:prstGeom>
          <a:noFill/>
          <a:ln w="19050">
            <a:solidFill>
              <a:srgbClr val="254E86"/>
            </a:solidFill>
            <a:prstDash val="solid"/>
            <a:tailEnd type="triangle"/>
          </a:ln>
        </p:spPr>
      </p:sp>
      <p:sp>
        <p:nvSpPr>
          <p:cNvPr id="66" name="Text 59"/>
          <p:cNvSpPr txBox="1"/>
          <p:nvPr/>
        </p:nvSpPr>
        <p:spPr>
          <a:xfrm>
            <a:off x="457200" y="4251960"/>
            <a:ext cx="1234440" cy="1828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950" b="1">
                <a:solidFill>
                  <a:srgbClr val="EA580C"/>
                </a:solidFill>
                <a:latin typeface="Calibri"/>
              </a:rPr>
              <a:t>No: abort</a:t>
            </a:r>
            <a:endParaRPr lang="en-US" sz="750" dirty="0"/>
          </a:p>
        </p:txBody>
      </p:sp>
      <p:sp>
        <p:nvSpPr>
          <p:cNvPr id="67" name="Text 60"/>
          <p:cNvSpPr txBox="1"/>
          <p:nvPr/>
        </p:nvSpPr>
        <p:spPr>
          <a:xfrm>
            <a:off x="4709160" y="5504688"/>
            <a:ext cx="1234440" cy="1828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950" b="1">
                <a:solidFill>
                  <a:srgbClr val="EA580C"/>
                </a:solidFill>
                <a:latin typeface="Calibri"/>
              </a:rPr>
              <a:t>No: drop FP</a:t>
            </a:r>
            <a:endParaRPr lang="en-US" sz="750" dirty="0"/>
          </a:p>
        </p:txBody>
      </p:sp>
      <p:sp>
        <p:nvSpPr>
          <p:cNvPr id="68" name="Shape 61"/>
          <p:cNvSpPr/>
          <p:nvPr/>
        </p:nvSpPr>
        <p:spPr>
          <a:xfrm>
            <a:off x="6172200" y="3127248"/>
            <a:ext cx="5577840" cy="3246120"/>
          </a:xfrm>
          <a:prstGeom prst="roundRect">
            <a:avLst>
              <a:gd name="adj" fmla="val 2817"/>
            </a:avLst>
          </a:prstGeom>
          <a:solidFill>
            <a:srgbClr val="F8FAFC"/>
          </a:solidFill>
          <a:ln w="19050">
            <a:solidFill>
              <a:srgbClr val="254E86"/>
            </a:solidFill>
            <a:prstDash val="solid"/>
          </a:ln>
        </p:spPr>
      </p:sp>
      <p:sp>
        <p:nvSpPr>
          <p:cNvPr id="69" name="Text 62"/>
          <p:cNvSpPr txBox="1"/>
          <p:nvPr/>
        </p:nvSpPr>
        <p:spPr>
          <a:xfrm>
            <a:off x="6382512" y="3291840"/>
            <a:ext cx="5166360" cy="2926080"/>
          </a:xfrm>
          <a:prstGeom prst="rect">
            <a:avLst/>
          </a:prstGeom>
          <a:noFill/>
          <a:ln/>
        </p:spPr>
        <p:txBody>
          <a:bodyPr wrap="square" lIns="45720" tIns="27432" rIns="45720" bIns="27432" rtlCol="0" anchor="t"/>
          <a:lstStyle/>
          <a:p>
            <a:pPr indent="0" marL="0" algn="l">
              <a:spcBef>
                <a:spcPts val="800"/>
              </a:spcBef>
              <a:spcAft>
                <a:spcPts val="200"/>
              </a:spcAft>
              <a:buNone/>
            </a:pPr>
            <a:r>
              <a:rPr b="1" sz="1100">
                <a:solidFill>
                  <a:srgbClr val="0F172A"/>
                </a:solidFill>
                <a:latin typeface="Calibri"/>
              </a:rPr>
              <a:t>TECHNICAL ARCHITECTURE &amp; SPECIFICATIONS</a:t>
            </a:r>
            <a:endParaRPr lang="en-US" sz="1150" dirty="0"/>
          </a:p>
          <a:p>
            <a:pPr algn="l"/>
            <a:r>
              <a:rPr b="0" sz="1000">
                <a:solidFill>
                  <a:srgbClr val="0F172A"/>
                </a:solidFill>
                <a:latin typeface="Calibri"/>
              </a:rPr>
              <a:t>• Target Stack: Next.js 14, Vite, React 18, Tauri 2.0 Rust desktop shell, Vercel Edge Runtime, Upstash Redis, Convex backend.</a:t>
            </a:r>
          </a:p>
          <a:p>
            <a:pPr algn="l"/>
            <a:r>
              <a:rPr b="0" sz="1000">
                <a:solidFill>
                  <a:srgbClr val="0F172A"/>
                </a:solidFill>
                <a:latin typeface="Calibri"/>
              </a:rPr>
              <a:t>• Attack Surface: 166 total endpoints (137 public discovery routes, 29 Pro-gated routes), 5 distinct trust boundaries cataloged.</a:t>
            </a:r>
          </a:p>
          <a:p>
            <a:pPr algn="l"/>
            <a:r>
              <a:rPr b="0" sz="1000">
                <a:solidFill>
                  <a:srgbClr val="0F172A"/>
                </a:solidFill>
                <a:latin typeface="Calibri"/>
              </a:rPr>
              <a:t>• Security Scanners: Semgrep CLI 1.178.0 (custom OWASP/CWE rules), npm audit SCA (28 CVEs identified), custom TypeScript AST route extractor.</a:t>
            </a:r>
          </a:p>
          <a:p>
            <a:pPr algn="l"/>
            <a:r>
              <a:rPr b="0" sz="1000">
                <a:solidFill>
                  <a:srgbClr val="0F172A"/>
                </a:solidFill>
                <a:latin typeface="Calibri"/>
              </a:rPr>
              <a:t>• Orchestration Engine: Python 3.14, Pydantic v2 data models, SQLite findings database, automated FIRST CVSS v3.1 vector calculation.</a:t>
            </a:r>
          </a:p>
          <a:p>
            <a:pPr algn="l"/>
            <a:r>
              <a:rPr b="0" sz="1000">
                <a:solidFill>
                  <a:srgbClr val="0F172A"/>
                </a:solidFill>
                <a:latin typeface="Calibri"/>
              </a:rPr>
              <a:t>• Dynamic Probes: Non-destructive HTTP abuse scripts, Playwright headless verification, multilingual prompt injection prober.</a:t>
            </a:r>
          </a:p>
          <a:p>
            <a:pPr algn="l"/>
            <a:r>
              <a:rPr b="0" sz="1000">
                <a:solidFill>
                  <a:srgbClr val="0F172A"/>
                </a:solidFill>
                <a:latin typeface="Calibri"/>
              </a:rPr>
              <a:t>• Reporting Engine: ReportLab 12-page executive PDF generator, SARIF 2.1.0 JSON exporter, automated remediation diff generator.</a:t>
            </a:r>
          </a:p>
          <a:p>
            <a:pPr algn="l"/>
            <a:r>
              <a:rPr b="0" sz="1000">
                <a:solidFill>
                  <a:srgbClr val="1E3A8A"/>
                </a:solidFill>
                <a:latin typeface="Calibri"/>
              </a:rPr>
              <a:t>• Scope Enforcement: Localhost sandbox lock (localhost:3000); 100% isolated testing with zero upstream impact.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60020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B365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8288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[Team Name]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64592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AND VIABILITY</a:t>
            </a:r>
            <a:endParaRPr lang="en-US" sz="2600" dirty="0"/>
          </a:p>
        </p:txBody>
      </p:sp>
      <p:pic>
        <p:nvPicPr>
          <p:cNvPr id="5" name="Image 0" descr="/home/claude/tpl/logo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18872"/>
            <a:ext cx="2103120" cy="98572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28232"/>
            <a:ext cx="12191695" cy="429768"/>
          </a:xfrm>
          <a:prstGeom prst="rect">
            <a:avLst/>
          </a:prstGeom>
          <a:solidFill>
            <a:srgbClr val="EFF6FF"/>
          </a:solidFill>
          <a:ln w="25400">
            <a:solidFill>
              <a:srgbClr val="1B365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743200" y="6428232"/>
            <a:ext cx="67025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SIH26163  |  ARGUS  |  NTRO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28232"/>
            <a:ext cx="576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4754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254E86"/>
                </a:solidFill>
              </a:defRPr>
            </a:pPr>
            <a:r>
              <a:t>Operational Execution Flow (Branching Pipeline) 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1143000"/>
            <a:ext cx="6217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254E86"/>
                </a:solidFill>
              </a:defRPr>
            </a:pPr>
            <a:r>
              <a:t>Feasibility &amp; Viability Assessment (Key Dimensions) 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508760"/>
            <a:ext cx="4709160" cy="685800"/>
          </a:xfrm>
          <a:prstGeom prst="roundRect">
            <a:avLst/>
          </a:prstGeom>
          <a:solidFill>
            <a:srgbClr val="2073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1. Local Target Sandbox Isolation</a:t>
            </a:r>
          </a:p>
          <a:p>
            <a:pPr algn="ctr">
              <a:spcBef>
                <a:spcPts val="200"/>
              </a:spcBef>
              <a:defRPr b="0" sz="900">
                <a:solidFill>
                  <a:srgbClr val="FFFFFF"/>
                </a:solidFill>
              </a:defRPr>
            </a:pPr>
            <a:r>
              <a:t>Clone AGPL-3.0 World Monitor; isolate 166 Vercel Edge API routes locally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07208" y="2194560"/>
            <a:ext cx="0" cy="228600"/>
          </a:xfrm>
          <a:prstGeom prst="line">
            <a:avLst/>
          </a:prstGeom>
          <a:ln w="25400">
            <a:solidFill>
              <a:srgbClr val="254E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57200" y="2423160"/>
            <a:ext cx="4709160" cy="685800"/>
          </a:xfrm>
          <a:prstGeom prst="roundRect">
            <a:avLst/>
          </a:prstGeom>
          <a:solidFill>
            <a:srgbClr val="229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2. Multi-Engine Surface Recon</a:t>
            </a:r>
          </a:p>
          <a:p>
            <a:pPr algn="ctr">
              <a:spcBef>
                <a:spcPts val="200"/>
              </a:spcBef>
              <a:defRPr b="0" sz="900">
                <a:solidFill>
                  <a:srgbClr val="FFFFFF"/>
                </a:solidFill>
              </a:defRPr>
            </a:pPr>
            <a:r>
              <a:t>AST route parsing + Semgrep SAST + npm SCA automated telemetry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807208" y="3108960"/>
            <a:ext cx="0" cy="228600"/>
          </a:xfrm>
          <a:prstGeom prst="line">
            <a:avLst/>
          </a:prstGeom>
          <a:ln w="25400">
            <a:solidFill>
              <a:srgbClr val="254E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57200" y="3337560"/>
            <a:ext cx="4709160" cy="685800"/>
          </a:xfrm>
          <a:prstGeom prst="roundRect">
            <a:avLst/>
          </a:prstGeom>
          <a:solidFill>
            <a:srgbClr val="254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3. ARGUS Central Correlation Gate</a:t>
            </a:r>
          </a:p>
          <a:p>
            <a:pPr algn="ctr">
              <a:spcBef>
                <a:spcPts val="200"/>
              </a:spcBef>
              <a:defRPr b="0" sz="900">
                <a:solidFill>
                  <a:srgbClr val="FFFFFF"/>
                </a:solidFill>
              </a:defRPr>
            </a:pPr>
            <a:r>
              <a:t>Pydantic v2 unified schema; deduplication &amp; two-signal cross-check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88720" y="4023360"/>
            <a:ext cx="0" cy="320040"/>
          </a:xfrm>
          <a:prstGeom prst="line">
            <a:avLst/>
          </a:prstGeom>
          <a:ln w="25400">
            <a:solidFill>
              <a:srgbClr val="254E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807208" y="4023360"/>
            <a:ext cx="0" cy="320040"/>
          </a:xfrm>
          <a:prstGeom prst="line">
            <a:avLst/>
          </a:prstGeom>
          <a:ln w="25400">
            <a:solidFill>
              <a:srgbClr val="254E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434840" y="4023360"/>
            <a:ext cx="0" cy="320040"/>
          </a:xfrm>
          <a:prstGeom prst="line">
            <a:avLst/>
          </a:prstGeom>
          <a:ln w="25400">
            <a:solidFill>
              <a:srgbClr val="254E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57200" y="4343400"/>
            <a:ext cx="1463040" cy="1691640"/>
          </a:xfrm>
          <a:prstGeom prst="roundRect">
            <a:avLst/>
          </a:prstGeom>
          <a:solidFill>
            <a:srgbClr val="DE7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1050">
                <a:solidFill>
                  <a:srgbClr val="FFFFFF"/>
                </a:solidFill>
              </a:defRPr>
            </a:pPr>
            <a:r>
              <a:t>Noise Drop</a:t>
            </a:r>
          </a:p>
          <a:p>
            <a:pPr algn="ctr">
              <a:spcBef>
                <a:spcPts val="200"/>
              </a:spcBef>
              <a:defRPr b="0" sz="850">
                <a:solidFill>
                  <a:srgbClr val="FFFFFF"/>
                </a:solidFill>
              </a:defRPr>
            </a:pPr>
            <a:r>
              <a:t>Two-signal rule eliminates scanner false positives, cutting triage by 80%.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75688" y="4343400"/>
            <a:ext cx="1463040" cy="1691640"/>
          </a:xfrm>
          <a:prstGeom prst="roundRect">
            <a:avLst/>
          </a:prstGeom>
          <a:solidFill>
            <a:srgbClr val="704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1050">
                <a:solidFill>
                  <a:srgbClr val="FFFFFF"/>
                </a:solidFill>
              </a:defRPr>
            </a:pPr>
            <a:r>
              <a:t>5 Safe PoCs</a:t>
            </a:r>
          </a:p>
          <a:p>
            <a:pPr algn="ctr">
              <a:spcBef>
                <a:spcPts val="200"/>
              </a:spcBef>
              <a:defRPr b="0" sz="850">
                <a:solidFill>
                  <a:srgbClr val="FFFFFF"/>
                </a:solidFill>
              </a:defRPr>
            </a:pPr>
            <a:r>
              <a:t>Non-destructive automated verification scripts prove exploitability safely.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03320" y="4343400"/>
            <a:ext cx="1463040" cy="1691640"/>
          </a:xfrm>
          <a:prstGeom prst="roundRect">
            <a:avLst/>
          </a:prstGeom>
          <a:solidFill>
            <a:srgbClr val="B03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1050">
                <a:solidFill>
                  <a:srgbClr val="FFFFFF"/>
                </a:solidFill>
              </a:defRPr>
            </a:pPr>
            <a:r>
              <a:t>Patch Diffs</a:t>
            </a:r>
          </a:p>
          <a:p>
            <a:pPr algn="ctr">
              <a:spcBef>
                <a:spcPts val="200"/>
              </a:spcBef>
              <a:defRPr b="0" sz="850">
                <a:solidFill>
                  <a:srgbClr val="FFFFFF"/>
                </a:solidFill>
              </a:defRPr>
            </a:pPr>
            <a:r>
              <a:t>Production-ready code fixes &amp; SARIF 2.1.0 report delivered for engineers.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40680" y="1508760"/>
            <a:ext cx="6263640" cy="1051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07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54864"/>
          <a:lstStyle/>
          <a:p>
            <a:pPr algn="ctr">
              <a:defRPr b="1" sz="1050">
                <a:solidFill>
                  <a:srgbClr val="20739B"/>
                </a:solidFill>
              </a:defRPr>
            </a:pPr>
            <a:r>
              <a:t>Technical Feasibility &amp; White-Box Access</a:t>
            </a:r>
          </a:p>
          <a:p>
            <a:pPr>
              <a:spcBef>
                <a:spcPts val="200"/>
              </a:spcBef>
              <a:defRPr b="1" sz="900">
                <a:solidFill>
                  <a:srgbClr val="254E86"/>
                </a:solidFill>
              </a:defRPr>
            </a:pPr>
            <a:r>
              <a:t>• White-Box Access: </a:t>
            </a:r>
            <a:r>
              <a:rPr b="0" sz="900">
                <a:solidFill>
                  <a:srgbClr val="0F172A"/>
                </a:solidFill>
              </a:rPr>
              <a:t>166 Vercel Edge endpoints audited via AST parser in isolated local container.</a:t>
            </a:r>
          </a:p>
          <a:p>
            <a:pPr>
              <a:spcBef>
                <a:spcPts val="200"/>
              </a:spcBef>
              <a:defRPr b="1" sz="900">
                <a:solidFill>
                  <a:srgbClr val="254E86"/>
                </a:solidFill>
              </a:defRPr>
            </a:pPr>
            <a:r>
              <a:t>• Zero External Risk: </a:t>
            </a:r>
            <a:r>
              <a:rPr b="0" sz="900">
                <a:solidFill>
                  <a:srgbClr val="0F172A"/>
                </a:solidFill>
              </a:rPr>
              <a:t>Runs self-hosted with mock telemetry; zero external cloud data exposure.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40680" y="2651760"/>
            <a:ext cx="6263640" cy="1051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29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54864"/>
          <a:lstStyle/>
          <a:p>
            <a:pPr algn="ctr">
              <a:defRPr b="1" sz="1050">
                <a:solidFill>
                  <a:srgbClr val="229954"/>
                </a:solidFill>
              </a:defRPr>
            </a:pPr>
            <a:r>
              <a:t>Operational &amp; Economic Viability ($0 Tooling)</a:t>
            </a:r>
          </a:p>
          <a:p>
            <a:pPr>
              <a:spcBef>
                <a:spcPts val="200"/>
              </a:spcBef>
              <a:defRPr b="1" sz="900">
                <a:solidFill>
                  <a:srgbClr val="254E86"/>
                </a:solidFill>
              </a:defRPr>
            </a:pPr>
            <a:r>
              <a:t>• $0 Licensing Cost: </a:t>
            </a:r>
            <a:r>
              <a:rPr b="0" sz="900">
                <a:solidFill>
                  <a:srgbClr val="0F172A"/>
                </a:solidFill>
              </a:rPr>
              <a:t>Built entirely with open-source tools (Python 3.14, Semgrep OSS, Pydantic).</a:t>
            </a:r>
          </a:p>
          <a:p>
            <a:pPr>
              <a:spcBef>
                <a:spcPts val="200"/>
              </a:spcBef>
              <a:defRPr b="1" sz="900">
                <a:solidFill>
                  <a:srgbClr val="254E86"/>
                </a:solidFill>
              </a:defRPr>
            </a:pPr>
            <a:r>
              <a:t>• Rapid Turnaround: </a:t>
            </a:r>
            <a:r>
              <a:rPr b="0" sz="900">
                <a:solidFill>
                  <a:srgbClr val="0F172A"/>
                </a:solidFill>
              </a:rPr>
              <a:t>Completes full multi-engine audit pass in &lt;90 seconds on standard developer laptop.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40680" y="3794760"/>
            <a:ext cx="6263640" cy="1051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E7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54864"/>
          <a:lstStyle/>
          <a:p>
            <a:pPr algn="ctr">
              <a:defRPr b="1" sz="1050">
                <a:solidFill>
                  <a:srgbClr val="DE732A"/>
                </a:solidFill>
              </a:defRPr>
            </a:pPr>
            <a:r>
              <a:t>Challenge &amp; Risk Mitigation Strategy</a:t>
            </a:r>
          </a:p>
          <a:p>
            <a:pPr>
              <a:spcBef>
                <a:spcPts val="200"/>
              </a:spcBef>
              <a:defRPr b="1" sz="900">
                <a:solidFill>
                  <a:srgbClr val="254E86"/>
                </a:solidFill>
              </a:defRPr>
            </a:pPr>
            <a:r>
              <a:t>• Two-Signal Rule: </a:t>
            </a:r>
            <a:r>
              <a:rPr b="0" sz="900">
                <a:solidFill>
                  <a:srgbClr val="0F172A"/>
                </a:solidFill>
              </a:rPr>
              <a:t>Eliminates single-scanner false alarms; slashes manual triage effort by 80%.</a:t>
            </a:r>
          </a:p>
          <a:p>
            <a:pPr>
              <a:spcBef>
                <a:spcPts val="200"/>
              </a:spcBef>
              <a:defRPr b="1" sz="900">
                <a:solidFill>
                  <a:srgbClr val="254E86"/>
                </a:solidFill>
              </a:defRPr>
            </a:pPr>
            <a:r>
              <a:t>• Non-Destructive PoCs: </a:t>
            </a:r>
            <a:r>
              <a:rPr b="0" sz="900">
                <a:solidFill>
                  <a:srgbClr val="0F172A"/>
                </a:solidFill>
              </a:rPr>
              <a:t>Safe verification scripts validate true exploitability without DoS damage.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40680" y="4937760"/>
            <a:ext cx="6263640" cy="1051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04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54864"/>
          <a:lstStyle/>
          <a:p>
            <a:pPr algn="ctr">
              <a:defRPr b="1" sz="1050">
                <a:solidFill>
                  <a:srgbClr val="7046A8"/>
                </a:solidFill>
              </a:defRPr>
            </a:pPr>
            <a:r>
              <a:t>Strategic Impact &amp; National Scalability</a:t>
            </a:r>
          </a:p>
          <a:p>
            <a:pPr>
              <a:spcBef>
                <a:spcPts val="200"/>
              </a:spcBef>
              <a:defRPr b="1" sz="900">
                <a:solidFill>
                  <a:srgbClr val="254E86"/>
                </a:solidFill>
              </a:defRPr>
            </a:pPr>
            <a:r>
              <a:t>• Agency Ready: </a:t>
            </a:r>
            <a:r>
              <a:rPr b="0" sz="900">
                <a:solidFill>
                  <a:srgbClr val="0F172A"/>
                </a:solidFill>
              </a:rPr>
              <a:t>Immediate drop-in utility for NIC, CERT-In, and NTRO evaluation pipelines.</a:t>
            </a:r>
          </a:p>
          <a:p>
            <a:pPr>
              <a:spcBef>
                <a:spcPts val="200"/>
              </a:spcBef>
              <a:defRPr b="1" sz="900">
                <a:solidFill>
                  <a:srgbClr val="254E86"/>
                </a:solidFill>
              </a:defRPr>
            </a:pPr>
            <a:r>
              <a:t>• Universal Profiles: </a:t>
            </a:r>
            <a:r>
              <a:rPr b="0" sz="900">
                <a:solidFill>
                  <a:srgbClr val="0F172A"/>
                </a:solidFill>
              </a:rPr>
              <a:t>Easily adapted to any public portal via simple YAML configuration.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600200" cy="914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8288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[Team Name]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64592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AND BENEFITS</a:t>
            </a:r>
            <a:endParaRPr lang="en-US" sz="2600" dirty="0"/>
          </a:p>
        </p:txBody>
      </p:sp>
      <p:pic>
        <p:nvPicPr>
          <p:cNvPr id="5" name="Image 0" descr="/home/claude/tpl/logo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18872"/>
            <a:ext cx="2103120" cy="98572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28232"/>
            <a:ext cx="12191695" cy="4297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743200" y="6428232"/>
            <a:ext cx="67025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SIH26163  |  ARGUS  |  NTRO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28232"/>
            <a:ext cx="576072" cy="42976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r" indent="0" marL="0">
              <a:buNone/>
              <a:defRPr sz="1200">
                <a:solidFill>
                  <a:srgbClr val="94A3B8"/>
                </a:solidFill>
              </a:defRPr>
            </a:pPr>
            <a:r>
              <a:t>5</a:t>
            </a:r>
            <a:endParaRPr lang="en-US" sz="1200" dirty="0"/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254E86"/>
                </a:solidFill>
              </a:defRPr>
            </a:pPr>
            <a:r>
              <a:t>ARGUS Sovereign Impact Ecosystem (Multi-Stakeholder) 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143000"/>
            <a:ext cx="569671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254E86"/>
                </a:solidFill>
              </a:defRPr>
            </a:pPr>
            <a:r>
              <a:t>Scalability Roadmap &amp; Output Deliverables 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08760" y="3154680"/>
            <a:ext cx="3108960" cy="777240"/>
          </a:xfrm>
          <a:prstGeom prst="roundRect">
            <a:avLst/>
          </a:prstGeom>
          <a:solidFill>
            <a:srgbClr val="254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1150">
                <a:solidFill>
                  <a:srgbClr val="FFFFFF"/>
                </a:solidFill>
              </a:defRPr>
            </a:pPr>
            <a:r>
              <a:t>ARGUS SOVEREIGN IMPACT</a:t>
            </a:r>
          </a:p>
          <a:p>
            <a:pPr algn="ctr">
              <a:spcBef>
                <a:spcPts val="200"/>
              </a:spcBef>
              <a:defRPr b="0" sz="900">
                <a:solidFill>
                  <a:srgbClr val="FFFFFF"/>
                </a:solidFill>
              </a:defRPr>
            </a:pPr>
            <a:r>
              <a:t>Multi-Stakeholder National AppSec Ecosystem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645920"/>
            <a:ext cx="2423160" cy="1005840"/>
          </a:xfrm>
          <a:prstGeom prst="roundRect">
            <a:avLst/>
          </a:prstGeom>
          <a:solidFill>
            <a:srgbClr val="229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1050">
                <a:solidFill>
                  <a:srgbClr val="FFFFFF"/>
                </a:solidFill>
              </a:defRPr>
            </a:pPr>
            <a:r>
              <a:t>NTRO &amp; Defense Agencies</a:t>
            </a:r>
          </a:p>
          <a:p>
            <a:pPr algn="ctr">
              <a:spcBef>
                <a:spcPts val="200"/>
              </a:spcBef>
              <a:defRPr b="0" sz="850">
                <a:solidFill>
                  <a:srgbClr val="FFFFFF"/>
                </a:solidFill>
              </a:defRPr>
            </a:pPr>
            <a:r>
              <a:t>Repeatable, automated AppSec framework to audit sovereign intelligence systems.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4680" y="1645920"/>
            <a:ext cx="2423160" cy="1005840"/>
          </a:xfrm>
          <a:prstGeom prst="roundRect">
            <a:avLst/>
          </a:prstGeom>
          <a:solidFill>
            <a:srgbClr val="DE7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1050">
                <a:solidFill>
                  <a:srgbClr val="FFFFFF"/>
                </a:solidFill>
              </a:defRPr>
            </a:pPr>
            <a:r>
              <a:t>World Monitor Developers</a:t>
            </a:r>
          </a:p>
          <a:p>
            <a:pPr algn="ctr">
              <a:spcBef>
                <a:spcPts val="200"/>
              </a:spcBef>
              <a:defRPr b="0" sz="850">
                <a:solidFill>
                  <a:srgbClr val="FFFFFF"/>
                </a:solidFill>
              </a:defRPr>
            </a:pPr>
            <a:r>
              <a:t>Concrete, production-ready patch diffs (DOMPurify, fail-closed rate limiters).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89120"/>
            <a:ext cx="2423160" cy="1005840"/>
          </a:xfrm>
          <a:prstGeom prst="roundRect">
            <a:avLst/>
          </a:prstGeom>
          <a:solidFill>
            <a:srgbClr val="704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1050">
                <a:solidFill>
                  <a:srgbClr val="FFFFFF"/>
                </a:solidFill>
              </a:defRPr>
            </a:pPr>
            <a:r>
              <a:t>Intelligence Analysts</a:t>
            </a:r>
          </a:p>
          <a:p>
            <a:pPr algn="ctr">
              <a:spcBef>
                <a:spcPts val="200"/>
              </a:spcBef>
              <a:defRPr b="0" sz="850">
                <a:solidFill>
                  <a:srgbClr val="FFFFFF"/>
                </a:solidFill>
              </a:defRPr>
            </a:pPr>
            <a:r>
              <a:t>Protects mission-critical OSINT feeds against prompt injection &amp; DoS.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54680" y="4389120"/>
            <a:ext cx="2423160" cy="1005840"/>
          </a:xfrm>
          <a:prstGeom prst="roundRect">
            <a:avLst/>
          </a:prstGeom>
          <a:solidFill>
            <a:srgbClr val="2073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1050">
                <a:solidFill>
                  <a:srgbClr val="FFFFFF"/>
                </a:solidFill>
              </a:defRPr>
            </a:pPr>
            <a:r>
              <a:t>DevSecOps Engineers</a:t>
            </a:r>
          </a:p>
          <a:p>
            <a:pPr algn="ctr">
              <a:spcBef>
                <a:spcPts val="200"/>
              </a:spcBef>
              <a:defRPr b="0" sz="850">
                <a:solidFill>
                  <a:srgbClr val="FFFFFF"/>
                </a:solidFill>
              </a:defRPr>
            </a:pPr>
            <a:r>
              <a:t>Continuous CI/CD compliance gate mapped to OWASP &amp; FIRST CVSS 3.1.</a:t>
            </a:r>
          </a:p>
        </p:txBody>
      </p:sp>
      <p:cxnSp>
        <p:nvCxnSpPr>
          <p:cNvPr id="16" name="Connector 15"/>
          <p:cNvCxnSpPr/>
          <p:nvPr/>
        </p:nvCxnSpPr>
        <p:spPr>
          <a:xfrm flipH="1" flipV="1">
            <a:off x="1664208" y="2651760"/>
            <a:ext cx="621792" cy="502920"/>
          </a:xfrm>
          <a:prstGeom prst="line">
            <a:avLst/>
          </a:prstGeom>
          <a:ln w="25400">
            <a:solidFill>
              <a:srgbClr val="254E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3840480" y="2651760"/>
            <a:ext cx="530352" cy="502920"/>
          </a:xfrm>
          <a:prstGeom prst="line">
            <a:avLst/>
          </a:prstGeom>
          <a:ln w="25400">
            <a:solidFill>
              <a:srgbClr val="254E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1664208" y="3931920"/>
            <a:ext cx="621792" cy="457200"/>
          </a:xfrm>
          <a:prstGeom prst="line">
            <a:avLst/>
          </a:prstGeom>
          <a:ln w="25400">
            <a:solidFill>
              <a:srgbClr val="254E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840480" y="3931920"/>
            <a:ext cx="530352" cy="457200"/>
          </a:xfrm>
          <a:prstGeom prst="line">
            <a:avLst/>
          </a:prstGeom>
          <a:ln w="25400">
            <a:solidFill>
              <a:srgbClr val="254E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035040" y="1645920"/>
            <a:ext cx="5696712" cy="777240"/>
          </a:xfrm>
          <a:prstGeom prst="roundRect">
            <a:avLst/>
          </a:prstGeom>
          <a:solidFill>
            <a:srgbClr val="229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NOW — World Monitor Audit (v1.0)</a:t>
            </a:r>
          </a:p>
          <a:p>
            <a:pPr algn="ctr">
              <a:spcBef>
                <a:spcPts val="200"/>
              </a:spcBef>
              <a:defRPr b="0" sz="900">
                <a:solidFill>
                  <a:srgbClr val="FFFFFF"/>
                </a:solidFill>
              </a:defRPr>
            </a:pPr>
            <a:r>
              <a:t>166 endpoints audited • 12 confirmed findings • 5 safe PoCs • 12-page executive report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78824" y="2423160"/>
            <a:ext cx="0" cy="137160"/>
          </a:xfrm>
          <a:prstGeom prst="line">
            <a:avLst/>
          </a:prstGeom>
          <a:ln w="25400">
            <a:solidFill>
              <a:srgbClr val="254E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035040" y="2560320"/>
            <a:ext cx="5696712" cy="777240"/>
          </a:xfrm>
          <a:prstGeom prst="roundRect">
            <a:avLst/>
          </a:prstGeom>
          <a:solidFill>
            <a:srgbClr val="DE7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NEXT — Any Sovereign Web/API Target</a:t>
            </a:r>
          </a:p>
          <a:p>
            <a:pPr algn="ctr">
              <a:spcBef>
                <a:spcPts val="200"/>
              </a:spcBef>
              <a:defRPr b="0" sz="900">
                <a:solidFill>
                  <a:srgbClr val="FFFFFF"/>
                </a:solidFill>
              </a:defRPr>
            </a:pPr>
            <a:r>
              <a:t>Declarative YAML target profiles • GitHub Actions CI/CD gate • automated diff generation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878824" y="3337560"/>
            <a:ext cx="0" cy="137160"/>
          </a:xfrm>
          <a:prstGeom prst="line">
            <a:avLst/>
          </a:prstGeom>
          <a:ln w="25400">
            <a:solidFill>
              <a:srgbClr val="254E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035040" y="3474720"/>
            <a:ext cx="5696712" cy="777240"/>
          </a:xfrm>
          <a:prstGeom prst="roundRect">
            <a:avLst/>
          </a:prstGeom>
          <a:solidFill>
            <a:srgbClr val="704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FUTURE — Continuous Posture Monitoring</a:t>
            </a:r>
          </a:p>
          <a:p>
            <a:pPr algn="ctr">
              <a:spcBef>
                <a:spcPts val="200"/>
              </a:spcBef>
              <a:defRPr b="0" sz="900">
                <a:solidFill>
                  <a:srgbClr val="FFFFFF"/>
                </a:solidFill>
              </a:defRPr>
            </a:pPr>
            <a:r>
              <a:t>Autonomous re-scanning daemon • multi-target distributed queue • OWASP drift tracking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4389120"/>
            <a:ext cx="56967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050">
                <a:solidFill>
                  <a:srgbClr val="254E86"/>
                </a:solidFill>
              </a:defRPr>
            </a:pPr>
            <a:r>
              <a:t>Standardized Deliverables per Finding (8 Mandated Fields) :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0" y="4709160"/>
            <a:ext cx="1353312" cy="438912"/>
          </a:xfrm>
          <a:prstGeom prst="roundRect">
            <a:avLst/>
          </a:prstGeom>
          <a:solidFill>
            <a:srgbClr val="254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900">
                <a:solidFill>
                  <a:srgbClr val="FFFFFF"/>
                </a:solidFill>
              </a:defRPr>
            </a:pPr>
            <a:r>
              <a:t>1. Standard Title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79792" y="4709160"/>
            <a:ext cx="1353312" cy="438912"/>
          </a:xfrm>
          <a:prstGeom prst="roundRect">
            <a:avLst/>
          </a:prstGeom>
          <a:solidFill>
            <a:srgbClr val="229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900">
                <a:solidFill>
                  <a:srgbClr val="FFFFFF"/>
                </a:solidFill>
              </a:defRPr>
            </a:pPr>
            <a:r>
              <a:t>2. Root Cause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24544" y="4709160"/>
            <a:ext cx="1353312" cy="438912"/>
          </a:xfrm>
          <a:prstGeom prst="roundRect">
            <a:avLst/>
          </a:prstGeom>
          <a:solidFill>
            <a:srgbClr val="DE7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900">
                <a:solidFill>
                  <a:srgbClr val="FFFFFF"/>
                </a:solidFill>
              </a:defRPr>
            </a:pPr>
            <a:r>
              <a:t>3. Affected Route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69296" y="4709160"/>
            <a:ext cx="1353312" cy="438912"/>
          </a:xfrm>
          <a:prstGeom prst="roundRect">
            <a:avLst/>
          </a:prstGeom>
          <a:solidFill>
            <a:srgbClr val="704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900">
                <a:solidFill>
                  <a:srgbClr val="FFFFFF"/>
                </a:solidFill>
              </a:defRPr>
            </a:pPr>
            <a:r>
              <a:t>4. CVSS 3.1 Score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35040" y="5239512"/>
            <a:ext cx="1353312" cy="438912"/>
          </a:xfrm>
          <a:prstGeom prst="roundRect">
            <a:avLst/>
          </a:prstGeom>
          <a:solidFill>
            <a:srgbClr val="254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900">
                <a:solidFill>
                  <a:srgbClr val="FFFFFF"/>
                </a:solidFill>
              </a:defRPr>
            </a:pPr>
            <a:r>
              <a:t>5. Reproduction Steps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79792" y="5239512"/>
            <a:ext cx="1353312" cy="438912"/>
          </a:xfrm>
          <a:prstGeom prst="roundRect">
            <a:avLst/>
          </a:prstGeom>
          <a:solidFill>
            <a:srgbClr val="229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900">
                <a:solidFill>
                  <a:srgbClr val="FFFFFF"/>
                </a:solidFill>
              </a:defRPr>
            </a:pPr>
            <a:r>
              <a:t>6. Safe PoC Evidence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24544" y="5239512"/>
            <a:ext cx="1353312" cy="438912"/>
          </a:xfrm>
          <a:prstGeom prst="roundRect">
            <a:avLst/>
          </a:prstGeom>
          <a:solidFill>
            <a:srgbClr val="DE7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900">
                <a:solidFill>
                  <a:srgbClr val="FFFFFF"/>
                </a:solidFill>
              </a:defRPr>
            </a:pPr>
            <a:r>
              <a:t>7. Business Impact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369296" y="5239512"/>
            <a:ext cx="1353312" cy="438912"/>
          </a:xfrm>
          <a:prstGeom prst="roundRect">
            <a:avLst/>
          </a:prstGeom>
          <a:solidFill>
            <a:srgbClr val="704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900">
                <a:solidFill>
                  <a:srgbClr val="FFFFFF"/>
                </a:solidFill>
              </a:defRPr>
            </a:pPr>
            <a:r>
              <a:t>8. Remediation Diff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600200" cy="914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8288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[Team Name]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64592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AND REFERENCES</a:t>
            </a:r>
            <a:endParaRPr lang="en-US" sz="2600" dirty="0"/>
          </a:p>
        </p:txBody>
      </p:sp>
      <p:pic>
        <p:nvPicPr>
          <p:cNvPr id="5" name="Image 0" descr="/home/claude/tpl/logo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18872"/>
            <a:ext cx="2103120" cy="98572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28232"/>
            <a:ext cx="12191695" cy="4297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743200" y="6428232"/>
            <a:ext cx="67025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SIH26163  |  ARGUS  |  NTRO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28232"/>
            <a:ext cx="576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1252728"/>
            <a:ext cx="365760" cy="365760"/>
          </a:xfrm>
          <a:prstGeom prst="ellipse">
            <a:avLst/>
          </a:prstGeom>
          <a:solidFill>
            <a:srgbClr val="254E86"/>
          </a:solidFill>
          <a:ln w="12700">
            <a:noFill/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1252728"/>
            <a:ext cx="365760" cy="36576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  <a:defRPr b="1"/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1234440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Qadir et al. (2025) · Comparative evaluation of approaches &amp; tools for effective security testing of Web applications. PeerJ Computer Science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869680" y="1234440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475569"/>
                </a:solidFill>
                <a:latin typeface="Calibri"/>
              </a:rPr>
              <a:t>peerj.com/articles/cs-2821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57200" y="1709928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57200" y="1819656"/>
            <a:ext cx="365760" cy="365760"/>
          </a:xfrm>
          <a:prstGeom prst="ellipse">
            <a:avLst/>
          </a:prstGeom>
          <a:solidFill>
            <a:srgbClr val="229954"/>
          </a:solidFill>
          <a:ln w="12700">
            <a:noFill/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7200" y="1819656"/>
            <a:ext cx="365760" cy="36576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  <a:defRPr b="1"/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801368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A methodology for evaluating DAST scanners (2025). Springer Journal of Computer Virology and Hacking Techniques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869680" y="1801368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475569"/>
                </a:solidFill>
                <a:latin typeface="Calibri"/>
              </a:rPr>
              <a:t>doi.org/10.1007/s10207-025-01054-8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57200" y="2276856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57200" y="2386584"/>
            <a:ext cx="365760" cy="365760"/>
          </a:xfrm>
          <a:prstGeom prst="ellipse">
            <a:avLst/>
          </a:prstGeom>
          <a:solidFill>
            <a:srgbClr val="DE732A"/>
          </a:solidFill>
          <a:ln w="12700">
            <a:noFill/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7200" y="2386584"/>
            <a:ext cx="365760" cy="36576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  <a:defRPr b="1"/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2368296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A Novel VAPT Algorithm: Enhancing Web Application Security Through OWASP Top 10 Optimization (2023)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869680" y="2368296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475569"/>
                </a:solidFill>
                <a:latin typeface="Calibri"/>
              </a:rPr>
              <a:t>arXiv:2311.10450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57200" y="2843784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953512"/>
            <a:ext cx="365760" cy="365760"/>
          </a:xfrm>
          <a:prstGeom prst="ellipse">
            <a:avLst/>
          </a:prstGeom>
          <a:solidFill>
            <a:srgbClr val="7046A8"/>
          </a:solidFill>
          <a:ln w="12700">
            <a:noFill/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57200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  <a:defRPr b="1"/>
            </a:pPr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960120" y="2935224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Do I really need all this work to find vulnerabilities? Empirical comparison of detection techniques (2022)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8869680" y="2935224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475569"/>
                </a:solidFill>
                <a:latin typeface="Calibri"/>
              </a:rPr>
              <a:t>arXiv:2208.01595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57200" y="3410712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7200" y="3520440"/>
            <a:ext cx="365760" cy="365760"/>
          </a:xfrm>
          <a:prstGeom prst="ellipse">
            <a:avLst/>
          </a:prstGeom>
          <a:solidFill>
            <a:srgbClr val="254E86"/>
          </a:solidFill>
          <a:ln w="12700">
            <a:noFill/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5720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  <a:defRPr b="1"/>
            </a:pPr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960120" y="3502152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Semantic Similarity-Based Clustering of Findings From Security Testing Tools (2022)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869680" y="3502152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475569"/>
                </a:solidFill>
                <a:latin typeface="Calibri"/>
              </a:rPr>
              <a:t>arXiv:2211.11057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57200" y="3977640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7200" y="4087368"/>
            <a:ext cx="365760" cy="365760"/>
          </a:xfrm>
          <a:prstGeom prst="ellipse">
            <a:avLst/>
          </a:prstGeom>
          <a:solidFill>
            <a:srgbClr val="229954"/>
          </a:solidFill>
          <a:ln w="12700">
            <a:noFill/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57200" y="4087368"/>
            <a:ext cx="365760" cy="36576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  <a:defRPr b="1"/>
            </a:pPr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960120" y="4069080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OWASP Top 10:2021 · OWASP ASVS 5.0 · OWASP Top 10 for Large Language Model Applications (2025)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8869680" y="4069080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475569"/>
                </a:solidFill>
                <a:latin typeface="Calibri"/>
              </a:rPr>
              <a:t>owasp.org/Top10 · owasp.org/llm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57200" y="4544568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57200" y="4654296"/>
            <a:ext cx="365760" cy="365760"/>
          </a:xfrm>
          <a:prstGeom prst="ellipse">
            <a:avLst/>
          </a:prstGeom>
          <a:solidFill>
            <a:srgbClr val="DE732A"/>
          </a:solidFill>
          <a:ln w="12700">
            <a:noFill/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57200" y="4654296"/>
            <a:ext cx="365760" cy="36576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  <a:defRPr b="1"/>
            </a:pPr>
            <a:r>
              <a:rPr sz="1200" b="1">
                <a:solidFill>
                  <a:srgbClr val="FFFFFF"/>
                </a:solidFill>
                <a:latin typeface="Calibri"/>
              </a:rPr>
              <a:t>7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960120" y="4636008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MITRE CWE Top 25 Most Dangerous Software Weaknesses &amp; FIRST CVSS v3.1 Specification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8869680" y="4636008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475569"/>
                </a:solidFill>
                <a:latin typeface="Calibri"/>
              </a:rPr>
              <a:t>cwe.mitre.org · first.org/cvss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457200" y="5111496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5221224"/>
            <a:ext cx="365760" cy="365760"/>
          </a:xfrm>
          <a:prstGeom prst="ellipse">
            <a:avLst/>
          </a:prstGeom>
          <a:solidFill>
            <a:srgbClr val="7046A8"/>
          </a:solidFill>
          <a:ln w="12700">
            <a:noFill/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457200" y="5221224"/>
            <a:ext cx="365760" cy="36576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  <a:defRPr b="1"/>
            </a:pPr>
            <a:r>
              <a:rPr sz="1200" b="1">
                <a:solidFill>
                  <a:srgbClr val="FFFFFF"/>
                </a:solidFill>
                <a:latin typeface="Calibri"/>
              </a:rPr>
              <a:t>8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960120" y="5202936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World Monitor Open-Source Repository &amp; GitHub Security Advisory GHSA-887j-p88r-qmm9 (MCP SSRF)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8869680" y="5202936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475569"/>
                </a:solidFill>
                <a:latin typeface="Calibri"/>
              </a:rPr>
              <a:t>github.com/koala73/worldmonitor</a:t>
            </a: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457200" y="5678424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57200" y="5715000"/>
            <a:ext cx="11274552" cy="566928"/>
          </a:xfrm>
          <a:prstGeom prst="roundRect">
            <a:avLst>
              <a:gd name="adj" fmla="val 12903"/>
            </a:avLst>
          </a:prstGeom>
          <a:solidFill>
            <a:srgbClr val="A02626"/>
          </a:solidFill>
          <a:ln w="19050">
            <a:solidFill>
              <a:srgbClr val="B03E2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640080" y="5715000"/>
            <a:ext cx="10972800" cy="56692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sz="1000" b="0">
                <a:solidFill>
                  <a:srgbClr val="FFFFFF"/>
                </a:solidFill>
                <a:latin typeface="Calibri"/>
              </a:rPr>
              <a:t>Ethical Scope &amp; Rules of Engagement: All security testing was executed strictly on an authorized, locally self-hosted sandbox instance (localhost:3000) using seeded test data. Zero active probing, scanning, or exploitation was conducted against production 'worldmonitor.app' or external upstream services. All 5 developed Proof-of-Concept scripts are non-destructive and limited strictly to existence validation. Fully compliant with NTRO guidelines, Indian IT Act (Sections 43 &amp; 66), and responsible vulnerability disclosure standards.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ARGUS - SIH26163 Idea Submission</dc:title>
  <dc:subject>PptxGenJS Presentation</dc:subject>
  <dc:creator>PptxGenJS</dc:creator>
  <cp:lastModifiedBy>PptxGenJS</cp:lastModifiedBy>
  <cp:revision>1</cp:revision>
  <dcterms:created xsi:type="dcterms:W3CDTF">2026-09-28T21:06:06Z</dcterms:created>
  <dcterms:modified xsi:type="dcterms:W3CDTF">2026-09-28T21:06:06Z</dcterms:modified>
</cp:coreProperties>
</file>