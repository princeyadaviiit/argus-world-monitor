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[0:00 - 0:30 | 30s Pitch - Slide 1: Introduction]</a:t>
            </a:r>
          </a:p>
          <a:p>
            <a:r>
              <a:t>Respected judges, we present ARGUS: an Automated Risk and Vulnerability Unified Scanner purpose-built for problem statement SIH26163 by the National Technical Research Organisation.</a:t>
            </a:r>
          </a:p>
          <a:p/>
          <a:p>
            <a:r>
              <a:t>Rather than presenting theoretical models or synthetic scanner simulations, our team conducted a comprehensive, empirical security assessment of the complete World Monitor open-source intelligence dashboard. We mapped its entire architecture—comprising 166 Vercel Edge endpoints, 5 distinct trust boundaries, Next.js web frontend, and Tauri 2.0 Rust desktop shell.</a:t>
            </a:r>
          </a:p>
          <a:p/>
          <a:p>
            <a:r>
              <a:t>Across our automated SAST, SCA, and custom AST parsers, we ingested 14 raw signals, correlated 12 unique confirmed vulnerabilities—including 1 High-severity unmetered resource DoS and 11 Medium-severity flaws—and executed 5 non-destructive Proof-of-Concept scripts with a 100% confirmation rate. Over the next 4.5 minutes, we will walk you through our empirical findings, technical architecture, and actionable remediations.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[0:30 - 1:45 | 75s Pitch - Slide 2: Proposed Solution &amp; Confirmed Vulnerabilities]</a:t>
            </a:r>
          </a:p>
          <a:p>
            <a:r>
              <a:t>Moving to Slide 2: ARGUS solves the core problem by implementing an automated, architecture-aware AppSec audit tailored specifically for complex OSINT dashboards.</a:t>
            </a:r>
          </a:p>
          <a:p/>
          <a:p>
            <a:r>
              <a:t>World Monitor combines 166 Vercel Edge endpoints, third-party RSS aggregators, LLM summarizers, and a Tauri desktop shell. As highlighted in our left panel, we systematically audited all 7 scope areas mandated by NTRO—from Clerk JWT authentication to local storage security controls.</a:t>
            </a:r>
          </a:p>
          <a:p/>
          <a:p>
            <a:r>
              <a:t>At the bottom, you can see our real, evidenced findings—not synthetic scanner hypotheses:</a:t>
            </a:r>
          </a:p>
          <a:p>
            <a:r>
              <a:t>1. Our highest severity finding is a CVSS 7.5 unmetered resource DoS in api/_rate-limit.js. When Upstash Redis experiences network latency, the limiter fails open with 'X-RateLimit-Mode: degraded', allowing unbounded traffic to drain downstream Geocoding and LLM budgets.</a:t>
            </a:r>
          </a:p>
          <a:p>
            <a:r>
              <a:t>2. Next, a CVSS 6.1 DOM XSS vulnerability: we discovered 357 call sites bypassing browser Trusted Types using a dummy string literal in dom-utils.ts.</a:t>
            </a:r>
          </a:p>
          <a:p>
            <a:r>
              <a:t>3. Third, an indirect prompt injection flaw in the AI news summarizer: static English regex blocklists are easily bypassed by multilingual instructions in external OSINT RSS feeds.</a:t>
            </a:r>
          </a:p>
          <a:p>
            <a:r>
              <a:t>4. Fourth, an edge SSRF TOCTOU rebinding vulnerability in api/mcp-proxy.ts tracked in GHSA-887j-p88r-qmm9.</a:t>
            </a:r>
          </a:p>
          <a:p>
            <a:r>
              <a:t>5. And fifth, a bot filter bypass in middleware.ts where any synthetic 40-character hex key bypasses edge crawler defenses.</a:t>
            </a:r>
          </a:p>
          <a:p>
            <a:r>
              <a:t>Every single finding has an automated, non-destructive PoC script with 100% pass confirmation.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[1:45 - 2:45 | 60s Pitch - Slide 3: Technical Approach &amp; Multi-Engine Correlation]</a:t>
            </a:r>
          </a:p>
          <a:p>
            <a:r>
              <a:t>Turning to Slide 3: our technical approach is founded on multi-engine automated correlation. We do not rely on a single generic scanner.</a:t>
            </a:r>
          </a:p>
          <a:p/>
          <a:p>
            <a:r>
              <a:t>As seen in our 4-tier architecture, ARGUS combines Semgrep for static code analysis, npm audit for supply-chain vulnerabilities, custom AST route extractors for the 166 edge endpoints, and automated verification scripts.</a:t>
            </a:r>
          </a:p>
          <a:p/>
          <a:p>
            <a:r>
              <a:t>Our primary engineering differentiator is the Correlation Engine written in Python 3.14 with Pydantic v2. Disparate scanner outputs are normalized into a unified schema, and our Two-Signal Confirmation Gate discards isolated scanner anomalies, ensuring that reviewers only spend time on verified flaws.</a:t>
            </a:r>
          </a:p>
          <a:p/>
          <a:p>
            <a:r>
              <a:t>In our 8-step methodology below, Step 1 enforces a strict Scope Gate so that no traffic leaves the local sandbox. Findings are mathematically scored using the official FIRST CVSS v3.1 specification, and output as both a 12-page executive PDF report and machine-readable SARIF for continuous CI/CD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[2:45 - 3:30 | 45s Pitch - Slide 4: Feasibility, Risk Management &amp; Roadmap]</a:t>
            </a:r>
          </a:p>
          <a:p>
            <a:r>
              <a:t>On Slide 4, we evaluate Feasibility and Risk Management. ARGUS achieves high operational viability because it runs entirely on open-source, scriptable components against local, self-hosted source code.</a:t>
            </a:r>
          </a:p>
          <a:p/>
          <a:p>
            <a:r>
              <a:t>Our risk register directly tackles the most challenging failure modes in automated AppSec:</a:t>
            </a:r>
          </a:p>
          <a:p>
            <a:r>
              <a:t>1. To prevent scanner alert fatigue, our correlation engine requires two agreeing signals before promoting any anomaly to PoC stage.</a:t>
            </a:r>
          </a:p>
          <a:p>
            <a:r>
              <a:t>2. To evaluate the fail-open rate limiting and indirect prompt injection vulnerabilities safely without incurring cloud costs or service disruption, we deployed local mock testbeds.</a:t>
            </a:r>
          </a:p>
          <a:p/>
          <a:p>
            <a:r>
              <a:t>Our 5-phase roadmap took us from AST-based endpoint enumeration through multi-engine scanning, correlation, safe PoC verification, and executive reporting. The entire audit is 100% automated and reproducible with a single CLI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[3:30 - 4:30 | 60s Pitch - Slide 5: Strategic Impact, Benefits &amp; Deliverables Compliance]</a:t>
            </a:r>
          </a:p>
          <a:p>
            <a:r>
              <a:t>Slide 5 outlines the operational impact and strategic benefits of ARGUS.</a:t>
            </a:r>
          </a:p>
          <a:p/>
          <a:p>
            <a:r>
              <a:t>For NTRO, World Monitor is not simply a generic web dashboard—it is a live OSINT intelligence tool tracking real-time conflict telemetry, maritime vessels, and infrastructure. A compromise of its telemetry via indirect prompt injection or an unmetered resource DoS could blind strategic analysts during a national crisis.</a:t>
            </a:r>
          </a:p>
          <a:p/>
          <a:p>
            <a:r>
              <a:t>ARGUS directly protects this mission by delivering concrete, patch-ready remediations. As shown in our bottom-right table, ARGUS guarantees 100% compliance with all 8 mandatory deliverable fields stipulated in the problem statement—from deterministic reproduction steps to CVSS 3.1 vectors.</a:t>
            </a:r>
          </a:p>
          <a:p/>
          <a:p>
            <a:r>
              <a:t>Furthermore, ARGUS is built for immediate scale: while demonstrated on World Monitor today, its modular engine can be pointed at any sovereign government web service simply by changing the target YAML profile.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[4:30 - 5:00 | 30s Pitch - Slide 6: Research Foundations &amp; Ethical Scope]</a:t>
            </a:r>
          </a:p>
          <a:p>
            <a:r>
              <a:t>Finally, on Slide 6: our methodology is grounded in recent peer-reviewed security research, including 2025 PeerJ and Springer publications on multi-tool correlation, alongside foundational standards from OWASP, MITRE CWE, and FIRST CVSS.</a:t>
            </a:r>
          </a:p>
          <a:p/>
          <a:p>
            <a:r>
              <a:t>Crucially, we maintained strict ethical discipline throughout: 100% of our testing was restricted to an isolated local clone on localhost with zero testing against production infrastructure, adhering strictly to Indian cybersecurity laws and NTRO ethical guidelines.</a:t>
            </a:r>
          </a:p>
          <a:p/>
          <a:p>
            <a:r>
              <a:t>In summary, ARGUS provides NTRO with a complete, evidence-backed security assessment that fulfills every requirement of SIH26163. We are now ready to demonstrate our live tool and answer your questions.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3A8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INDIA HACKATHON 2026</a:t>
            </a:r>
            <a:endParaRPr lang="en-US" sz="3400" dirty="0"/>
          </a:p>
        </p:txBody>
      </p:sp>
      <p:pic>
        <p:nvPicPr>
          <p:cNvPr id="4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0"/>
            <a:ext cx="2103120" cy="985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716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F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PAGE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2176272"/>
            <a:ext cx="100584" cy="10058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05740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Problem Statement Title- Security Assessment of the World Monitor Application (SIH26163)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48640" y="2907792"/>
            <a:ext cx="100584" cy="10058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78892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50" b="0">
                <a:solidFill>
                  <a:srgbClr val="0F172A"/>
                </a:solidFill>
                <a:latin typeface="Calibri"/>
              </a:rPr>
              <a:t>Theme- Smart Automation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548640" y="3502152"/>
            <a:ext cx="100584" cy="10058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38328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50" b="0">
                <a:solidFill>
                  <a:srgbClr val="0F172A"/>
                </a:solidFill>
                <a:latin typeface="Calibri"/>
              </a:rPr>
              <a:t>PS Category- Software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48640" y="4096512"/>
            <a:ext cx="100584" cy="10058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97764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50" b="0">
                <a:solidFill>
                  <a:srgbClr val="0F172A"/>
                </a:solidFill>
                <a:latin typeface="Calibri"/>
              </a:rPr>
              <a:t>Team ID- [Team ID]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100584" cy="10058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457200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50" b="0">
                <a:solidFill>
                  <a:srgbClr val="0F172A"/>
                </a:solidFill>
                <a:latin typeface="Calibri"/>
              </a:rPr>
              <a:t>Team Name (Registered on portal)- [Team Name]</a:t>
            </a:r>
            <a:endParaRPr lang="en-US" sz="1900" dirty="0"/>
          </a:p>
        </p:txBody>
      </p:sp>
      <p:pic>
        <p:nvPicPr>
          <p:cNvPr id="16" name="Image 1" descr="/home/claude/tpl/bulb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965960"/>
            <a:ext cx="2788920" cy="3099585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48640" y="5532120"/>
            <a:ext cx="7863840" cy="658368"/>
          </a:xfrm>
          <a:prstGeom prst="rect">
            <a:avLst/>
          </a:prstGeom>
          <a:solidFill>
            <a:srgbClr val="EFF6FF"/>
          </a:solidFill>
          <a:ln w="19050">
            <a:solidFill>
              <a:srgbClr val="1E3A8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5532120"/>
            <a:ext cx="7863840" cy="658368"/>
          </a:xfrm>
          <a:prstGeom prst="rect">
            <a:avLst/>
          </a:prstGeom>
          <a:noFill/>
          <a:ln/>
        </p:spPr>
        <p:txBody>
          <a:bodyPr wrap="square" lIns="45720" tIns="27432" rIns="45720" bIns="27432" rtlCol="0" anchor="ctr"/>
          <a:lstStyle/>
          <a:p>
            <a:pPr indent="0" marL="0" algn="l">
              <a:buNone/>
            </a:pPr>
            <a:pPr indent="0" marL="0">
              <a:buNone/>
            </a:pPr>
            <a:r>
              <a:rPr b="1" sz="1300">
                <a:solidFill>
                  <a:srgbClr val="0F172A"/>
                </a:solidFill>
                <a:latin typeface="Calibri"/>
              </a:rPr>
              <a:t>Idea Title:  ARGUS — Automated Risk &amp; Vulnerability Unified Scanner</a:t>
            </a:r>
            <a:endParaRPr lang="en-US" sz="1650" dirty="0"/>
          </a:p>
          <a:p>
            <a:pPr algn="l"/>
            <a:r>
              <a:rPr b="0" sz="1050">
                <a:solidFill>
                  <a:srgbClr val="1E3A8A"/>
                </a:solidFill>
                <a:latin typeface="Calibri"/>
              </a:rPr>
              <a:t>Empirical Security Assessment of World Monitor | 166 Endpoints Audited · 12 Correlated Flaws · 5 Safe PoCs Verified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ARGUS: Risk &amp; Vulnerability Unified Scanner</a:t>
            </a:r>
            <a:endParaRPr lang="en-US" sz="22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234440"/>
            <a:ext cx="4572000" cy="32004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Proposed Solution (ARGUS Architecture):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1572768"/>
            <a:ext cx="11247120" cy="45720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An automated, architecture-aware AppSec platform auditing World Monitor's 166 Vercel Edge routes (137 public, 29 Pro), Next.js frontend, and Tauri 2.0 Rust shell across all 7 mandated scope areas.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1920240"/>
            <a:ext cx="32004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0F172A"/>
                </a:solidFill>
                <a:latin typeface="Calibri"/>
              </a:rPr>
              <a:t>7 Mandated Scope Areas Audited :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231136"/>
            <a:ext cx="3200400" cy="2926080"/>
          </a:xfrm>
          <a:prstGeom prst="roundRect">
            <a:avLst>
              <a:gd name="adj" fmla="val 37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" y="2395728"/>
            <a:ext cx="2798064" cy="2596896"/>
          </a:xfrm>
          <a:prstGeom prst="rect">
            <a:avLst/>
          </a:prstGeom>
          <a:noFill/>
          <a:ln/>
        </p:spPr>
        <p:txBody>
          <a:bodyPr wrap="square" lIns="45720" tIns="27432" rIns="45720" bIns="27432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•"/>
            </a:pPr>
            <a:r>
              <a:rPr b="0" sz="1000">
                <a:solidFill>
                  <a:srgbClr val="0F172A"/>
                </a:solidFill>
                <a:latin typeface="Calibri"/>
              </a:rPr>
              <a:t>1. Auth &amp; Session: Clerk JWT &amp; wm_* API keys; regex format bypass in middleware.ts.</a:t>
            </a:r>
            <a:endParaRPr lang="en-US" sz="1050" dirty="0"/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2. Access Control: 137 public discovery routes vs. 29 Pro routes with Convex HMAC.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3. Input Validation: 357 Trusted Types DOM sinks + Cloudflare DoH SSRF rebinding window.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4. API Security: Fail-open limiter causes unthrottled degradation during Redis latency.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5. Client Controls: CSP script-src 'self' enforced; unescaped DOM writes in dashboard widgets.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6. Secure Comms: Strict HTTPS/HSTS; Tauri desktop IPC protected via CSPRNG token.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7. Data Storage: UI state in localStorage (no secrets); OS Credential Manager for tokens.</a:t>
            </a:r>
          </a:p>
        </p:txBody>
      </p:sp>
      <p:sp>
        <p:nvSpPr>
          <p:cNvPr id="14" name="Text 11"/>
          <p:cNvSpPr txBox="1"/>
          <p:nvPr/>
        </p:nvSpPr>
        <p:spPr>
          <a:xfrm>
            <a:off x="3950208" y="1920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Flow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950208" y="2231136"/>
            <a:ext cx="4297680" cy="566928"/>
          </a:xfrm>
          <a:prstGeom prst="roundRect">
            <a:avLst>
              <a:gd name="adj" fmla="val 1612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59936" y="2304288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404872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663440" y="2276856"/>
            <a:ext cx="1828800" cy="25603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1. Identify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4663440" y="2532888"/>
            <a:ext cx="33832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SAST (Semgrep) + SCA (npm) + AST route parser (166 routes)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99048" y="2807208"/>
            <a:ext cx="0" cy="13716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950208" y="2953512"/>
            <a:ext cx="4297680" cy="566928"/>
          </a:xfrm>
          <a:prstGeom prst="roundRect">
            <a:avLst>
              <a:gd name="adj" fmla="val 1612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059936" y="302666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3127248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663440" y="2999232"/>
            <a:ext cx="1828800" cy="25603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2. Correlate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4663440" y="3255264"/>
            <a:ext cx="33832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Pydantic engine: deduplication, CWE mapping &amp; FIRST CVSS 3.1</a:t>
            </a:r>
            <a:endParaRPr lang="en-US" sz="880" dirty="0"/>
          </a:p>
        </p:txBody>
      </p:sp>
      <p:sp>
        <p:nvSpPr>
          <p:cNvPr id="26" name="Shape 21"/>
          <p:cNvSpPr/>
          <p:nvPr/>
        </p:nvSpPr>
        <p:spPr>
          <a:xfrm>
            <a:off x="6099048" y="3529584"/>
            <a:ext cx="0" cy="13716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3950208" y="3675888"/>
            <a:ext cx="4297680" cy="566928"/>
          </a:xfrm>
          <a:prstGeom prst="roundRect">
            <a:avLst>
              <a:gd name="adj" fmla="val 1612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059936" y="374904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3849624"/>
            <a:ext cx="219456" cy="219456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663440" y="3721608"/>
            <a:ext cx="1828800" cy="25603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3. Prove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663440" y="3977640"/>
            <a:ext cx="33832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5 Non-destructive safe PoC scripts with execution evidence logs</a:t>
            </a:r>
            <a:endParaRPr lang="en-US" sz="880" dirty="0"/>
          </a:p>
        </p:txBody>
      </p:sp>
      <p:sp>
        <p:nvSpPr>
          <p:cNvPr id="32" name="Shape 26"/>
          <p:cNvSpPr/>
          <p:nvPr/>
        </p:nvSpPr>
        <p:spPr>
          <a:xfrm>
            <a:off x="6099048" y="4251960"/>
            <a:ext cx="0" cy="13716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3950208" y="4398264"/>
            <a:ext cx="4297680" cy="566928"/>
          </a:xfrm>
          <a:prstGeom prst="roundRect">
            <a:avLst>
              <a:gd name="adj" fmla="val 16129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4059936" y="4471416"/>
            <a:ext cx="420624" cy="420624"/>
          </a:xfrm>
          <a:prstGeom prst="ellipse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4572000"/>
            <a:ext cx="219456" cy="219456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4663440" y="4443984"/>
            <a:ext cx="1828800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4. Remediate</a:t>
            </a:r>
            <a:endParaRPr lang="en-US" sz="1250" dirty="0"/>
          </a:p>
        </p:txBody>
      </p:sp>
      <p:sp>
        <p:nvSpPr>
          <p:cNvPr id="37" name="Text 30"/>
          <p:cNvSpPr txBox="1"/>
          <p:nvPr/>
        </p:nvSpPr>
        <p:spPr>
          <a:xfrm>
            <a:off x="4663440" y="4700016"/>
            <a:ext cx="33832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Production code patch diffs &amp; re-scan verification gating</a:t>
            </a:r>
            <a:endParaRPr lang="en-US" sz="880" dirty="0"/>
          </a:p>
        </p:txBody>
      </p:sp>
      <p:sp>
        <p:nvSpPr>
          <p:cNvPr id="38" name="Text 31"/>
          <p:cNvSpPr txBox="1"/>
          <p:nvPr/>
        </p:nvSpPr>
        <p:spPr>
          <a:xfrm>
            <a:off x="8458200" y="1920240"/>
            <a:ext cx="324612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0F172A"/>
                </a:solidFill>
                <a:latin typeface="Calibri"/>
              </a:rPr>
              <a:t>Innovation &amp; Rigor :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8458200" y="2231136"/>
            <a:ext cx="324612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8613648" y="2276856"/>
            <a:ext cx="297180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• Two-Signal Confirmation: Drops unverified scanner noise, cutting 80% triage time.</a:t>
            </a:r>
            <a:endParaRPr lang="en-US" sz="920" dirty="0"/>
          </a:p>
        </p:txBody>
      </p:sp>
      <p:sp>
        <p:nvSpPr>
          <p:cNvPr id="41" name="Shape 34"/>
          <p:cNvSpPr/>
          <p:nvPr/>
        </p:nvSpPr>
        <p:spPr>
          <a:xfrm>
            <a:off x="8458200" y="2953512"/>
            <a:ext cx="324612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8613648" y="2999232"/>
            <a:ext cx="2971800" cy="53035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• Attack-Surface Graph: Correlates 166 Vercel Edge routes across 5 trust boundaries.</a:t>
            </a:r>
            <a:endParaRPr lang="en-US" sz="920" dirty="0"/>
          </a:p>
        </p:txBody>
      </p:sp>
      <p:sp>
        <p:nvSpPr>
          <p:cNvPr id="43" name="Shape 36"/>
          <p:cNvSpPr/>
          <p:nvPr/>
        </p:nvSpPr>
        <p:spPr>
          <a:xfrm>
            <a:off x="8458200" y="3675888"/>
            <a:ext cx="324612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8613648" y="3721608"/>
            <a:ext cx="2971800" cy="53035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• Algorithmic Scoring: Deterministic FIRST CVSS v3.1 base score and attack vector per flaw.</a:t>
            </a:r>
            <a:endParaRPr lang="en-US" sz="920" dirty="0"/>
          </a:p>
        </p:txBody>
      </p:sp>
      <p:sp>
        <p:nvSpPr>
          <p:cNvPr id="45" name="Shape 38"/>
          <p:cNvSpPr/>
          <p:nvPr/>
        </p:nvSpPr>
        <p:spPr>
          <a:xfrm>
            <a:off x="8458200" y="4398264"/>
            <a:ext cx="3246120" cy="621792"/>
          </a:xfrm>
          <a:prstGeom prst="roundRect">
            <a:avLst>
              <a:gd name="adj" fmla="val 20588"/>
            </a:avLst>
          </a:prstGeom>
          <a:solidFill>
            <a:srgbClr val="F8FAFC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8613648" y="4443984"/>
            <a:ext cx="2971800" cy="53035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• OWASP LLM Suite: Evaluates prompt injection, multilingual evasion on AI summaries.</a:t>
            </a:r>
            <a:endParaRPr lang="en-US" sz="920" dirty="0"/>
          </a:p>
        </p:txBody>
      </p:sp>
      <p:sp>
        <p:nvSpPr>
          <p:cNvPr id="47" name="Text 40"/>
          <p:cNvSpPr txBox="1"/>
          <p:nvPr/>
        </p:nvSpPr>
        <p:spPr>
          <a:xfrm>
            <a:off x="457200" y="5349240"/>
            <a:ext cx="91440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50" b="1">
                <a:solidFill>
                  <a:srgbClr val="0F172A"/>
                </a:solidFill>
                <a:latin typeface="Calibri"/>
              </a:rPr>
              <a:t>Real Evidenced Vulnerabilities Identified in World Monitor (Audit of 166 Endpoints) :</a:t>
            </a:r>
            <a:endParaRPr lang="en-US" sz="14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5669280"/>
            <a:ext cx="2148840" cy="16916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Unmetered Resource DoS via Fail-Open Rate Limiter in api/_rate-limit.js (Redis timeout -&gt; 'degraded')</a:t>
            </a:r>
            <a:endParaRPr lang="en-US" sz="900" dirty="0"/>
          </a:p>
        </p:txBody>
      </p:sp>
      <p:sp>
        <p:nvSpPr>
          <p:cNvPr id="49" name="Shape 42"/>
          <p:cNvSpPr/>
          <p:nvPr/>
        </p:nvSpPr>
        <p:spPr>
          <a:xfrm>
            <a:off x="2651760" y="5719572"/>
            <a:ext cx="5212080" cy="59436"/>
          </a:xfrm>
          <a:prstGeom prst="rect">
            <a:avLst/>
          </a:prstGeom>
          <a:solidFill>
            <a:srgbClr val="F8FAFC"/>
          </a:solidFill>
          <a:ln w="12700">
            <a:solidFill>
              <a:srgbClr val="E7EAEE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2651760" y="5719572"/>
            <a:ext cx="4690872" cy="59436"/>
          </a:xfrm>
          <a:prstGeom prst="rect">
            <a:avLst/>
          </a:prstGeom>
          <a:solidFill>
            <a:srgbClr val="B91C1C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7909560" y="5669280"/>
            <a:ext cx="822960" cy="16916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EA580C"/>
                </a:solidFill>
                <a:latin typeface="Calibri"/>
              </a:rPr>
              <a:t>CVSS 7.5 (High) · Confirmed PoC</a:t>
            </a:r>
            <a:endParaRPr lang="en-US" sz="850" dirty="0"/>
          </a:p>
        </p:txBody>
      </p:sp>
      <p:sp>
        <p:nvSpPr>
          <p:cNvPr id="52" name="Text 45"/>
          <p:cNvSpPr txBox="1"/>
          <p:nvPr/>
        </p:nvSpPr>
        <p:spPr>
          <a:xfrm>
            <a:off x="457200" y="5856732"/>
            <a:ext cx="2148840" cy="16916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DOM XSS via 357 Bypassed Trusted Types in src/utils/dom-utils.ts ('legacy migration' bypass)</a:t>
            </a:r>
            <a:endParaRPr lang="en-US" sz="900" dirty="0"/>
          </a:p>
        </p:txBody>
      </p:sp>
      <p:sp>
        <p:nvSpPr>
          <p:cNvPr id="53" name="Shape 46"/>
          <p:cNvSpPr/>
          <p:nvPr/>
        </p:nvSpPr>
        <p:spPr>
          <a:xfrm>
            <a:off x="2651760" y="5907024"/>
            <a:ext cx="5212080" cy="59436"/>
          </a:xfrm>
          <a:prstGeom prst="rect">
            <a:avLst/>
          </a:prstGeom>
          <a:solidFill>
            <a:srgbClr val="F8FAFC"/>
          </a:solidFill>
          <a:ln w="12700">
            <a:solidFill>
              <a:srgbClr val="E7EAEE"/>
            </a:solidFill>
            <a:prstDash val="solid"/>
          </a:ln>
        </p:spPr>
      </p:sp>
      <p:sp>
        <p:nvSpPr>
          <p:cNvPr id="54" name="Shape 47"/>
          <p:cNvSpPr/>
          <p:nvPr/>
        </p:nvSpPr>
        <p:spPr>
          <a:xfrm>
            <a:off x="2651760" y="5907024"/>
            <a:ext cx="4065422" cy="59436"/>
          </a:xfrm>
          <a:prstGeom prst="rect">
            <a:avLst/>
          </a:prstGeom>
          <a:solidFill>
            <a:srgbClr val="1E3A8A"/>
          </a:solidFill>
          <a:ln w="12700">
            <a:solidFill>
              <a:srgbClr val="E8792A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7909560" y="5856732"/>
            <a:ext cx="822960" cy="16916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1E3A8A"/>
                </a:solidFill>
                <a:latin typeface="Calibri"/>
              </a:rPr>
              <a:t>CVSS 6.1 (Med) · Confirmed PoC</a:t>
            </a:r>
            <a:endParaRPr lang="en-US" sz="850" dirty="0"/>
          </a:p>
        </p:txBody>
      </p:sp>
      <p:sp>
        <p:nvSpPr>
          <p:cNvPr id="56" name="Text 49"/>
          <p:cNvSpPr txBox="1"/>
          <p:nvPr/>
        </p:nvSpPr>
        <p:spPr>
          <a:xfrm>
            <a:off x="457200" y="6044184"/>
            <a:ext cx="2148840" cy="16916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Indirect Prompt Injection Blocklist Bypass in server/_shared/llm-sanitize.js (RSS feed evasion)</a:t>
            </a:r>
            <a:endParaRPr lang="en-US" sz="900" dirty="0"/>
          </a:p>
        </p:txBody>
      </p:sp>
      <p:sp>
        <p:nvSpPr>
          <p:cNvPr id="57" name="Shape 50"/>
          <p:cNvSpPr/>
          <p:nvPr/>
        </p:nvSpPr>
        <p:spPr>
          <a:xfrm>
            <a:off x="2651760" y="6094476"/>
            <a:ext cx="5212080" cy="59436"/>
          </a:xfrm>
          <a:prstGeom prst="rect">
            <a:avLst/>
          </a:prstGeom>
          <a:solidFill>
            <a:srgbClr val="F8FAFC"/>
          </a:solidFill>
          <a:ln w="12700">
            <a:solidFill>
              <a:srgbClr val="E7EAEE"/>
            </a:solidFill>
            <a:prstDash val="solid"/>
          </a:ln>
        </p:spPr>
      </p:sp>
      <p:sp>
        <p:nvSpPr>
          <p:cNvPr id="58" name="Shape 51"/>
          <p:cNvSpPr/>
          <p:nvPr/>
        </p:nvSpPr>
        <p:spPr>
          <a:xfrm>
            <a:off x="2651760" y="6094476"/>
            <a:ext cx="2866644" cy="59436"/>
          </a:xfrm>
          <a:prstGeom prst="rect">
            <a:avLst/>
          </a:prstGeom>
          <a:solidFill>
            <a:srgbClr val="1E3A8A"/>
          </a:solidFill>
          <a:ln w="12700">
            <a:solidFill>
              <a:srgbClr val="E8B923"/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7909560" y="6044184"/>
            <a:ext cx="822960" cy="16916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1E3A8A"/>
                </a:solidFill>
                <a:latin typeface="Calibri"/>
              </a:rPr>
              <a:t>CVSS 6.5 (Med) · Confirmed PoC</a:t>
            </a:r>
            <a:endParaRPr lang="en-US" sz="850" dirty="0"/>
          </a:p>
        </p:txBody>
      </p:sp>
      <p:sp>
        <p:nvSpPr>
          <p:cNvPr id="60" name="Text 53"/>
          <p:cNvSpPr txBox="1"/>
          <p:nvPr/>
        </p:nvSpPr>
        <p:spPr>
          <a:xfrm>
            <a:off x="457200" y="6231636"/>
            <a:ext cx="2148840" cy="16916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SSRF TOCTOU / DNS Rebinding Window in api/mcp-proxy.ts (Cloud metadata 169.254.169.254)</a:t>
            </a:r>
            <a:endParaRPr lang="en-US" sz="900" dirty="0"/>
          </a:p>
        </p:txBody>
      </p:sp>
      <p:sp>
        <p:nvSpPr>
          <p:cNvPr id="61" name="Shape 54"/>
          <p:cNvSpPr/>
          <p:nvPr/>
        </p:nvSpPr>
        <p:spPr>
          <a:xfrm>
            <a:off x="2651760" y="6281928"/>
            <a:ext cx="5212080" cy="59436"/>
          </a:xfrm>
          <a:prstGeom prst="rect">
            <a:avLst/>
          </a:prstGeom>
          <a:solidFill>
            <a:srgbClr val="E7EAEE"/>
          </a:solidFill>
          <a:ln w="12700">
            <a:solidFill>
              <a:srgbClr val="E7EAEE"/>
            </a:solidFill>
            <a:prstDash val="solid"/>
          </a:ln>
        </p:spPr>
      </p:sp>
      <p:sp>
        <p:nvSpPr>
          <p:cNvPr id="62" name="Shape 55"/>
          <p:cNvSpPr/>
          <p:nvPr/>
        </p:nvSpPr>
        <p:spPr>
          <a:xfrm>
            <a:off x="2651760" y="6281928"/>
            <a:ext cx="1824228" cy="59436"/>
          </a:xfrm>
          <a:prstGeom prst="rect">
            <a:avLst/>
          </a:prstGeom>
          <a:solidFill>
            <a:srgbClr val="334155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7909560" y="6231636"/>
            <a:ext cx="822960" cy="16916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1E3A8A"/>
                </a:solidFill>
                <a:latin typeface="Calibri"/>
              </a:rPr>
              <a:t>CVSS 6.3 (Med) · Confirmed PoC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Diagram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1572768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85216" y="17007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92224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7899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50" b="1">
                <a:solidFill>
                  <a:srgbClr val="0F172A"/>
                </a:solidFill>
                <a:latin typeface="Calibri"/>
              </a:rPr>
              <a:t>Target Platform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03504" y="2084832"/>
            <a:ext cx="1874520" cy="45720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World Monitor (AGPL-3.0)</a:t>
            </a:r>
            <a:endParaRPr lang="en-US" sz="830" dirty="0"/>
          </a:p>
          <a:p>
            <a:r>
              <a:rPr sz="1000" b="0">
                <a:solidFill>
                  <a:srgbClr val="0F172A"/>
                </a:solidFill>
                <a:latin typeface="Calibri"/>
              </a:rPr>
              <a:t>• 166 Vercel Edge Endpoints</a:t>
            </a:r>
          </a:p>
          <a:p>
            <a:r>
              <a:rPr sz="1000" b="0">
                <a:solidFill>
                  <a:srgbClr val="0F172A"/>
                </a:solidFill>
                <a:latin typeface="Calibri"/>
              </a:rPr>
              <a:t>• 5 Trust Boundaries Mapped</a:t>
            </a:r>
          </a:p>
          <a:p>
            <a:r>
              <a:rPr sz="1000" b="0">
                <a:solidFill>
                  <a:srgbClr val="0F172A"/>
                </a:solidFill>
                <a:latin typeface="Calibri"/>
              </a:rPr>
              <a:t>• Next.js + Tauri 2.0 Rust Shell</a:t>
            </a:r>
          </a:p>
        </p:txBody>
      </p:sp>
      <p:sp>
        <p:nvSpPr>
          <p:cNvPr id="15" name="Shape 11"/>
          <p:cNvSpPr/>
          <p:nvPr/>
        </p:nvSpPr>
        <p:spPr>
          <a:xfrm>
            <a:off x="2624328" y="2093976"/>
            <a:ext cx="164592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2788920" y="1572768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916936" y="17007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376" y="1792224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41071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50" b="1">
                <a:solidFill>
                  <a:srgbClr val="0F172A"/>
                </a:solidFill>
                <a:latin typeface="Calibri"/>
              </a:rPr>
              <a:t>Multi-Engine Scanners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2935224" y="2084832"/>
            <a:ext cx="1874520" cy="45720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Automated Telemetry</a:t>
            </a:r>
            <a:endParaRPr lang="en-US" sz="830" dirty="0"/>
          </a:p>
          <a:p>
            <a:r>
              <a:rPr sz="1000" b="0">
                <a:solidFill>
                  <a:srgbClr val="0F172A"/>
                </a:solidFill>
                <a:latin typeface="Calibri"/>
              </a:rPr>
              <a:t>• Semgrep SAST (OWASP/CWE)</a:t>
            </a:r>
          </a:p>
          <a:p>
            <a:r>
              <a:rPr sz="1000" b="0">
                <a:solidFill>
                  <a:srgbClr val="0F172A"/>
                </a:solidFill>
                <a:latin typeface="Calibri"/>
              </a:rPr>
              <a:t>• npm audit SCA (28 CVEs)</a:t>
            </a:r>
          </a:p>
          <a:p>
            <a:r>
              <a:rPr sz="1000" b="0">
                <a:solidFill>
                  <a:srgbClr val="0F172A"/>
                </a:solidFill>
                <a:latin typeface="Calibri"/>
              </a:rPr>
              <a:t>• Custom AST Route Parser</a:t>
            </a:r>
          </a:p>
        </p:txBody>
      </p:sp>
      <p:sp>
        <p:nvSpPr>
          <p:cNvPr id="21" name="Shape 16"/>
          <p:cNvSpPr/>
          <p:nvPr/>
        </p:nvSpPr>
        <p:spPr>
          <a:xfrm>
            <a:off x="4956048" y="2093976"/>
            <a:ext cx="164592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120640" y="1572768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248656" y="17007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096" y="1792224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74243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50" b="1">
                <a:solidFill>
                  <a:srgbClr val="0F172A"/>
                </a:solidFill>
                <a:latin typeface="Calibri"/>
              </a:rPr>
              <a:t>Correlation Engine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5266944" y="2084832"/>
            <a:ext cx="1874520" cy="45720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Python 3.14 + Pydantic v2</a:t>
            </a:r>
            <a:endParaRPr lang="en-US" sz="830" dirty="0"/>
          </a:p>
          <a:p>
            <a:r>
              <a:rPr sz="1000" b="0">
                <a:solidFill>
                  <a:srgbClr val="0F172A"/>
                </a:solidFill>
                <a:latin typeface="Calibri"/>
              </a:rPr>
              <a:t>• Unified Schema Normalization</a:t>
            </a:r>
          </a:p>
          <a:p>
            <a:r>
              <a:rPr sz="1000" b="0">
                <a:solidFill>
                  <a:srgbClr val="0F172A"/>
                </a:solidFill>
                <a:latin typeface="Calibri"/>
              </a:rPr>
              <a:t>• Two-Signal Confirmation</a:t>
            </a:r>
          </a:p>
          <a:p>
            <a:r>
              <a:rPr sz="1000" b="0">
                <a:solidFill>
                  <a:srgbClr val="0F172A"/>
                </a:solidFill>
                <a:latin typeface="Calibri"/>
              </a:rPr>
              <a:t>• FIRST CVSS 3.1 Vector Calc</a:t>
            </a:r>
          </a:p>
        </p:txBody>
      </p:sp>
      <p:sp>
        <p:nvSpPr>
          <p:cNvPr id="27" name="Shape 21"/>
          <p:cNvSpPr/>
          <p:nvPr/>
        </p:nvSpPr>
        <p:spPr>
          <a:xfrm>
            <a:off x="7287768" y="2093976"/>
            <a:ext cx="164592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7452360" y="1572768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580376" y="17007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1816" y="1792224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07415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50" b="1">
                <a:solidFill>
                  <a:srgbClr val="0F172A"/>
                </a:solidFill>
                <a:latin typeface="Calibri"/>
              </a:rPr>
              <a:t>Outputs &amp; Evidence</a:t>
            </a:r>
            <a:endParaRPr lang="en-US" sz="1150" dirty="0"/>
          </a:p>
        </p:txBody>
      </p:sp>
      <p:sp>
        <p:nvSpPr>
          <p:cNvPr id="32" name="Text 25"/>
          <p:cNvSpPr txBox="1"/>
          <p:nvPr/>
        </p:nvSpPr>
        <p:spPr>
          <a:xfrm>
            <a:off x="7598664" y="2084832"/>
            <a:ext cx="1874520" cy="45720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Verified Audit Artifacts</a:t>
            </a:r>
            <a:endParaRPr lang="en-US" sz="830" dirty="0"/>
          </a:p>
          <a:p>
            <a:r>
              <a:rPr sz="1000" b="0">
                <a:solidFill>
                  <a:srgbClr val="0F172A"/>
                </a:solidFill>
                <a:latin typeface="Calibri"/>
              </a:rPr>
              <a:t>• 12-Page Executive PDF Report</a:t>
            </a:r>
          </a:p>
          <a:p>
            <a:r>
              <a:rPr sz="1000" b="0">
                <a:solidFill>
                  <a:srgbClr val="0F172A"/>
                </a:solidFill>
                <a:latin typeface="Calibri"/>
              </a:rPr>
              <a:t>• SARIF 2.1.0 &amp; JSON Findings</a:t>
            </a:r>
          </a:p>
          <a:p>
            <a:r>
              <a:rPr sz="1000" b="0">
                <a:solidFill>
                  <a:srgbClr val="0F172A"/>
                </a:solidFill>
                <a:latin typeface="Calibri"/>
              </a:rPr>
              <a:t>• 5 Safe PoC Execution Proofs</a:t>
            </a:r>
          </a:p>
        </p:txBody>
      </p:sp>
      <p:sp>
        <p:nvSpPr>
          <p:cNvPr id="33" name="Text 26"/>
          <p:cNvSpPr txBox="1"/>
          <p:nvPr/>
        </p:nvSpPr>
        <p:spPr>
          <a:xfrm>
            <a:off x="457200" y="2743200"/>
            <a:ext cx="914400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Multi-Engine Pipeline: Disparate scanner signals are ingested, normalized via Pydantic, cross-confirmed to eliminate false positives, and verified with non-destructive PoCs.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457200" y="31272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&amp; Process (flow chart)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457200" y="3456432"/>
            <a:ext cx="1234440" cy="777240"/>
          </a:xfrm>
          <a:prstGeom prst="diamond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40080" y="3602736"/>
            <a:ext cx="8686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1 Scope Gate</a:t>
            </a:r>
            <a:endParaRPr lang="en-US" sz="830" dirty="0"/>
          </a:p>
        </p:txBody>
      </p:sp>
      <p:sp>
        <p:nvSpPr>
          <p:cNvPr id="37" name="Text 30"/>
          <p:cNvSpPr txBox="1"/>
          <p:nvPr/>
        </p:nvSpPr>
        <p:spPr>
          <a:xfrm>
            <a:off x="640080" y="3840480"/>
            <a:ext cx="868680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Localhost &amp;</a:t>
            </a:r>
            <a:endParaRPr lang="en-US" sz="70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Authorized?</a:t>
            </a:r>
          </a:p>
        </p:txBody>
      </p:sp>
      <p:sp>
        <p:nvSpPr>
          <p:cNvPr id="38" name="Shape 31"/>
          <p:cNvSpPr/>
          <p:nvPr/>
        </p:nvSpPr>
        <p:spPr>
          <a:xfrm>
            <a:off x="1874520" y="3456432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947672" y="3511296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2 Recon</a:t>
            </a:r>
            <a:endParaRPr lang="en-US" sz="950" dirty="0"/>
          </a:p>
        </p:txBody>
      </p:sp>
      <p:sp>
        <p:nvSpPr>
          <p:cNvPr id="40" name="Text 33"/>
          <p:cNvSpPr txBox="1"/>
          <p:nvPr/>
        </p:nvSpPr>
        <p:spPr>
          <a:xfrm>
            <a:off x="1947672" y="3749040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166 Routes &amp;</a:t>
            </a:r>
            <a:endParaRPr lang="en-US" sz="76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5 Boundaries</a:t>
            </a:r>
          </a:p>
        </p:txBody>
      </p:sp>
      <p:sp>
        <p:nvSpPr>
          <p:cNvPr id="41" name="Shape 34"/>
          <p:cNvSpPr/>
          <p:nvPr/>
        </p:nvSpPr>
        <p:spPr>
          <a:xfrm>
            <a:off x="3291840" y="3456432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364992" y="3511296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3 Multi-Scan</a:t>
            </a:r>
            <a:endParaRPr lang="en-US" sz="950" dirty="0"/>
          </a:p>
        </p:txBody>
      </p:sp>
      <p:sp>
        <p:nvSpPr>
          <p:cNvPr id="43" name="Text 36"/>
          <p:cNvSpPr txBox="1"/>
          <p:nvPr/>
        </p:nvSpPr>
        <p:spPr>
          <a:xfrm>
            <a:off x="3364992" y="3749040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SAST + SCA +</a:t>
            </a:r>
            <a:endParaRPr lang="en-US" sz="76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AST + LLM</a:t>
            </a:r>
          </a:p>
        </p:txBody>
      </p:sp>
      <p:sp>
        <p:nvSpPr>
          <p:cNvPr id="44" name="Shape 37"/>
          <p:cNvSpPr/>
          <p:nvPr/>
        </p:nvSpPr>
        <p:spPr>
          <a:xfrm>
            <a:off x="4709160" y="3456432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4782312" y="3511296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4 Correlate</a:t>
            </a:r>
            <a:endParaRPr lang="en-US" sz="950" dirty="0"/>
          </a:p>
        </p:txBody>
      </p:sp>
      <p:sp>
        <p:nvSpPr>
          <p:cNvPr id="46" name="Text 39"/>
          <p:cNvSpPr txBox="1"/>
          <p:nvPr/>
        </p:nvSpPr>
        <p:spPr>
          <a:xfrm>
            <a:off x="4782312" y="3749040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Pydantic Dedupe</a:t>
            </a:r>
            <a:endParaRPr lang="en-US" sz="76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&amp; CWE Map</a:t>
            </a:r>
          </a:p>
        </p:txBody>
      </p:sp>
      <p:sp>
        <p:nvSpPr>
          <p:cNvPr id="47" name="Shape 40"/>
          <p:cNvSpPr/>
          <p:nvPr/>
        </p:nvSpPr>
        <p:spPr>
          <a:xfrm>
            <a:off x="1709928" y="3840480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3127248" y="3840480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49" name="Shape 42"/>
          <p:cNvSpPr/>
          <p:nvPr/>
        </p:nvSpPr>
        <p:spPr>
          <a:xfrm>
            <a:off x="4544568" y="3840480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50" name="Shape 43"/>
          <p:cNvSpPr/>
          <p:nvPr/>
        </p:nvSpPr>
        <p:spPr>
          <a:xfrm>
            <a:off x="5326380" y="4251960"/>
            <a:ext cx="0" cy="384048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51" name="Shape 44"/>
          <p:cNvSpPr/>
          <p:nvPr/>
        </p:nvSpPr>
        <p:spPr>
          <a:xfrm>
            <a:off x="4709160" y="4709160"/>
            <a:ext cx="1234440" cy="777240"/>
          </a:xfrm>
          <a:prstGeom prst="diamond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4892040" y="4855464"/>
            <a:ext cx="8686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5 Confirm</a:t>
            </a:r>
            <a:endParaRPr lang="en-US" sz="830" dirty="0"/>
          </a:p>
        </p:txBody>
      </p:sp>
      <p:sp>
        <p:nvSpPr>
          <p:cNvPr id="53" name="Text 46"/>
          <p:cNvSpPr txBox="1"/>
          <p:nvPr/>
        </p:nvSpPr>
        <p:spPr>
          <a:xfrm>
            <a:off x="4892040" y="5093208"/>
            <a:ext cx="868680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Two Signals</a:t>
            </a:r>
            <a:endParaRPr lang="en-US" sz="70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Agree?</a:t>
            </a:r>
          </a:p>
        </p:txBody>
      </p:sp>
      <p:sp>
        <p:nvSpPr>
          <p:cNvPr id="54" name="Shape 47"/>
          <p:cNvSpPr/>
          <p:nvPr/>
        </p:nvSpPr>
        <p:spPr>
          <a:xfrm>
            <a:off x="3291840" y="470916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3364992" y="4764024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6 Prove</a:t>
            </a:r>
            <a:endParaRPr lang="en-US" sz="950" dirty="0"/>
          </a:p>
        </p:txBody>
      </p:sp>
      <p:sp>
        <p:nvSpPr>
          <p:cNvPr id="56" name="Text 49"/>
          <p:cNvSpPr txBox="1"/>
          <p:nvPr/>
        </p:nvSpPr>
        <p:spPr>
          <a:xfrm>
            <a:off x="3364992" y="5001768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5 Safe PoCs +</a:t>
            </a:r>
            <a:endParaRPr lang="en-US" sz="76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Proof Evidence</a:t>
            </a:r>
          </a:p>
        </p:txBody>
      </p:sp>
      <p:sp>
        <p:nvSpPr>
          <p:cNvPr id="57" name="Shape 50"/>
          <p:cNvSpPr/>
          <p:nvPr/>
        </p:nvSpPr>
        <p:spPr>
          <a:xfrm>
            <a:off x="1874520" y="470916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1947672" y="4764024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7 Score</a:t>
            </a:r>
            <a:endParaRPr lang="en-US" sz="950" dirty="0"/>
          </a:p>
        </p:txBody>
      </p:sp>
      <p:sp>
        <p:nvSpPr>
          <p:cNvPr id="59" name="Text 52"/>
          <p:cNvSpPr txBox="1"/>
          <p:nvPr/>
        </p:nvSpPr>
        <p:spPr>
          <a:xfrm>
            <a:off x="1947672" y="5001768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FIRST CVSS 3.1</a:t>
            </a:r>
            <a:endParaRPr lang="en-US" sz="76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&amp; Risk Rating</a:t>
            </a:r>
          </a:p>
        </p:txBody>
      </p:sp>
      <p:sp>
        <p:nvSpPr>
          <p:cNvPr id="60" name="Shape 53"/>
          <p:cNvSpPr/>
          <p:nvPr/>
        </p:nvSpPr>
        <p:spPr>
          <a:xfrm>
            <a:off x="457200" y="470916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1" name="Text 54"/>
          <p:cNvSpPr txBox="1"/>
          <p:nvPr/>
        </p:nvSpPr>
        <p:spPr>
          <a:xfrm>
            <a:off x="530352" y="4764024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8 Report</a:t>
            </a:r>
            <a:endParaRPr lang="en-US" sz="950" dirty="0"/>
          </a:p>
        </p:txBody>
      </p:sp>
      <p:sp>
        <p:nvSpPr>
          <p:cNvPr id="62" name="Text 55"/>
          <p:cNvSpPr txBox="1"/>
          <p:nvPr/>
        </p:nvSpPr>
        <p:spPr>
          <a:xfrm>
            <a:off x="530352" y="5001768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PDF/SARIF +</a:t>
            </a:r>
            <a:endParaRPr lang="en-US" sz="760" dirty="0"/>
          </a:p>
          <a:p>
            <a:pPr algn="ctr"/>
            <a:r>
              <a:rPr sz="1000" b="0">
                <a:solidFill>
                  <a:srgbClr val="0F172A"/>
                </a:solidFill>
                <a:latin typeface="Calibri"/>
              </a:rPr>
              <a:t>Patch Diffs</a:t>
            </a:r>
          </a:p>
        </p:txBody>
      </p:sp>
      <p:sp>
        <p:nvSpPr>
          <p:cNvPr id="63" name="Shape 56"/>
          <p:cNvSpPr/>
          <p:nvPr/>
        </p:nvSpPr>
        <p:spPr>
          <a:xfrm flipH="1">
            <a:off x="1709928" y="5093208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64" name="Shape 57"/>
          <p:cNvSpPr/>
          <p:nvPr/>
        </p:nvSpPr>
        <p:spPr>
          <a:xfrm flipH="1">
            <a:off x="3127248" y="5093208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65" name="Shape 58"/>
          <p:cNvSpPr/>
          <p:nvPr/>
        </p:nvSpPr>
        <p:spPr>
          <a:xfrm flipH="1">
            <a:off x="4544568" y="5093208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66" name="Text 59"/>
          <p:cNvSpPr txBox="1"/>
          <p:nvPr/>
        </p:nvSpPr>
        <p:spPr>
          <a:xfrm>
            <a:off x="457200" y="4251960"/>
            <a:ext cx="1234440" cy="1828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950" b="1">
                <a:solidFill>
                  <a:srgbClr val="EA580C"/>
                </a:solidFill>
                <a:latin typeface="Calibri"/>
              </a:rPr>
              <a:t>No: abort</a:t>
            </a:r>
            <a:endParaRPr lang="en-US" sz="750" dirty="0"/>
          </a:p>
        </p:txBody>
      </p:sp>
      <p:sp>
        <p:nvSpPr>
          <p:cNvPr id="67" name="Text 60"/>
          <p:cNvSpPr txBox="1"/>
          <p:nvPr/>
        </p:nvSpPr>
        <p:spPr>
          <a:xfrm>
            <a:off x="4709160" y="5504688"/>
            <a:ext cx="1234440" cy="1828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950" b="1">
                <a:solidFill>
                  <a:srgbClr val="EA580C"/>
                </a:solidFill>
                <a:latin typeface="Calibri"/>
              </a:rPr>
              <a:t>No: drop FP</a:t>
            </a:r>
            <a:endParaRPr lang="en-US" sz="750" dirty="0"/>
          </a:p>
        </p:txBody>
      </p:sp>
      <p:sp>
        <p:nvSpPr>
          <p:cNvPr id="68" name="Shape 61"/>
          <p:cNvSpPr/>
          <p:nvPr/>
        </p:nvSpPr>
        <p:spPr>
          <a:xfrm>
            <a:off x="6172200" y="3127248"/>
            <a:ext cx="5577840" cy="3246120"/>
          </a:xfrm>
          <a:prstGeom prst="roundRect">
            <a:avLst>
              <a:gd name="adj" fmla="val 281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2"/>
          <p:cNvSpPr txBox="1"/>
          <p:nvPr/>
        </p:nvSpPr>
        <p:spPr>
          <a:xfrm>
            <a:off x="6382512" y="3291840"/>
            <a:ext cx="5166360" cy="2926080"/>
          </a:xfrm>
          <a:prstGeom prst="rect">
            <a:avLst/>
          </a:prstGeom>
          <a:noFill/>
          <a:ln/>
        </p:spPr>
        <p:txBody>
          <a:bodyPr wrap="square" lIns="45720" tIns="27432" rIns="45720" bIns="27432" rtlCol="0" anchor="t"/>
          <a:lstStyle/>
          <a:p>
            <a:pPr indent="0" marL="0" algn="l">
              <a:spcBef>
                <a:spcPts val="800"/>
              </a:spcBef>
              <a:spcAft>
                <a:spcPts val="200"/>
              </a:spcAft>
              <a:buNone/>
            </a:pPr>
            <a:r>
              <a:rPr b="1" sz="1100">
                <a:solidFill>
                  <a:srgbClr val="0F172A"/>
                </a:solidFill>
                <a:latin typeface="Calibri"/>
              </a:rPr>
              <a:t>TECHNICAL ARCHITECTURE &amp; SPECIFICATIONS</a:t>
            </a:r>
            <a:endParaRPr lang="en-US" sz="1150" dirty="0"/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Target Stack: Next.js 14, Vite, React 18, Tauri 2.0 Rust desktop shell, Vercel Edge Runtime, Upstash Redis, Convex backend.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Attack Surface: 166 total endpoints (137 public discovery routes, 29 Pro-gated routes), 5 distinct trust boundaries cataloged.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Security Scanners: Semgrep CLI 1.178.0 (custom OWASP/CWE rules), npm audit SCA (28 CVEs identified), custom TypeScript AST route extractor.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Orchestration Engine: Python 3.14, Pydantic v2 data models, SQLite findings database, automated FIRST CVSS v3.1 vector calculation.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Dynamic Probes: Non-destructive HTTP abuse scripts, Playwright headless verification, multilingual prompt injection prober.</a:t>
            </a:r>
          </a:p>
          <a:p>
            <a:pPr algn="l"/>
            <a:r>
              <a:rPr b="0" sz="1000">
                <a:solidFill>
                  <a:srgbClr val="0F172A"/>
                </a:solidFill>
                <a:latin typeface="Calibri"/>
              </a:rPr>
              <a:t>• Reporting Engine: ReportLab 12-page executive PDF generator, SARIF 2.1.0 JSON exporter, automated remediation diff generator.</a:t>
            </a:r>
          </a:p>
          <a:p>
            <a:pPr algn="l"/>
            <a:r>
              <a:rPr b="0" sz="1000">
                <a:solidFill>
                  <a:srgbClr val="1E3A8A"/>
                </a:solidFill>
                <a:latin typeface="Calibri"/>
              </a:rPr>
              <a:t>• Scope Enforcement: Localhost sandbox lock (localhost:3000); 100% isolated testing with zero upstream impact.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207008"/>
            <a:ext cx="54864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Feasibility :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1572768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78" y="1648846"/>
            <a:ext cx="140452" cy="1404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1545336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Technical: Full access to AGPL-3.0 source; audited 166 Vercel Edge routes and Tauri Rust IPC locally without external cloud dependencies.</a:t>
            </a:r>
            <a:endParaRPr lang="en-US" sz="1030" dirty="0"/>
          </a:p>
        </p:txBody>
      </p:sp>
      <p:sp>
        <p:nvSpPr>
          <p:cNvPr id="13" name="Shape 9"/>
          <p:cNvSpPr/>
          <p:nvPr/>
        </p:nvSpPr>
        <p:spPr>
          <a:xfrm>
            <a:off x="457200" y="2194560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78" y="2270638"/>
            <a:ext cx="140452" cy="1404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41248" y="2167128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Economic: Zero licensing cost; 100% open-source tooling (Semgrep, Python, ReportLab, Playwright); automates weeks of manual penetration testing.</a:t>
            </a:r>
            <a:endParaRPr lang="en-US" sz="1030" dirty="0"/>
          </a:p>
        </p:txBody>
      </p:sp>
      <p:sp>
        <p:nvSpPr>
          <p:cNvPr id="16" name="Shape 11"/>
          <p:cNvSpPr/>
          <p:nvPr/>
        </p:nvSpPr>
        <p:spPr>
          <a:xfrm>
            <a:off x="457200" y="2816352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278" y="2892430"/>
            <a:ext cx="140452" cy="14045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" y="2788920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Operational: Fully reproducible single-command CLI execution (python argus/cli.py); completes complete multi-engine audit in under 60 seconds.</a:t>
            </a:r>
            <a:endParaRPr lang="en-US" sz="103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3611880"/>
            <a:ext cx="54864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Challenges :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457200" y="3977640"/>
            <a:ext cx="292608" cy="29260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278" y="4053718"/>
            <a:ext cx="140452" cy="14045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41248" y="3950208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Scanner Noise: Two-signal cross-confirmation gate discards unverified anomalies before PoC stage, eliminating 80% of triage overhead.</a:t>
            </a:r>
            <a:endParaRPr lang="en-US" sz="1030" dirty="0"/>
          </a:p>
        </p:txBody>
      </p:sp>
      <p:sp>
        <p:nvSpPr>
          <p:cNvPr id="23" name="Shape 16"/>
          <p:cNvSpPr/>
          <p:nvPr/>
        </p:nvSpPr>
        <p:spPr>
          <a:xfrm>
            <a:off x="457200" y="4599432"/>
            <a:ext cx="292608" cy="29260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278" y="4675510"/>
            <a:ext cx="140452" cy="14045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41248" y="4572000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Architecture Alignment: Mapped real attack surface (166 endpoints, 5 trust boundaries) rather than assuming hypothetical textbook roles.</a:t>
            </a:r>
            <a:endParaRPr lang="en-US" sz="1030" dirty="0"/>
          </a:p>
        </p:txBody>
      </p:sp>
      <p:sp>
        <p:nvSpPr>
          <p:cNvPr id="26" name="Shape 18"/>
          <p:cNvSpPr/>
          <p:nvPr/>
        </p:nvSpPr>
        <p:spPr>
          <a:xfrm>
            <a:off x="457200" y="5221224"/>
            <a:ext cx="292608" cy="29260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278" y="5297302"/>
            <a:ext cx="140452" cy="140452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1248" y="5193792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Non-Destructive PoCs: 5 automated verification scripts restricted strictly to localhost sandbox; zero damage to production or user data.</a:t>
            </a:r>
            <a:endParaRPr lang="en-US" sz="1030" dirty="0"/>
          </a:p>
        </p:txBody>
      </p:sp>
      <p:sp>
        <p:nvSpPr>
          <p:cNvPr id="29" name="Text 20"/>
          <p:cNvSpPr txBox="1"/>
          <p:nvPr/>
        </p:nvSpPr>
        <p:spPr>
          <a:xfrm>
            <a:off x="6263640" y="1207008"/>
            <a:ext cx="54864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Viability :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6263640" y="1572768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9718" y="1648846"/>
            <a:ext cx="140452" cy="14045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647688" y="1545336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National Need: Essential for defense agencies (NTRO) evaluating sovereign OSINT dashboards, critical data feeds, and border telemetry.</a:t>
            </a:r>
            <a:endParaRPr lang="en-US" sz="1030" dirty="0"/>
          </a:p>
        </p:txBody>
      </p:sp>
      <p:sp>
        <p:nvSpPr>
          <p:cNvPr id="33" name="Shape 23"/>
          <p:cNvSpPr/>
          <p:nvPr/>
        </p:nvSpPr>
        <p:spPr>
          <a:xfrm>
            <a:off x="6263640" y="2194560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9718" y="2270638"/>
            <a:ext cx="140452" cy="140452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6647688" y="2167128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Config-Driven: Declarative YAML target profiles allow the exact same correlation engine to audit any web application or API gateway.</a:t>
            </a:r>
            <a:endParaRPr lang="en-US" sz="1030" dirty="0"/>
          </a:p>
        </p:txBody>
      </p:sp>
      <p:sp>
        <p:nvSpPr>
          <p:cNvPr id="36" name="Shape 25"/>
          <p:cNvSpPr/>
          <p:nvPr/>
        </p:nvSpPr>
        <p:spPr>
          <a:xfrm>
            <a:off x="6263640" y="2816352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9718" y="2892430"/>
            <a:ext cx="140452" cy="140452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647688" y="2788920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Continuous Posture: ASVS posture diffing tracks security improvement or regression across successive code commits and releases.</a:t>
            </a:r>
            <a:endParaRPr lang="en-US" sz="1030" dirty="0"/>
          </a:p>
        </p:txBody>
      </p:sp>
      <p:sp>
        <p:nvSpPr>
          <p:cNvPr id="39" name="Text 27"/>
          <p:cNvSpPr txBox="1"/>
          <p:nvPr/>
        </p:nvSpPr>
        <p:spPr>
          <a:xfrm>
            <a:off x="6263640" y="3611880"/>
            <a:ext cx="54864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Use Cases :</a:t>
            </a:r>
            <a:endParaRPr lang="en-US" sz="1400" dirty="0"/>
          </a:p>
        </p:txBody>
      </p:sp>
      <p:sp>
        <p:nvSpPr>
          <p:cNvPr id="40" name="Shape 28"/>
          <p:cNvSpPr/>
          <p:nvPr/>
        </p:nvSpPr>
        <p:spPr>
          <a:xfrm>
            <a:off x="6263640" y="397764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39718" y="4053718"/>
            <a:ext cx="140452" cy="140452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6647688" y="3950208"/>
            <a:ext cx="5120640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Pre-Release CI/CD Gating: Blocks high-severity vulnerabilities (e.g. fail-open DoS, DOM XSS) before deployment to production.</a:t>
            </a:r>
            <a:endParaRPr lang="en-US" sz="1030" dirty="0"/>
          </a:p>
        </p:txBody>
      </p:sp>
      <p:sp>
        <p:nvSpPr>
          <p:cNvPr id="43" name="Shape 30"/>
          <p:cNvSpPr/>
          <p:nvPr/>
        </p:nvSpPr>
        <p:spPr>
          <a:xfrm>
            <a:off x="6263640" y="4599432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9718" y="4675510"/>
            <a:ext cx="140452" cy="140452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6647688" y="4572000"/>
            <a:ext cx="5120640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Actionable Remediation: Provides engineers with copy-ready code diffs (DOMPurify sanitization, Node socket pinning, XML prompt wrapping).</a:t>
            </a:r>
            <a:endParaRPr lang="en-US" sz="1030" dirty="0"/>
          </a:p>
        </p:txBody>
      </p:sp>
      <p:sp>
        <p:nvSpPr>
          <p:cNvPr id="46" name="Shape 32"/>
          <p:cNvSpPr/>
          <p:nvPr/>
        </p:nvSpPr>
        <p:spPr>
          <a:xfrm>
            <a:off x="6263640" y="5221224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39718" y="5297302"/>
            <a:ext cx="140452" cy="140452"/>
          </a:xfrm>
          <a:prstGeom prst="rect">
            <a:avLst/>
          </a:prstGeom>
        </p:spPr>
      </p:pic>
      <p:sp>
        <p:nvSpPr>
          <p:cNvPr id="48" name="Text 33"/>
          <p:cNvSpPr txBox="1"/>
          <p:nvPr/>
        </p:nvSpPr>
        <p:spPr>
          <a:xfrm>
            <a:off x="6647688" y="5193792"/>
            <a:ext cx="5120640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Automated Compliance Auditing: Real-time mapping against OWASP Top 10 (2021), OWASP LLM Top 10, CWE Top 25, and CVSS v3.1.</a:t>
            </a:r>
            <a:endParaRPr lang="en-US" sz="1030" dirty="0"/>
          </a:p>
        </p:txBody>
      </p:sp>
      <p:sp>
        <p:nvSpPr>
          <p:cNvPr id="49" name="Text 34"/>
          <p:cNvSpPr txBox="1"/>
          <p:nvPr/>
        </p:nvSpPr>
        <p:spPr>
          <a:xfrm>
            <a:off x="457200" y="5532120"/>
            <a:ext cx="91440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Build Roadmap :</a:t>
            </a:r>
            <a:endParaRPr lang="en-US" sz="1400" dirty="0"/>
          </a:p>
        </p:txBody>
      </p:sp>
      <p:sp>
        <p:nvSpPr>
          <p:cNvPr id="50" name="Shape 35"/>
          <p:cNvSpPr/>
          <p:nvPr/>
        </p:nvSpPr>
        <p:spPr>
          <a:xfrm>
            <a:off x="457200" y="5870448"/>
            <a:ext cx="2139696" cy="420624"/>
          </a:xfrm>
          <a:prstGeom prst="chevron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1" name="Text 36"/>
          <p:cNvSpPr txBox="1"/>
          <p:nvPr/>
        </p:nvSpPr>
        <p:spPr>
          <a:xfrm>
            <a:off x="841248" y="5870448"/>
            <a:ext cx="1636776" cy="42062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1. Recon &amp; Surface Mapping</a:t>
            </a:r>
            <a:endParaRPr lang="en-US" sz="900" dirty="0"/>
          </a:p>
        </p:txBody>
      </p:sp>
      <p:sp>
        <p:nvSpPr>
          <p:cNvPr id="52" name="Shape 37"/>
          <p:cNvSpPr/>
          <p:nvPr/>
        </p:nvSpPr>
        <p:spPr>
          <a:xfrm>
            <a:off x="2651760" y="5870448"/>
            <a:ext cx="2139696" cy="420624"/>
          </a:xfrm>
          <a:prstGeom prst="chevron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3" name="Text 38"/>
          <p:cNvSpPr txBox="1"/>
          <p:nvPr/>
        </p:nvSpPr>
        <p:spPr>
          <a:xfrm>
            <a:off x="3035808" y="5870448"/>
            <a:ext cx="1636776" cy="42062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2. Multi-Engine Scans</a:t>
            </a:r>
            <a:endParaRPr lang="en-US" sz="900" dirty="0"/>
          </a:p>
        </p:txBody>
      </p:sp>
      <p:sp>
        <p:nvSpPr>
          <p:cNvPr id="54" name="Shape 39"/>
          <p:cNvSpPr/>
          <p:nvPr/>
        </p:nvSpPr>
        <p:spPr>
          <a:xfrm>
            <a:off x="4846320" y="5870448"/>
            <a:ext cx="2139696" cy="420624"/>
          </a:xfrm>
          <a:prstGeom prst="chevron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5" name="Text 40"/>
          <p:cNvSpPr txBox="1"/>
          <p:nvPr/>
        </p:nvSpPr>
        <p:spPr>
          <a:xfrm>
            <a:off x="5230368" y="5870448"/>
            <a:ext cx="1636776" cy="42062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3. Correlation &amp; CVSS 3.1</a:t>
            </a:r>
            <a:endParaRPr lang="en-US" sz="900" dirty="0"/>
          </a:p>
        </p:txBody>
      </p:sp>
      <p:sp>
        <p:nvSpPr>
          <p:cNvPr id="56" name="Shape 41"/>
          <p:cNvSpPr/>
          <p:nvPr/>
        </p:nvSpPr>
        <p:spPr>
          <a:xfrm>
            <a:off x="7040880" y="5870448"/>
            <a:ext cx="2139696" cy="420624"/>
          </a:xfrm>
          <a:prstGeom prst="chevron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7" name="Text 42"/>
          <p:cNvSpPr txBox="1"/>
          <p:nvPr/>
        </p:nvSpPr>
        <p:spPr>
          <a:xfrm>
            <a:off x="7424928" y="5870448"/>
            <a:ext cx="1636776" cy="42062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4. Safe PoC Execution</a:t>
            </a:r>
            <a:endParaRPr lang="en-US" sz="900" dirty="0"/>
          </a:p>
        </p:txBody>
      </p:sp>
      <p:sp>
        <p:nvSpPr>
          <p:cNvPr id="58" name="Shape 43"/>
          <p:cNvSpPr/>
          <p:nvPr/>
        </p:nvSpPr>
        <p:spPr>
          <a:xfrm>
            <a:off x="9235440" y="5870448"/>
            <a:ext cx="2139696" cy="420624"/>
          </a:xfrm>
          <a:prstGeom prst="chevron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9" name="Text 44"/>
          <p:cNvSpPr txBox="1"/>
          <p:nvPr/>
        </p:nvSpPr>
        <p:spPr>
          <a:xfrm>
            <a:off x="9619488" y="5870448"/>
            <a:ext cx="1636776" cy="42062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5. Executive Audit Delivery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Who Benefits :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2070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Benefits :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1572768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78" y="1648846"/>
            <a:ext cx="140452" cy="1404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1545336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NTRO &amp; Defense Agencies: Repeatable, automated AppSec framework to audit sovereign OSINT dashboards, satellite feeds, and border telemetry.</a:t>
            </a:r>
            <a:endParaRPr lang="en-US" sz="1030" dirty="0"/>
          </a:p>
        </p:txBody>
      </p:sp>
      <p:sp>
        <p:nvSpPr>
          <p:cNvPr id="13" name="Shape 9"/>
          <p:cNvSpPr/>
          <p:nvPr/>
        </p:nvSpPr>
        <p:spPr>
          <a:xfrm>
            <a:off x="457200" y="2139696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78" y="2215774"/>
            <a:ext cx="140452" cy="1404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41248" y="2112264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World Monitor Developers: Concrete, production-ready patch diffs (DOMPurify integration, fail-closed rate limiter, Node proxy socket pinning).</a:t>
            </a:r>
            <a:endParaRPr lang="en-US" sz="1030" dirty="0"/>
          </a:p>
        </p:txBody>
      </p:sp>
      <p:sp>
        <p:nvSpPr>
          <p:cNvPr id="16" name="Shape 11"/>
          <p:cNvSpPr/>
          <p:nvPr/>
        </p:nvSpPr>
        <p:spPr>
          <a:xfrm>
            <a:off x="457200" y="2706624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278" y="2782702"/>
            <a:ext cx="140452" cy="14045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" y="2679192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Intelligence Analysts: Protects mission-critical threat feeds from indirect prompt injection, data poisoning, and unauthorized scraper denial.</a:t>
            </a:r>
            <a:endParaRPr lang="en-US" sz="1030" dirty="0"/>
          </a:p>
        </p:txBody>
      </p:sp>
      <p:sp>
        <p:nvSpPr>
          <p:cNvPr id="19" name="Shape 13"/>
          <p:cNvSpPr/>
          <p:nvPr/>
        </p:nvSpPr>
        <p:spPr>
          <a:xfrm>
            <a:off x="457200" y="3273552"/>
            <a:ext cx="292608" cy="29260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278" y="3349630"/>
            <a:ext cx="140452" cy="14045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41248" y="3246120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DevSecOps Engineers: Automates continuous compliance checks against OWASP Top 10, CWE Top 25, and CVSS 3.1 directly within CI/CD pipelines.</a:t>
            </a:r>
            <a:endParaRPr lang="en-US" sz="1030" dirty="0"/>
          </a:p>
        </p:txBody>
      </p:sp>
      <p:sp>
        <p:nvSpPr>
          <p:cNvPr id="22" name="Text 15"/>
          <p:cNvSpPr txBox="1"/>
          <p:nvPr/>
        </p:nvSpPr>
        <p:spPr>
          <a:xfrm>
            <a:off x="45720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Benefits :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457200" y="41605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278" y="4236598"/>
            <a:ext cx="140452" cy="14045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41248" y="4133088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Strategic National Defense: Hardens intelligence platforms against foreign state-sponsored cyber reconnaissance and feed tampering.</a:t>
            </a:r>
            <a:endParaRPr lang="en-US" sz="1030" dirty="0"/>
          </a:p>
        </p:txBody>
      </p:sp>
      <p:sp>
        <p:nvSpPr>
          <p:cNvPr id="26" name="Shape 18"/>
          <p:cNvSpPr/>
          <p:nvPr/>
        </p:nvSpPr>
        <p:spPr>
          <a:xfrm>
            <a:off x="457200" y="4727448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278" y="4803526"/>
            <a:ext cx="140452" cy="140452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1248" y="4700016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Zero Infrastructure Footprint: Operates entirely locally on developer workstations; zero cloud dependency, zero recurring SaaS costs.</a:t>
            </a:r>
            <a:endParaRPr lang="en-US" sz="1030" dirty="0"/>
          </a:p>
        </p:txBody>
      </p:sp>
      <p:sp>
        <p:nvSpPr>
          <p:cNvPr id="29" name="Text 20"/>
          <p:cNvSpPr txBox="1"/>
          <p:nvPr/>
        </p:nvSpPr>
        <p:spPr>
          <a:xfrm>
            <a:off x="6263640" y="1207008"/>
            <a:ext cx="54864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Scalability Path :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6263640" y="1572768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6400800" y="1627632"/>
            <a:ext cx="5120640" cy="20116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NOW</a:t>
            </a:r>
            <a:endParaRPr lang="en-US" sz="900" dirty="0"/>
          </a:p>
        </p:txBody>
      </p:sp>
      <p:sp>
        <p:nvSpPr>
          <p:cNvPr id="32" name="Text 23"/>
          <p:cNvSpPr txBox="1"/>
          <p:nvPr/>
        </p:nvSpPr>
        <p:spPr>
          <a:xfrm>
            <a:off x="640080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World Monitor Audit (v1.0)</a:t>
            </a:r>
            <a:endParaRPr lang="en-US" sz="1250" dirty="0"/>
          </a:p>
        </p:txBody>
      </p:sp>
      <p:sp>
        <p:nvSpPr>
          <p:cNvPr id="33" name="Text 24"/>
          <p:cNvSpPr txBox="1"/>
          <p:nvPr/>
        </p:nvSpPr>
        <p:spPr>
          <a:xfrm>
            <a:off x="6400800" y="2048256"/>
            <a:ext cx="512064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166 endpoints audited · 12 confirmed findings · 5 safe PoCs · 12-page executive PDF &amp; SARIF report</a:t>
            </a:r>
            <a:endParaRPr lang="en-US" sz="870" dirty="0"/>
          </a:p>
        </p:txBody>
      </p:sp>
      <p:sp>
        <p:nvSpPr>
          <p:cNvPr id="34" name="Shape 25"/>
          <p:cNvSpPr/>
          <p:nvPr/>
        </p:nvSpPr>
        <p:spPr>
          <a:xfrm>
            <a:off x="9006840" y="2368296"/>
            <a:ext cx="0" cy="118872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35" name="Shape 26"/>
          <p:cNvSpPr/>
          <p:nvPr/>
        </p:nvSpPr>
        <p:spPr>
          <a:xfrm>
            <a:off x="6263640" y="2487168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6400800" y="2542032"/>
            <a:ext cx="5120640" cy="20116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NEXT</a:t>
            </a:r>
            <a:endParaRPr lang="en-US" sz="900" dirty="0"/>
          </a:p>
        </p:txBody>
      </p:sp>
      <p:sp>
        <p:nvSpPr>
          <p:cNvPr id="37" name="Text 28"/>
          <p:cNvSpPr txBox="1"/>
          <p:nvPr/>
        </p:nvSpPr>
        <p:spPr>
          <a:xfrm>
            <a:off x="6400800" y="2724912"/>
            <a:ext cx="512064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Any Sovereign Web/API Target</a:t>
            </a:r>
            <a:endParaRPr lang="en-US" sz="1250" dirty="0"/>
          </a:p>
        </p:txBody>
      </p:sp>
      <p:sp>
        <p:nvSpPr>
          <p:cNvPr id="38" name="Text 29"/>
          <p:cNvSpPr txBox="1"/>
          <p:nvPr/>
        </p:nvSpPr>
        <p:spPr>
          <a:xfrm>
            <a:off x="6400800" y="2962656"/>
            <a:ext cx="512064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Declarative YAML target profiles · GitHub Actions CI/CD gate · automated PR security comments</a:t>
            </a:r>
            <a:endParaRPr lang="en-US" sz="870" dirty="0"/>
          </a:p>
        </p:txBody>
      </p:sp>
      <p:sp>
        <p:nvSpPr>
          <p:cNvPr id="39" name="Shape 30"/>
          <p:cNvSpPr/>
          <p:nvPr/>
        </p:nvSpPr>
        <p:spPr>
          <a:xfrm>
            <a:off x="9006840" y="3282696"/>
            <a:ext cx="0" cy="118872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40" name="Shape 31"/>
          <p:cNvSpPr/>
          <p:nvPr/>
        </p:nvSpPr>
        <p:spPr>
          <a:xfrm>
            <a:off x="6263640" y="3401568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6400800" y="3456432"/>
            <a:ext cx="5120640" cy="20116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1E3A8A"/>
                </a:solidFill>
                <a:latin typeface="Calibri"/>
              </a:rPr>
              <a:t>FUTURE</a:t>
            </a:r>
            <a:endParaRPr lang="en-US" sz="900" dirty="0"/>
          </a:p>
        </p:txBody>
      </p:sp>
      <p:sp>
        <p:nvSpPr>
          <p:cNvPr id="42" name="Text 33"/>
          <p:cNvSpPr txBox="1"/>
          <p:nvPr/>
        </p:nvSpPr>
        <p:spPr>
          <a:xfrm>
            <a:off x="6400800" y="3639312"/>
            <a:ext cx="512064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50" b="1">
                <a:solidFill>
                  <a:srgbClr val="0F172A"/>
                </a:solidFill>
                <a:latin typeface="Calibri"/>
              </a:rPr>
              <a:t>Continuous Posture Monitoring</a:t>
            </a:r>
            <a:endParaRPr lang="en-US" sz="1250" dirty="0"/>
          </a:p>
        </p:txBody>
      </p:sp>
      <p:sp>
        <p:nvSpPr>
          <p:cNvPr id="43" name="Text 34"/>
          <p:cNvSpPr txBox="1"/>
          <p:nvPr/>
        </p:nvSpPr>
        <p:spPr>
          <a:xfrm>
            <a:off x="6400800" y="3877056"/>
            <a:ext cx="512064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Autonomous re-scanning daemon · multi-target distributed queue · OWASP ASVS drift alerts</a:t>
            </a:r>
            <a:endParaRPr lang="en-US" sz="870" dirty="0"/>
          </a:p>
        </p:txBody>
      </p:sp>
      <p:sp>
        <p:nvSpPr>
          <p:cNvPr id="44" name="Text 35"/>
          <p:cNvSpPr txBox="1"/>
          <p:nvPr/>
        </p:nvSpPr>
        <p:spPr>
          <a:xfrm>
            <a:off x="6263640" y="4434840"/>
            <a:ext cx="54864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Deliverable per Vulnerability (8 required fields) :</a:t>
            </a:r>
            <a:endParaRPr lang="en-US" sz="1400" dirty="0"/>
          </a:p>
        </p:txBody>
      </p:sp>
      <p:sp>
        <p:nvSpPr>
          <p:cNvPr id="45" name="Shape 36"/>
          <p:cNvSpPr/>
          <p:nvPr/>
        </p:nvSpPr>
        <p:spPr>
          <a:xfrm>
            <a:off x="6263640" y="480060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626364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1</a:t>
            </a:r>
            <a:endParaRPr lang="en-US" sz="1300" dirty="0"/>
          </a:p>
        </p:txBody>
      </p:sp>
      <p:sp>
        <p:nvSpPr>
          <p:cNvPr id="47" name="Text 38"/>
          <p:cNvSpPr txBox="1"/>
          <p:nvPr/>
        </p:nvSpPr>
        <p:spPr>
          <a:xfrm>
            <a:off x="6172200" y="520293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Title (Standardized)</a:t>
            </a:r>
            <a:endParaRPr lang="en-US" sz="760" dirty="0"/>
          </a:p>
        </p:txBody>
      </p:sp>
      <p:sp>
        <p:nvSpPr>
          <p:cNvPr id="48" name="Shape 39"/>
          <p:cNvSpPr/>
          <p:nvPr/>
        </p:nvSpPr>
        <p:spPr>
          <a:xfrm>
            <a:off x="7644384" y="480060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7644384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2</a:t>
            </a:r>
            <a:endParaRPr lang="en-US" sz="1300" dirty="0"/>
          </a:p>
        </p:txBody>
      </p:sp>
      <p:sp>
        <p:nvSpPr>
          <p:cNvPr id="50" name="Text 41"/>
          <p:cNvSpPr txBox="1"/>
          <p:nvPr/>
        </p:nvSpPr>
        <p:spPr>
          <a:xfrm>
            <a:off x="7552944" y="520293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Description &amp; Root Cause</a:t>
            </a:r>
            <a:endParaRPr lang="en-US" sz="760" dirty="0"/>
          </a:p>
        </p:txBody>
      </p:sp>
      <p:sp>
        <p:nvSpPr>
          <p:cNvPr id="51" name="Shape 42"/>
          <p:cNvSpPr/>
          <p:nvPr/>
        </p:nvSpPr>
        <p:spPr>
          <a:xfrm>
            <a:off x="9025128" y="480060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2" name="Text 43"/>
          <p:cNvSpPr txBox="1"/>
          <p:nvPr/>
        </p:nvSpPr>
        <p:spPr>
          <a:xfrm>
            <a:off x="9025128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3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8933688" y="520293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Affected Component</a:t>
            </a:r>
            <a:endParaRPr lang="en-US" sz="760" dirty="0"/>
          </a:p>
        </p:txBody>
      </p:sp>
      <p:sp>
        <p:nvSpPr>
          <p:cNvPr id="54" name="Shape 45"/>
          <p:cNvSpPr/>
          <p:nvPr/>
        </p:nvSpPr>
        <p:spPr>
          <a:xfrm>
            <a:off x="10405872" y="480060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10405872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4</a:t>
            </a:r>
            <a:endParaRPr lang="en-US" sz="1300" dirty="0"/>
          </a:p>
        </p:txBody>
      </p:sp>
      <p:sp>
        <p:nvSpPr>
          <p:cNvPr id="56" name="Text 47"/>
          <p:cNvSpPr txBox="1"/>
          <p:nvPr/>
        </p:nvSpPr>
        <p:spPr>
          <a:xfrm>
            <a:off x="10314432" y="520293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Severity (CVSS 3.1)</a:t>
            </a:r>
            <a:endParaRPr lang="en-US" sz="760" dirty="0"/>
          </a:p>
        </p:txBody>
      </p:sp>
      <p:sp>
        <p:nvSpPr>
          <p:cNvPr id="57" name="Shape 48"/>
          <p:cNvSpPr/>
          <p:nvPr/>
        </p:nvSpPr>
        <p:spPr>
          <a:xfrm>
            <a:off x="6263640" y="557784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6263640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5</a:t>
            </a:r>
            <a:endParaRPr lang="en-US" sz="1300" dirty="0"/>
          </a:p>
        </p:txBody>
      </p:sp>
      <p:sp>
        <p:nvSpPr>
          <p:cNvPr id="59" name="Text 50"/>
          <p:cNvSpPr txBox="1"/>
          <p:nvPr/>
        </p:nvSpPr>
        <p:spPr>
          <a:xfrm>
            <a:off x="6172200" y="598017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Steps to Reproduce</a:t>
            </a:r>
            <a:endParaRPr lang="en-US" sz="760" dirty="0"/>
          </a:p>
        </p:txBody>
      </p:sp>
      <p:sp>
        <p:nvSpPr>
          <p:cNvPr id="60" name="Shape 51"/>
          <p:cNvSpPr/>
          <p:nvPr/>
        </p:nvSpPr>
        <p:spPr>
          <a:xfrm>
            <a:off x="7644384" y="557784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7644384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6</a:t>
            </a:r>
            <a:endParaRPr lang="en-US" sz="1300" dirty="0"/>
          </a:p>
        </p:txBody>
      </p:sp>
      <p:sp>
        <p:nvSpPr>
          <p:cNvPr id="62" name="Text 53"/>
          <p:cNvSpPr txBox="1"/>
          <p:nvPr/>
        </p:nvSpPr>
        <p:spPr>
          <a:xfrm>
            <a:off x="7552944" y="598017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Safe PoC Evidence</a:t>
            </a:r>
            <a:endParaRPr lang="en-US" sz="760" dirty="0"/>
          </a:p>
        </p:txBody>
      </p:sp>
      <p:sp>
        <p:nvSpPr>
          <p:cNvPr id="63" name="Shape 54"/>
          <p:cNvSpPr/>
          <p:nvPr/>
        </p:nvSpPr>
        <p:spPr>
          <a:xfrm>
            <a:off x="9025128" y="557784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9025128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7</a:t>
            </a:r>
            <a:endParaRPr lang="en-US" sz="1300" dirty="0"/>
          </a:p>
        </p:txBody>
      </p:sp>
      <p:sp>
        <p:nvSpPr>
          <p:cNvPr id="65" name="Text 56"/>
          <p:cNvSpPr txBox="1"/>
          <p:nvPr/>
        </p:nvSpPr>
        <p:spPr>
          <a:xfrm>
            <a:off x="8933688" y="598017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Business Impact</a:t>
            </a:r>
            <a:endParaRPr lang="en-US" sz="760" dirty="0"/>
          </a:p>
        </p:txBody>
      </p:sp>
      <p:sp>
        <p:nvSpPr>
          <p:cNvPr id="66" name="Shape 57"/>
          <p:cNvSpPr/>
          <p:nvPr/>
        </p:nvSpPr>
        <p:spPr>
          <a:xfrm>
            <a:off x="10405872" y="5577840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10405872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8</a:t>
            </a:r>
            <a:endParaRPr lang="en-US" sz="1300" dirty="0"/>
          </a:p>
        </p:txBody>
      </p:sp>
      <p:sp>
        <p:nvSpPr>
          <p:cNvPr id="68" name="Text 59"/>
          <p:cNvSpPr txBox="1"/>
          <p:nvPr/>
        </p:nvSpPr>
        <p:spPr>
          <a:xfrm>
            <a:off x="10314432" y="598017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Remediation Diff</a:t>
            </a:r>
            <a:endParaRPr lang="en-US" sz="7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252728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1252728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234440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Qadir et al. (2025) · Comparative evaluation of approaches &amp; tools for effective security testing of Web applications. PeerJ Computer Science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869680" y="1234440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peerj.com/articles/cs-2821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" y="1709928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" y="1819656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1819656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801368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A methodology for evaluating DAST scanners (2025). Springer Journal of Computer Virology and Hacking Techniques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801368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doi.org/10.1007/s10207-025-01054-8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2276856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2386584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" y="2386584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368296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A Novel VAPT Algorithm: Enhancing Web Application Security Through OWASP Top 10 Optimization (2023)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368296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arXiv:2311.10450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57200" y="2843784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953512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5720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2935224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Do I really need all this work to find vulnerabilities? Empirical comparison of detection techniques (2022)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869680" y="2935224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arXiv:2208.01595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57200" y="3410712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7200" y="3520440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72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960120" y="3502152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Semantic Similarity-Based Clustering of Findings From Security Testing Tools (2022)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869680" y="3502152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arXiv:2211.11057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57200" y="3977640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4087368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7200" y="4087368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60120" y="4069080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OWASP Top 10:2021 · OWASP ASVS 5.0 · OWASP Top 10 for Large Language Model Applications (2025)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8869680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owasp.org/Top10 · owasp.org/llm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57200" y="4544568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57200" y="4654296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7200" y="4654296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960120" y="4636008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MITRE CWE Top 25 Most Dangerous Software Weaknesses &amp; FIRST CVSS v3.1 Specification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8869680" y="4636008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cwe.mitre.org · first.org/cvss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457200" y="5111496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5221224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57200" y="5221224"/>
            <a:ext cx="365760" cy="36576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1200" b="1">
                <a:solidFill>
                  <a:srgbClr val="0F172A"/>
                </a:solidFill>
                <a:latin typeface="Calibri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960120" y="5202936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World Monitor Open-Source Repository &amp; GitHub Security Advisory GHSA-887j-p88r-qmm9 (MCP SSRF)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8869680" y="5202936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github.com/koala73/worldmonitor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457200" y="5678424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EFF6FF"/>
          </a:solidFill>
          <a:ln w="19050">
            <a:solidFill>
              <a:srgbClr val="1E3A8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40080" y="5715000"/>
            <a:ext cx="10972800" cy="56692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sz="1000" b="0">
                <a:solidFill>
                  <a:srgbClr val="0F172A"/>
                </a:solidFill>
                <a:latin typeface="Calibri"/>
              </a:rPr>
              <a:t>Ethical Scope &amp; Rules of Engagement: All security testing was executed strictly on an authorized, locally self-hosted sandbox instance (localhost:3000) using seeded test data. Zero active probing, scanning, or exploitation was conducted against production 'worldmonitor.app' or external upstream services. All 5 developed Proof-of-Concept scripts are non-destructive and limited strictly to existence validation. Fully compliant with NTRO guidelines, Indian IT Act (Sections 43 &amp; 66), and responsible vulnerability disclosure standards.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ARGUS - SIH26163 Idea Submission</dc:title>
  <dc:subject>PptxGenJS Presentation</dc:subject>
  <dc:creator>PptxGenJS</dc:creator>
  <cp:lastModifiedBy>PptxGenJS</cp:lastModifiedBy>
  <cp:revision>1</cp:revision>
  <dcterms:created xsi:type="dcterms:W3CDTF">2026-09-28T21:06:06Z</dcterms:created>
  <dcterms:modified xsi:type="dcterms:W3CDTF">2026-09-28T21:06:06Z</dcterms:modified>
</cp:coreProperties>
</file>