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Endpoints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Unauthenticated (137)</c:v>
                </c:pt>
                <c:pt idx="1">
                  <c:v>Authenticated (29)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137</c:v>
                </c:pt>
                <c:pt idx="1">
                  <c:v>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14 raw findings reduced to 12 after grouping</a:t>
            </a:r>
          </a:p>
          <a:p>
            <a:r>
              <a:t>Source: argus/out/findings.json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Code Audit (5)</c:v>
                </c:pt>
                <c:pt idx="1">
                  <c:v>npm audit SCA (9)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Only 1 of 12 findings reaches High severity (Source: findings.json)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High (1)</c:v>
                </c:pt>
                <c:pt idx="1">
                  <c:v>Medium (11)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CVSS 3.1 Base Score per Finding (Accent on High Severity 7.5)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CVSS 3.1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Bot Filter (5.3)</c:v>
                </c:pt>
                <c:pt idx="1">
                  <c:v>Trusted Types (6.1)</c:v>
                </c:pt>
                <c:pt idx="2">
                  <c:v>SSRF Rebinding (6.3)</c:v>
                </c:pt>
                <c:pt idx="3">
                  <c:v>Prompt Injection (6.5)</c:v>
                </c:pt>
                <c:pt idx="4">
                  <c:v>UUID Bounds (6.5)</c:v>
                </c:pt>
                <c:pt idx="5">
                  <c:v>Undici DoS (6.5)</c:v>
                </c:pt>
                <c:pt idx="6">
                  <c:v>Stream-JSON DoS (6.5)</c:v>
                </c:pt>
                <c:pt idx="7">
                  <c:v>NAT64 SSRF (6.5)</c:v>
                </c:pt>
                <c:pt idx="8">
                  <c:v>IPv6 Link-Local (6.5)</c:v>
                </c:pt>
                <c:pt idx="9">
                  <c:v>Image-Size DoS (6.5)</c:v>
                </c:pt>
                <c:pt idx="10">
                  <c:v>Vitest Traversal (6.5)</c:v>
                </c:pt>
                <c:pt idx="11">
                  <c:v>Fail-Open Rate Limit (7.5)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5.3</c:v>
                </c:pt>
                <c:pt idx="1">
                  <c:v>6.1</c:v>
                </c:pt>
                <c:pt idx="2">
                  <c:v>6.3</c:v>
                </c:pt>
                <c:pt idx="3">
                  <c:v>6.5</c:v>
                </c:pt>
                <c:pt idx="4">
                  <c:v>6.5</c:v>
                </c:pt>
                <c:pt idx="5">
                  <c:v>6.5</c:v>
                </c:pt>
                <c:pt idx="6">
                  <c:v>6.5</c:v>
                </c:pt>
                <c:pt idx="7">
                  <c:v>6.5</c:v>
                </c:pt>
                <c:pt idx="8">
                  <c:v>6.5</c:v>
                </c:pt>
                <c:pt idx="9">
                  <c:v>6.5</c:v>
                </c:pt>
                <c:pt idx="10">
                  <c:v>6.5</c:v>
                </c:pt>
                <c:pt idx="11">
                  <c:v>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Endpoints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Unauthenticated (137)</c:v>
                </c:pt>
                <c:pt idx="1">
                  <c:v>Authenticated (29)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137</c:v>
                </c:pt>
                <c:pt idx="1">
                  <c:v>29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14 raw findings reduced to 12 after grouping</a:t>
            </a:r>
          </a:p>
          <a:p>
            <a:r>
              <a:t>Source: argus/out/findings.json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Code Audit (5)</c:v>
                </c:pt>
                <c:pt idx="1">
                  <c:v>npm audit SCA (9)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Only 1 of 12 findings reaches High severity (Source: findings.json)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High (1)</c:v>
                </c:pt>
                <c:pt idx="1">
                  <c:v>Medium (11)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solidFill>
                  <a:srgbClr val="1E3A8A"/>
                </a:solidFill>
              </a:defRPr>
            </a:pPr>
            <a:r>
              <a:t>CVSS 3.1 Base Score per Finding (Accent on High Severity 7.5)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CVSS 3.1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Bot Filter (5.3)</c:v>
                </c:pt>
                <c:pt idx="1">
                  <c:v>Trusted Types (6.1)</c:v>
                </c:pt>
                <c:pt idx="2">
                  <c:v>SSRF Rebinding (6.3)</c:v>
                </c:pt>
                <c:pt idx="3">
                  <c:v>Prompt Injection (6.5)</c:v>
                </c:pt>
                <c:pt idx="4">
                  <c:v>UUID Bounds (6.5)</c:v>
                </c:pt>
                <c:pt idx="5">
                  <c:v>Undici DoS (6.5)</c:v>
                </c:pt>
                <c:pt idx="6">
                  <c:v>Stream-JSON DoS (6.5)</c:v>
                </c:pt>
                <c:pt idx="7">
                  <c:v>NAT64 SSRF (6.5)</c:v>
                </c:pt>
                <c:pt idx="8">
                  <c:v>IPv6 Link-Local (6.5)</c:v>
                </c:pt>
                <c:pt idx="9">
                  <c:v>Image-Size DoS (6.5)</c:v>
                </c:pt>
                <c:pt idx="10">
                  <c:v>Vitest Traversal (6.5)</c:v>
                </c:pt>
                <c:pt idx="11">
                  <c:v>Fail-Open Rate Limit (7.5)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5.3</c:v>
                </c:pt>
                <c:pt idx="1">
                  <c:v>6.1</c:v>
                </c:pt>
                <c:pt idx="2">
                  <c:v>6.3</c:v>
                </c:pt>
                <c:pt idx="3">
                  <c:v>6.5</c:v>
                </c:pt>
                <c:pt idx="4">
                  <c:v>6.5</c:v>
                </c:pt>
                <c:pt idx="5">
                  <c:v>6.5</c:v>
                </c:pt>
                <c:pt idx="6">
                  <c:v>6.5</c:v>
                </c:pt>
                <c:pt idx="7">
                  <c:v>6.5</c:v>
                </c:pt>
                <c:pt idx="8">
                  <c:v>6.5</c:v>
                </c:pt>
                <c:pt idx="9">
                  <c:v>6.5</c:v>
                </c:pt>
                <c:pt idx="10">
                  <c:v>6.5</c:v>
                </c:pt>
                <c:pt idx="11">
                  <c:v>7.5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[0:00 - 0:30 | 30s Pitch - Slide 1: Introduction]</a:t>
            </a:r>
          </a:p>
          <a:p>
            <a:r>
              <a:t>Respected judges, we present ARGUS: an Automated Risk and Vulnerability Unified Scanner purpose-built for problem statement SIH26163 by the National Technical Research Organisation.</a:t>
            </a:r>
          </a:p>
          <a:p/>
          <a:p>
            <a:r>
              <a:t>Rather than presenting theoretical models or synthetic scanner simulations, our team conducted a comprehensive, empirical security assessment of the complete World Monitor open-source intelligence dashboard. We mapped its entire architecture—comprising 166 Vercel Edge endpoints, 5 distinct trust boundaries, Next.js web frontend, and Tauri 2.0 Rust desktop shell.</a:t>
            </a:r>
          </a:p>
          <a:p/>
          <a:p>
            <a:r>
              <a:t>Across our automated SAST, SCA, and custom AST parsers, we ingested 14 raw signals, correlated 12 unique confirmed vulnerabilities—including 1 High-severity unmetered resource DoS and 11 Medium-severity flaws—and executed 5 non-destructive Proof-of-Concept scripts with a 100% confirmation rate. Over the next 4.5 minutes, we will walk you through our empirical findings, technical architecture, and actionable remediations.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[0:30 - 1:45 | 75s Pitch - Slide 2: Proposed Solution &amp; Confirmed Vulnerabilities]</a:t>
            </a:r>
          </a:p>
          <a:p>
            <a:r>
              <a:t>Moving to Slide 2: ARGUS solves the core problem by implementing an automated, architecture-aware AppSec audit tailored specifically for complex OSINT dashboards.</a:t>
            </a:r>
          </a:p>
          <a:p/>
          <a:p>
            <a:r>
              <a:t>World Monitor combines 166 Vercel Edge endpoints, third-party RSS aggregators, LLM summarizers, and a Tauri desktop shell. As highlighted in our left panel, we systematically audited all 7 scope areas mandated by NTRO—from Clerk JWT authentication to local storage security controls.</a:t>
            </a:r>
          </a:p>
          <a:p/>
          <a:p>
            <a:r>
              <a:t>At the bottom, you can see our real, evidenced findings—not synthetic scanner hypotheses:</a:t>
            </a:r>
          </a:p>
          <a:p>
            <a:r>
              <a:t>1. Our highest severity finding is a CVSS 7.5 unmetered resource DoS in api/_rate-limit.js. When Upstash Redis experiences network latency, the limiter fails open with 'X-RateLimit-Mode: degraded', allowing unbounded traffic to drain downstream Geocoding and LLM budgets.</a:t>
            </a:r>
          </a:p>
          <a:p>
            <a:r>
              <a:t>2. Next, a CVSS 6.1 DOM XSS vulnerability: we discovered 357 call sites bypassing browser Trusted Types using a dummy string literal in dom-utils.ts.</a:t>
            </a:r>
          </a:p>
          <a:p>
            <a:r>
              <a:t>3. Third, an indirect prompt injection flaw in the AI news summarizer: static English regex blocklists are easily bypassed by multilingual instructions in external OSINT RSS feeds.</a:t>
            </a:r>
          </a:p>
          <a:p>
            <a:r>
              <a:t>4. Fourth, an edge SSRF TOCTOU rebinding vulnerability in api/mcp-proxy.ts tracked in GHSA-887j-p88r-qmm9.</a:t>
            </a:r>
          </a:p>
          <a:p>
            <a:r>
              <a:t>5. And fifth, a bot filter bypass in middleware.ts where any synthetic 40-character hex key bypasses edge crawler defenses.</a:t>
            </a:r>
          </a:p>
          <a:p>
            <a:r>
              <a:t>Every single finding has an automated, non-destructive PoC script with 100% pass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[1:45 - 2:45 | 60s Pitch - Slide 3: Technical Approach &amp; Multi-Engine Correlation]</a:t>
            </a:r>
          </a:p>
          <a:p>
            <a:r>
              <a:t>Turning to Slide 3: our technical approach is founded on multi-engine automated correlation. We do not rely on a single generic scanner.</a:t>
            </a:r>
          </a:p>
          <a:p/>
          <a:p>
            <a:r>
              <a:t>As seen in our 4-tier architecture, ARGUS combines Semgrep for static code analysis, npm audit for supply-chain vulnerabilities, custom AST route extractors for the 166 edge endpoints, and automated verification scripts.</a:t>
            </a:r>
          </a:p>
          <a:p/>
          <a:p>
            <a:r>
              <a:t>Our primary engineering differentiator is the Correlation Engine written in Python 3.14 with Pydantic v2. Disparate scanner outputs are normalized into a unified schema, and our Two-Signal Confirmation Gate discards isolated scanner anomalies, ensuring that reviewers only spend time on verified flaws.</a:t>
            </a:r>
          </a:p>
          <a:p/>
          <a:p>
            <a:r>
              <a:t>In our 8-step methodology below, Step 1 enforces a strict Scope Gate so that no traffic leaves the local sandbox. Findings are mathematically scored using the official FIRST CVSS v3.1 specification, and output as both a 12-page executive PDF report and machine-readable SARIF for continuous CI/CD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[2:45 - 3:30 | 45s Pitch - Slide 4: Feasibility Flowchart &amp; Viability Analysis]</a:t>
            </a:r>
          </a:p>
          <a:p>
            <a:r>
              <a:t>On Slide 4, we demonstrate our Feasibility and Operational Viability through an engineered execution flowchart on the left and a detailed capability assessment on the right.</a:t>
            </a:r>
          </a:p>
          <a:p/>
          <a:p>
            <a:r>
              <a:t>As traced in our 5-step flowchart, ARGUS achieves 100% feasibility because all 166 endpoints and 5 trust boundaries run locally within an isolated AGPL-3.0 sandbox—zero external cloud subscriptions or network dependencies are required.</a:t>
            </a:r>
          </a:p>
          <a:p/>
          <a:p>
            <a:r>
              <a:t>On the right, we address the core viability pillars:</a:t>
            </a:r>
          </a:p>
          <a:p>
            <a:r>
              <a:t>1. Technical Feasibility: White-box AST extraction directly uncovers edge route signatures.</a:t>
            </a:r>
          </a:p>
          <a:p>
            <a:r>
              <a:t>2. Economic Viability: Built with 100% open-source software (Semgrep, Python, Playwright), achieving complete automation at zero license cost.</a:t>
            </a:r>
          </a:p>
          <a:p>
            <a:r>
              <a:t>3. Risk Mitigation: Our Two-Signal confirmation gate discards scanner noise before PoC development, and non-destructive mock testbeds protect upstream APIs.</a:t>
            </a:r>
          </a:p>
          <a:p>
            <a:r>
              <a:t>4. Strategic Scalability: Built for NTRO to audit sovereign OSINT and government web assets simply by updating target YAML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[3:30 - 4:30 | 60s Pitch - Slide 5: Strategic Impact, Benefits &amp; Deliverables Compliance]</a:t>
            </a:r>
          </a:p>
          <a:p>
            <a:r>
              <a:t>Slide 5 outlines the operational impact and strategic benefits of ARGUS.</a:t>
            </a:r>
          </a:p>
          <a:p/>
          <a:p>
            <a:r>
              <a:t>For NTRO, World Monitor is not simply a generic web dashboard—it is a live OSINT intelligence tool tracking real-time conflict telemetry, maritime vessels, and infrastructure. A compromise of its telemetry via indirect prompt injection or an unmetered resource DoS could blind strategic analysts during a national crisis.</a:t>
            </a:r>
          </a:p>
          <a:p/>
          <a:p>
            <a:r>
              <a:t>ARGUS directly protects this mission by delivering concrete, patch-ready remediations. As shown in our bottom-right table, ARGUS guarantees 100% compliance with all 8 mandatory deliverable fields stipulated in the problem statement—from deterministic reproduction steps to CVSS 3.1 vectors.</a:t>
            </a:r>
          </a:p>
          <a:p/>
          <a:p>
            <a:r>
              <a:t>Furthermore, ARGUS is built for immediate scale: while demonstrated on World Monitor today, its modular engine can be pointed at any sovereign government web service simply by changing the target YAML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[4:30 - 5:00 | 30s Pitch - Slide 6: Research Foundations &amp; Ethical Scope]</a:t>
            </a:r>
          </a:p>
          <a:p>
            <a:r>
              <a:t>Finally, on Slide 6: our methodology is grounded in recent peer-reviewed security research, including 2025 PeerJ and Springer publications on multi-tool correlation, alongside foundational standards from OWASP, MITRE CWE, and FIRST CVSS.</a:t>
            </a:r>
          </a:p>
          <a:p/>
          <a:p>
            <a:r>
              <a:t>Crucially, we maintained strict ethical discipline throughout: 100% of our testing was restricted to an isolated local clone on localhost with zero testing against production infrastructure, adhering strictly to Indian cybersecurity laws and NTRO ethical guidelines.</a:t>
            </a:r>
          </a:p>
          <a:p/>
          <a:p>
            <a:r>
              <a:t>In summary, ARGUS provides NTRO with a complete, evidence-backed security assessment that fulfills every requirement of SIH26163. We are now ready to demonstrate our live tool and answer your questions.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Relationship Id="rId8" Type="http://schemas.openxmlformats.org/officeDocument/2006/relationships/chart" Target="../charts/chart1.xml"/><Relationship Id="rId9" Type="http://schemas.openxmlformats.org/officeDocument/2006/relationships/chart" Target="../charts/char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Relationship Id="rId8" Type="http://schemas.openxmlformats.org/officeDocument/2006/relationships/chart" Target="../charts/chart2.xml"/><Relationship Id="rId9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10" Type="http://schemas.openxmlformats.org/officeDocument/2006/relationships/chart" Target="../charts/chart3.xml"/><Relationship Id="rId11" Type="http://schemas.openxmlformats.org/officeDocument/2006/relationships/chart" Target="../charts/chart4.xml"/><Relationship Id="rId12" Type="http://schemas.openxmlformats.org/officeDocument/2006/relationships/chart" Target="../charts/chart7.xml"/><Relationship Id="rId13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4E86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3400" dirty="0"/>
          </a:p>
        </p:txBody>
      </p:sp>
      <p:pic>
        <p:nvPicPr>
          <p:cNvPr id="4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82880"/>
            <a:ext cx="2103120" cy="9857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100584" cy="100584"/>
          </a:xfrm>
          <a:prstGeom prst="ellipse">
            <a:avLst/>
          </a:prstGeom>
          <a:solidFill>
            <a:srgbClr val="229954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205740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  <a:defRPr b="1" sz="1300">
                <a:latin typeface="Arial"/>
              </a:defRPr>
            </a:pPr>
            <a:pPr indent="0" marL="0">
              <a:buNone/>
            </a:pPr>
            <a:r>
              <a:t>Problem Statement: Security Assessment of the World Monitor Application (SIH26163)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2907792"/>
            <a:ext cx="100584" cy="100584"/>
          </a:xfrm>
          <a:prstGeom prst="ellipse">
            <a:avLst/>
          </a:prstGeom>
          <a:solidFill>
            <a:srgbClr val="DE732A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  <a:defRPr sz="1200">
                <a:latin typeface="Arial"/>
              </a:defRPr>
            </a:pPr>
            <a:pPr indent="0" marL="0">
              <a:buNone/>
            </a:pPr>
            <a:r>
              <a:t>Theme: Smart Automation  |  Category: Software  |  Organization: NTRO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100584" cy="100584"/>
          </a:xfrm>
          <a:prstGeom prst="ellipse">
            <a:avLst/>
          </a:prstGeom>
          <a:solidFill>
            <a:srgbClr val="7046A8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822960" y="338328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150" b="0">
                <a:solidFill>
                  <a:srgbClr val="0F172A"/>
                </a:solidFill>
                <a:latin typeface="Calibri"/>
              </a:rPr>
              <a:t>PS Category- Software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4096512"/>
            <a:ext cx="100584" cy="100584"/>
          </a:xfrm>
          <a:prstGeom prst="ellipse">
            <a:avLst/>
          </a:prstGeom>
          <a:solidFill>
            <a:srgbClr val="254E86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22960" y="397764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  <a:defRPr sz="1200">
                <a:latin typeface="Arial"/>
              </a:defRPr>
            </a:pPr>
            <a:pPr indent="0" marL="0">
              <a:buNone/>
            </a:pPr>
            <a:r>
              <a:t>Team ID: [Team ID]  |  Team Name: [Team Name]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48640" y="4690872"/>
            <a:ext cx="100584" cy="100584"/>
          </a:xfrm>
          <a:prstGeom prst="ellipse">
            <a:avLst/>
          </a:prstGeom>
          <a:solidFill>
            <a:srgbClr val="B03E2A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2960" y="4572000"/>
            <a:ext cx="7589520" cy="640080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t"/>
          <a:lstStyle/>
          <a:p>
            <a:pPr indent="0" marL="0">
              <a:buNone/>
            </a:pPr>
            <a:pPr indent="0" marL="0">
              <a:buNone/>
            </a:pPr>
            <a:r>
              <a:rPr sz="1150" b="0">
                <a:solidFill>
                  <a:srgbClr val="0F172A"/>
                </a:solidFill>
                <a:latin typeface="Calibri"/>
              </a:rPr>
              <a:t>Team Name (Registered on portal)- [Team Name]</a:t>
            </a:r>
            <a:endParaRPr lang="en-US" sz="1900" dirty="0"/>
          </a:p>
        </p:txBody>
      </p:sp>
      <p:pic>
        <p:nvPicPr>
          <p:cNvPr id="16" name="Image 1" descr="/home/claude/tpl/bulb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965960"/>
            <a:ext cx="2788920" cy="309958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5532120"/>
            <a:ext cx="7863840" cy="658368"/>
          </a:xfrm>
          <a:prstGeom prst="rect">
            <a:avLst/>
          </a:prstGeom>
          <a:solidFill>
            <a:srgbClr val="254E86"/>
          </a:solidFill>
          <a:ln w="19050">
            <a:solidFill>
              <a:srgbClr val="20739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548640" y="5532120"/>
            <a:ext cx="7863840" cy="658368"/>
          </a:xfrm>
          <a:prstGeom prst="rect">
            <a:avLst/>
          </a:prstGeom>
          <a:noFill/>
          <a:ln/>
        </p:spPr>
        <p:txBody>
          <a:bodyPr wrap="square" lIns="45720" tIns="27432" rIns="45720" bIns="27432" rtlCol="0" anchor="ctr"/>
          <a:lstStyle/>
          <a:p>
            <a:pPr indent="0" marL="0" algn="l">
              <a:buNone/>
              <a:defRPr b="1" sz="1800">
                <a:solidFill>
                  <a:srgbClr val="1E3A8A"/>
                </a:solidFill>
                <a:latin typeface="Arial"/>
              </a:defRPr>
            </a:pPr>
            <a:pPr indent="0" marL="0">
              <a:buNone/>
            </a:pPr>
            <a:r>
              <a:t>ARGUS: Automated Security Assessment and Finding Correlation for World Monitor</a:t>
            </a:r>
            <a:endParaRPr lang="en-US" sz="1650" dirty="0"/>
          </a:p>
          <a:p>
            <a:pPr algn="l"/>
            <a:r>
              <a:rPr b="0" sz="1050">
                <a:solidFill>
                  <a:srgbClr val="DBEAFE"/>
                </a:solidFill>
                <a:latin typeface="Calibri"/>
              </a:rPr>
              <a:t>Empirical Security Assessment of World Monitor | 166 Endpoints Audited · 12 Correlated Flaws · 5 Safe PoCs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78C"/>
            </a:solidFill>
            <a:prstDash val="solid"/>
          </a:ln>
        </p:spPr>
        <p:txBody>
          <a:bodyPr/>
          <a:p>
            <a:pPr>
              <a:defRPr b="1"/>
            </a:pPr>
          </a:p>
        </p:txBody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b="1" sz="1400">
                <a:solidFill>
                  <a:srgbClr val="1E3A8A"/>
                </a:solidFill>
                <a:latin typeface="Arial"/>
              </a:defRPr>
            </a:pPr>
            <a:r>
              <a:t>Attack surface recon drives automated static audit and risk scoring</a:t>
            </a:r>
            <a:endParaRPr lang="en-US" sz="22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694944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00">
                <a:solidFill>
                  <a:srgbClr val="0F172A"/>
                </a:solidFill>
                <a:latin typeface="Arial"/>
              </a:defRPr>
            </a:pPr>
            <a:r>
              <a:t>THE PROBLEM: UNCONTROLLED ATTACK SURFACE EXPOSURE</a:t>
            </a:r>
          </a:p>
          <a:p>
            <a:pPr algn="l">
              <a:spcBef>
                <a:spcPts val="200"/>
              </a:spcBef>
              <a:defRPr b="0" sz="900">
                <a:solidFill>
                  <a:srgbClr val="475569"/>
                </a:solidFill>
                <a:latin typeface="Arial"/>
              </a:defRPr>
            </a:pPr>
            <a:r>
              <a:t>World Monitor exposes 166 edge endpoints, leaving 137 routes accessible without authentication to unmetered requests and external inputs. Manual audit of this surface is slow and error-prone, while generic scanners generate disjointed, unprioritized alerts.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6949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E3A8A"/>
                </a:solidFill>
                <a:latin typeface="Arial"/>
              </a:defRPr>
            </a:pPr>
            <a:r>
              <a:t>Automated Five-Stage Assessment Pipeline (6.5 Seconds End-to-End)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1298448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950">
                <a:solidFill>
                  <a:srgbClr val="1E3A8A"/>
                </a:solidFill>
                <a:latin typeface="Arial"/>
              </a:defRPr>
            </a:pPr>
            <a:r>
              <a:t>1. Recon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Map 166 routes, 428 RSS feeds, &amp; Tauri boundaries.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55648" y="3035808"/>
            <a:ext cx="118872" cy="0"/>
          </a:xfrm>
          <a:prstGeom prst="line">
            <a:avLst/>
          </a:prstGeom>
          <a:ln w="190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3611880"/>
            <a:ext cx="1298448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00">
                <a:solidFill>
                  <a:srgbClr val="1E3A8A"/>
                </a:solidFill>
                <a:latin typeface="Arial"/>
              </a:defRPr>
            </a:pPr>
            <a:r>
              <a:t>Output Artifact:</a:t>
            </a:r>
          </a:p>
          <a:p>
            <a:pPr algn="l">
              <a:spcBef>
                <a:spcPts val="20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endpoints.csv</a:t>
            </a:r>
          </a:p>
          <a:p>
            <a:pPr algn="l">
              <a:spcBef>
                <a:spcPts val="25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(166 routes)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560320"/>
            <a:ext cx="1298448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950">
                <a:solidFill>
                  <a:srgbClr val="0F172A"/>
                </a:solidFill>
                <a:latin typeface="Arial"/>
              </a:defRPr>
            </a:pPr>
            <a:r>
              <a:t>2. Scanners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Lockfile audit (1,795 pkgs) &amp; static AST parse.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72967" y="3035808"/>
            <a:ext cx="118872" cy="0"/>
          </a:xfrm>
          <a:prstGeom prst="line">
            <a:avLst/>
          </a:prstGeom>
          <a:ln w="190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874519" y="3611880"/>
            <a:ext cx="1298448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00">
                <a:solidFill>
                  <a:srgbClr val="0F172A"/>
                </a:solidFill>
                <a:latin typeface="Arial"/>
              </a:defRPr>
            </a:pPr>
            <a:r>
              <a:t>Output Artifact:</a:t>
            </a:r>
          </a:p>
          <a:p>
            <a:pPr algn="l">
              <a:spcBef>
                <a:spcPts val="20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npm-audit.json</a:t>
            </a:r>
          </a:p>
          <a:p>
            <a:pPr algn="l">
              <a:spcBef>
                <a:spcPts val="25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(28 advisories)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560320"/>
            <a:ext cx="1298448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950">
                <a:solidFill>
                  <a:srgbClr val="0F172A"/>
                </a:solidFill>
                <a:latin typeface="Arial"/>
              </a:defRPr>
            </a:pPr>
            <a:r>
              <a:t>3. Safe PoC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5 non-destructive local proof checks.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90288" y="3035808"/>
            <a:ext cx="118872" cy="0"/>
          </a:xfrm>
          <a:prstGeom prst="line">
            <a:avLst/>
          </a:prstGeom>
          <a:ln w="190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91840" y="3611880"/>
            <a:ext cx="1298448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00">
                <a:solidFill>
                  <a:srgbClr val="0F172A"/>
                </a:solidFill>
                <a:latin typeface="Arial"/>
              </a:defRPr>
            </a:pPr>
            <a:r>
              <a:t>Output Artifact:</a:t>
            </a:r>
          </a:p>
          <a:p>
            <a:pPr algn="l">
              <a:spcBef>
                <a:spcPts val="20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evidence/*.txt</a:t>
            </a:r>
          </a:p>
          <a:p>
            <a:pPr algn="l">
              <a:spcBef>
                <a:spcPts val="25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(5 proof files)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560320"/>
            <a:ext cx="1298448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950">
                <a:solidFill>
                  <a:srgbClr val="0F172A"/>
                </a:solidFill>
                <a:latin typeface="Arial"/>
              </a:defRPr>
            </a:pPr>
            <a:r>
              <a:t>4. Correlate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Deduplicate, map CWE to OWASP, CVSS 3.1.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7608" y="3035808"/>
            <a:ext cx="118872" cy="0"/>
          </a:xfrm>
          <a:prstGeom prst="line">
            <a:avLst/>
          </a:prstGeom>
          <a:ln w="1905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709160" y="3611880"/>
            <a:ext cx="1298448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00">
                <a:solidFill>
                  <a:srgbClr val="0F172A"/>
                </a:solidFill>
                <a:latin typeface="Arial"/>
              </a:defRPr>
            </a:pPr>
            <a:r>
              <a:t>Output Artifact:</a:t>
            </a:r>
          </a:p>
          <a:p>
            <a:pPr algn="l">
              <a:spcBef>
                <a:spcPts val="20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findings.json</a:t>
            </a:r>
          </a:p>
          <a:p>
            <a:pPr algn="l">
              <a:spcBef>
                <a:spcPts val="25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(12 flaws)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560320"/>
            <a:ext cx="1298448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950">
                <a:solidFill>
                  <a:srgbClr val="0F172A"/>
                </a:solidFill>
                <a:latin typeface="Arial"/>
              </a:defRPr>
            </a:pPr>
            <a:r>
              <a:t>5. Report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Publication PDF, interactive HTML, JSON.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611880"/>
            <a:ext cx="1298448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00">
                <a:solidFill>
                  <a:srgbClr val="0F172A"/>
                </a:solidFill>
                <a:latin typeface="Arial"/>
              </a:defRPr>
            </a:pPr>
            <a:r>
              <a:t>Output Artifact:</a:t>
            </a:r>
          </a:p>
          <a:p>
            <a:pPr algn="l">
              <a:spcBef>
                <a:spcPts val="20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report.pdf</a:t>
            </a:r>
          </a:p>
          <a:p>
            <a:pPr algn="l">
              <a:spcBef>
                <a:spcPts val="250"/>
              </a:spcBef>
              <a:defRPr b="0" sz="750">
                <a:solidFill>
                  <a:srgbClr val="475569"/>
                </a:solidFill>
                <a:latin typeface="Arial"/>
              </a:defRPr>
            </a:pPr>
            <a:r>
              <a:t>HTML &amp; MD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4343400"/>
          <a:ext cx="694944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2377440"/>
              </a:tblGrid>
              <a:tr h="33832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Vulnerability (Statically Verified)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CVSS 3.1 &amp; Evidence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Fail-Open Rate Limiter Degradation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CWE-770 | OWASP A04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B45309"/>
                          </a:solidFill>
                          <a:latin typeface="Arial"/>
                        </a:defRPr>
                      </a:pPr>
                      <a:r>
                        <a:t>7.5 High - Redis timeout returns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Trusted Types innerHTML Bypass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CWE-79 | OWASP A03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6.1 Med - 357 call sites use placeholder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SSRF DNS Rebinding in MCP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CWE-918 | OWASP A10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6.3 Med - Edge fetch socket unpinned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Prompt Injection Regex Bypass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CWE-20 | LLM01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6.5 Med - English-only blocklist bypass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589520" y="1143000"/>
            <a:ext cx="4160520" cy="489204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00">
                <a:solidFill>
                  <a:srgbClr val="0F172A"/>
                </a:solidFill>
                <a:latin typeface="Arial"/>
              </a:defRPr>
            </a:pPr>
            <a:r>
              <a:t>ENDPOINT EXPOSURE (166 TOTAL)</a:t>
            </a:r>
          </a:p>
          <a:p>
            <a:pPr algn="l">
              <a:spcBef>
                <a:spcPts val="200"/>
              </a:spcBef>
              <a:defRPr b="0" sz="850">
                <a:solidFill>
                  <a:srgbClr val="475569"/>
                </a:solidFill>
                <a:latin typeface="Arial"/>
              </a:defRPr>
            </a:pPr>
            <a:r>
              <a:t>82% of edge endpoints operate without authentication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475569"/>
                </a:solidFill>
                <a:latin typeface="Arial"/>
              </a:defRPr>
            </a:pPr>
            <a:r>
              <a:t>Source: argus/out/endpoints.csv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7772400" y="1965960"/>
          <a:ext cx="3794760" cy="292608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772400" y="4983480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950">
                <a:solidFill>
                  <a:srgbClr val="1E3A8A"/>
                </a:solidFill>
                <a:latin typeface="Arial"/>
              </a:defRPr>
            </a:pPr>
            <a:r>
              <a:t>Key Exposure Takeaway: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137 out of 166 Vercel Edge API routes handle public telemetry, RSS feeds, and market data without session tokens or API keys, requiring strict rate limiters and payload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b="1" sz="1400">
                <a:solidFill>
                  <a:srgbClr val="1E3A8A"/>
                </a:solidFill>
                <a:latin typeface="Arial"/>
              </a:defRPr>
            </a:pPr>
            <a:r>
              <a:t>Unified normalization and two-signal correlation eliminate scanner noise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E3A8A"/>
                </a:solidFill>
                <a:latin typeface="Arial"/>
              </a:defRPr>
            </a:pPr>
            <a:r>
              <a:t>Inspection Method to Deliverable Mapping 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17320"/>
          <a:ext cx="6400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377440"/>
                <a:gridCol w="219456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Pipeline Stage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Inspection Method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Deliverable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Endpoint Recon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AST Route &amp; Param 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endpoints.csv (166 routes)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Dependency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Lockfile checksum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npm-audit.json (28 advisories)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Code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Static AST &amp; regex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evidence/*.txt (5 proof 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Pydantic v2 deduplication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findings.json (12 flaws)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WeasyPrint &amp; template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report.pdf, report.html,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3611880"/>
            <a:ext cx="640080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00">
                <a:solidFill>
                  <a:srgbClr val="0F172A"/>
                </a:solidFill>
                <a:latin typeface="Arial"/>
              </a:defRPr>
            </a:pPr>
            <a:r>
              <a:t>SAFE VERIFICATION RULES &amp; ETHICAL GUARDRAILS</a:t>
            </a:r>
          </a:p>
          <a:p>
            <a:pPr algn="l">
              <a:spcBef>
                <a:spcPts val="20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Localhost Sandbox Only: Testing is executed exclusively against a locally hosted copy of World Monitor; zero packets are transmitted to production worldmonitor.app.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Zero Denial-of-Service Payloads: Tests evaluate conditional code branches and error states without flooding threads or exhausting host resources.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Zero Data Extraction: Probes do not extract, store, or log sensitive user records or external intelligence feeds.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Canary Marker Verification: Automated checks use non-harmful synthetic marker strings to confirm pattern execution safely.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43000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E3A8A"/>
                </a:solidFill>
                <a:latin typeface="Arial"/>
              </a:defRPr>
            </a:pPr>
            <a:r>
              <a:t>Correlation &amp; Triage Logic Flow (Flow B) 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417320"/>
            <a:ext cx="46634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1. Raw Finding: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Normalizes to schema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892808"/>
            <a:ext cx="46634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2. Group (CWE, Comp):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Groups advisories by package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368296"/>
            <a:ext cx="46634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3. Confidence Gate: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Assigns High if evidence file exists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843784"/>
            <a:ext cx="46634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4. CVSS 3.1 Scoring: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FIRST base vector &amp; score calculated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3319272"/>
            <a:ext cx="46634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5. Correlated Finding: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Output to findings.json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086600" y="3977639"/>
          <a:ext cx="4663440" cy="205740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65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b="1" sz="1400">
                <a:solidFill>
                  <a:srgbClr val="1E3A8A"/>
                </a:solidFill>
                <a:latin typeface="Arial"/>
              </a:defRPr>
            </a:pPr>
            <a:r>
              <a:t>Lightweight open-source architecture operates without external dependencies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25400">
            <a:solidFill>
              <a:srgbClr val="1B365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48640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00">
                <a:solidFill>
                  <a:srgbClr val="1E3A8A"/>
                </a:solidFill>
                <a:latin typeface="Arial"/>
              </a:defRPr>
            </a:pPr>
            <a:r>
              <a:t>BUILT AND WORKING TODAY (MEASURABLE FACTS)</a:t>
            </a:r>
          </a:p>
          <a:p>
            <a:pPr algn="l">
              <a:spcBef>
                <a:spcPts val="20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Single-Command Execution: Entire pipeline completes in 6.5 seconds end-to-end.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166-Route Inventory: AST parser maps 137 public and 29 authenticated edge routes.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12 Scored Vulnerabilities: Every finding carries a FIRST CVSS 3.1 base score.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5 Statically Verified Evidence Files: Detailed code-level proofs written in evidence/*.txt.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Multi-Format Reporting: Auto-generates publication PDF, HTML, Markdown, and JSON.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57784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00">
                <a:solidFill>
                  <a:srgbClr val="0F172A"/>
                </a:solidFill>
                <a:latin typeface="Arial"/>
              </a:defRPr>
            </a:pPr>
            <a:r>
              <a:t>RISK MITIGATION &amp; OPEN-SOURCE RESOURCES</a:t>
            </a:r>
          </a:p>
          <a:p>
            <a:pPr algn="l">
              <a:spcBef>
                <a:spcPts val="20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False Positives: Every code finding requires an evidence file and static code verification.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Edge Runtime Limits: AST parsers specifically handle Next.js edge and Tauri Rust IPC paths.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Tool Version Drift: Lockfile checksum pinning and pinned container environments.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Runtime Safety: Statically verified checks only; runtime exploit payloads are prohibited.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Required Resources: Python 3.11+, Node 20+, Docker. All open-source ($0 licensing cost).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E3A8A"/>
                </a:solidFill>
                <a:latin typeface="Arial"/>
              </a:defRPr>
            </a:pPr>
            <a:r>
              <a:t>Safe-PoC Decision Flow (Flow D)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4864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1. Candidate Finding: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Ingested from static code audit or lockfile advisory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41648"/>
            <a:ext cx="54864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2. Static Code Verification: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AST/regex checks pattern; drops finding if pattern absent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17136"/>
            <a:ext cx="54864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3. Local Sandbox Gate: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Verifies target is localhost; aborts if external host detected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92624"/>
            <a:ext cx="54864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4. Safe Execution Probe: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Executes non-destructive canary check without DoS or data leak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68112"/>
            <a:ext cx="548640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50">
                <a:solidFill>
                  <a:srgbClr val="0F172A"/>
                </a:solidFill>
                <a:latin typeface="Arial"/>
              </a:defRPr>
            </a:pPr>
            <a:r>
              <a:t>5. Evidence File &amp; Report: 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Writes evidence file and includes finding in final scored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91840"/>
            <a:ext cx="5577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1E3A8A"/>
                </a:solidFill>
                <a:latin typeface="Arial"/>
              </a:defRPr>
            </a:pPr>
            <a:r>
              <a:t>Phased Engineering Roadmap (Flow E) 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566160"/>
            <a:ext cx="55778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900">
                <a:solidFill>
                  <a:srgbClr val="1E3A8A"/>
                </a:solidFill>
                <a:latin typeface="Arial"/>
              </a:defRPr>
            </a:pPr>
            <a:r>
              <a:t>PHASE 1: NOW (Built &amp; Working Today)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166 route recon • npm audit SCA • 5 statically verified findings • CVSS 3.1 scoring • PDF/HTML/JSON reports.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370832"/>
            <a:ext cx="55778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900">
                <a:solidFill>
                  <a:srgbClr val="0F172A"/>
                </a:solidFill>
                <a:latin typeface="Arial"/>
              </a:defRPr>
            </a:pPr>
            <a:r>
              <a:t>PHASE 2: NEXT (Integrated Next)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Integrate Semgrep SAST rules • Gitleaks secret detection • OSV database • ZAP/Nuclei DAST • Playwright replay.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5175504"/>
            <a:ext cx="5577840" cy="713232"/>
          </a:xfrm>
          <a:prstGeom prst="rect">
            <a:avLst/>
          </a:prstGeom>
          <a:solidFill>
            <a:srgbClr val="FFFFFF"/>
          </a:solidFill>
          <a:ln w="1524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900">
                <a:solidFill>
                  <a:srgbClr val="0F172A"/>
                </a:solidFill>
                <a:latin typeface="Arial"/>
              </a:defRPr>
            </a:pPr>
            <a:r>
              <a:t>PHASE 3: LATER (Enterprise Operations)</a:t>
            </a:r>
          </a:p>
          <a:p>
            <a:pPr algn="l">
              <a:spcBef>
                <a:spcPts val="200"/>
              </a:spcBef>
              <a:defRPr b="0" sz="800">
                <a:solidFill>
                  <a:srgbClr val="475569"/>
                </a:solidFill>
                <a:latin typeface="Arial"/>
              </a:defRPr>
            </a:pPr>
            <a:r>
              <a:t>GitHub Actions CI/CD SARIF gate • Pre-commit security hooks • Declarative YAML to scan any similar web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b="1" sz="1400">
                <a:solidFill>
                  <a:srgbClr val="1E3A8A"/>
                </a:solidFill>
                <a:latin typeface="Arial"/>
              </a:defRPr>
            </a:pPr>
            <a:r>
              <a:t>Automated triage replaces manual review while preserving audit trails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36576" tIns="18288" rIns="36576" bIns="18288" rtlCol="0" anchor="ctr"/>
          <a:lstStyle/>
          <a:p>
            <a:pPr algn="r" indent="0" marL="0">
              <a:buNone/>
              <a:defRPr sz="1200">
                <a:solidFill>
                  <a:srgbClr val="94A3B8"/>
                </a:solidFill>
              </a:defRPr>
            </a:pPr>
            <a:r>
              <a:t>5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623560" cy="21488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00">
                <a:solidFill>
                  <a:srgbClr val="1E3A8A"/>
                </a:solidFill>
                <a:latin typeface="Arial"/>
              </a:defRPr>
            </a:pPr>
            <a:r>
              <a:t>STAKEHOLDER OUTCOMES &amp; RISK EXPOSURE</a:t>
            </a:r>
          </a:p>
          <a:p>
            <a:pPr algn="l">
              <a:spcBef>
                <a:spcPts val="200"/>
              </a:spcBef>
              <a:defRPr b="0" sz="819">
                <a:solidFill>
                  <a:srgbClr val="0F172A"/>
                </a:solidFill>
                <a:latin typeface="Arial"/>
              </a:defRPr>
            </a:pPr>
            <a:r>
              <a:t>• Security Teams: Raw scanner noise reduced to 12 scored findings; replaces hours of manual triage with a 6.5-second automated scan.</a:t>
            </a:r>
          </a:p>
          <a:p>
            <a:pPr algn="l">
              <a:spcBef>
                <a:spcPts val="250"/>
              </a:spcBef>
              <a:defRPr b="0" sz="819">
                <a:solidFill>
                  <a:srgbClr val="0F172A"/>
                </a:solidFill>
                <a:latin typeface="Arial"/>
              </a:defRPr>
            </a:pPr>
            <a:r>
              <a:t>• Developers: Each finding provides exact file, line number, CVSS 3.1 vector, and actionable remediation diffs (such as DOMPurify integration).</a:t>
            </a:r>
          </a:p>
          <a:p>
            <a:pPr algn="l">
              <a:spcBef>
                <a:spcPts val="250"/>
              </a:spcBef>
              <a:defRPr b="0" sz="819">
                <a:solidFill>
                  <a:srgbClr val="0F172A"/>
                </a:solidFill>
                <a:latin typeface="Arial"/>
              </a:defRPr>
            </a:pPr>
            <a:r>
              <a:t>• NTRO Reviewers: Repeatable, local, non-destructive assessment with an audit trail, using zero production data.</a:t>
            </a:r>
          </a:p>
          <a:p>
            <a:pPr algn="l">
              <a:spcBef>
                <a:spcPts val="250"/>
              </a:spcBef>
              <a:defRPr b="0" sz="819">
                <a:solidFill>
                  <a:srgbClr val="0F172A"/>
                </a:solidFill>
                <a:latin typeface="Arial"/>
              </a:defRPr>
            </a:pPr>
            <a:r>
              <a:t>• Top Unfixed Flaws:</a:t>
            </a:r>
          </a:p>
          <a:p>
            <a:pPr algn="l">
              <a:spcBef>
                <a:spcPts val="250"/>
              </a:spcBef>
              <a:defRPr b="0" sz="819">
                <a:solidFill>
                  <a:srgbClr val="475569"/>
                </a:solidFill>
                <a:latin typeface="Arial"/>
              </a:defRPr>
            </a:pPr>
            <a:r>
              <a:t>- Fail-Open Rate Limiter (CVSS 7.5): Redis outage permits unmetered requests, risking upstream API quota exhaustion.</a:t>
            </a:r>
          </a:p>
          <a:p>
            <a:pPr algn="l">
              <a:spcBef>
                <a:spcPts val="250"/>
              </a:spcBef>
              <a:defRPr b="0" sz="819">
                <a:solidFill>
                  <a:srgbClr val="475569"/>
                </a:solidFill>
                <a:latin typeface="Arial"/>
              </a:defRPr>
            </a:pPr>
            <a:r>
              <a:t>- Trusted Types Bypass (CVSS 6.1): 357 call sites use placeholder reason, risking DOM script injection from feeds.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5623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1E3A8A"/>
                </a:solidFill>
                <a:latin typeface="Arial"/>
              </a:defRPr>
            </a:pPr>
            <a:r>
              <a:t>Operational Comparison: Manual Review vs ARGUS 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657600"/>
          <a:ext cx="56235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011680"/>
                <a:gridCol w="2011680"/>
              </a:tblGrid>
              <a:tr h="310896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ARGUS Engine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Execution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4 to 8 hours per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6.5 seconds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Route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Sampled or inconsistent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100% of 166 Edge routes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Repeatability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Subjective, operator-dependent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Deterministic across runs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Evidence Capture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475569"/>
                          </a:solidFill>
                          <a:latin typeface="Arial"/>
                        </a:defRPr>
                      </a:pPr>
                      <a:r>
                        <a:t>Manual notes and screenshots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6534"/>
                          </a:solidFill>
                          <a:latin typeface="Arial"/>
                        </a:defRPr>
                      </a:pPr>
                      <a:r>
                        <a:t>Evidence files with line numbers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303520"/>
            <a:ext cx="562356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800">
                <a:solidFill>
                  <a:srgbClr val="0F172A"/>
                </a:solidFill>
                <a:latin typeface="Arial"/>
              </a:defRPr>
            </a:pPr>
            <a:r>
              <a:t>findings.json (Schema Sample) :</a:t>
            </a:r>
          </a:p>
          <a:p>
            <a:pPr algn="l">
              <a:spcBef>
                <a:spcPts val="200"/>
              </a:spcBef>
              <a:defRPr b="0" sz="700">
                <a:solidFill>
                  <a:srgbClr val="475569"/>
                </a:solidFill>
                <a:latin typeface="Arial"/>
              </a:defRPr>
            </a:pPr>
            <a:r>
              <a:t>{"id": "ARGUS-CONFIRMED-009", "cwe": "CWE-770", "severity": "High", "cvss_score": 7.5, "component": "api/_rate-limit.js", "evidence_paths": ["api/_rate-limit.js:52 catch block returns null"]}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309360" y="1143000"/>
          <a:ext cx="5440680" cy="201168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309360" y="3291840"/>
          <a:ext cx="5440680" cy="2788920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600200" cy="9144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274320" y="18288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defRPr b="1" sz="1400">
                <a:solidFill>
                  <a:srgbClr val="1E3A8A"/>
                </a:solidFill>
                <a:latin typeface="Arial"/>
              </a:defRPr>
            </a:pPr>
            <a:r>
              <a:t>Standards-aligned assessment grounded in established security frameworks</a:t>
            </a:r>
            <a:endParaRPr lang="en-US" sz="2600" dirty="0"/>
          </a:p>
        </p:txBody>
      </p:sp>
      <p:pic>
        <p:nvPicPr>
          <p:cNvPr id="5" name="Image 0" descr="/home/claude/tpl/logo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18872"/>
            <a:ext cx="2103120" cy="98572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28232"/>
            <a:ext cx="12191695" cy="429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2743200" y="6428232"/>
            <a:ext cx="67025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SIH26163  |  ARGUS  |  NTRO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28232"/>
            <a:ext cx="576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48640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50">
                <a:solidFill>
                  <a:srgbClr val="1E3A8A"/>
                </a:solidFill>
                <a:latin typeface="Arial"/>
              </a:defRPr>
            </a:pPr>
            <a:r>
              <a:t>SECURITY BENCHMARKS &amp; TAXONOMIES</a:t>
            </a:r>
          </a:p>
          <a:p>
            <a:pPr algn="l">
              <a:spcBef>
                <a:spcPts val="20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OWASP Foundation. (2021). OWASP Top 10:2021 - The Ten Most Critical Web Application Security Risks. (Categories A03, A04, A07, A10).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OWASP GenAI Security Project. (2023). OWASP Top 10 for Large Language Model Applications. (Category LLM01: Prompt Injection).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MITRE Corporation. (2024). Common Weakness Enumeration. (CWE-20, CWE-79, CWE-269, CWE-770, CWE-918).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FIRST. (2019). Common Vulnerability Scoring System v3.1: Specification Document. Forum of Incident Response and Security Teams.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577840" cy="347472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50">
                <a:solidFill>
                  <a:srgbClr val="0F172A"/>
                </a:solidFill>
                <a:latin typeface="Arial"/>
              </a:defRPr>
            </a:pPr>
            <a:r>
              <a:t>TARGET REPOSITORY &amp; RUNTIME DOCUMENTATION</a:t>
            </a:r>
          </a:p>
          <a:p>
            <a:pPr algn="l">
              <a:spcBef>
                <a:spcPts val="20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World Monitor Project. (2026). SECURITY.md: Security Policy, Attack Surface, and Known Limitations. (Acknowledged SSRF rebinding residual).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National Vulnerability Database. (2026). NIST NVD Common Vulnerabilities and Exposures (CVE) Database.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Vercel Inc. (2025). Edge Runtime Specification and Fetch API Limitations.</a:t>
            </a:r>
          </a:p>
          <a:p>
            <a:pPr algn="l">
              <a:spcBef>
                <a:spcPts val="250"/>
              </a:spcBef>
              <a:defRPr b="0" sz="850">
                <a:solidFill>
                  <a:srgbClr val="0F172A"/>
                </a:solidFill>
                <a:latin typeface="Arial"/>
              </a:defRPr>
            </a:pPr>
            <a:r>
              <a:t>• Tauri Project. (2025). Tauri 2.0 Security Architecture and Inter-Process Communication (IPC).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11292840" cy="1325880"/>
          </a:xfrm>
          <a:prstGeom prst="rect">
            <a:avLst/>
          </a:prstGeom>
          <a:solidFill>
            <a:srgbClr val="F8FAFC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l">
              <a:defRPr b="1" sz="1000">
                <a:solidFill>
                  <a:srgbClr val="0F172A"/>
                </a:solidFill>
                <a:latin typeface="Arial"/>
              </a:defRPr>
            </a:pPr>
            <a:r>
              <a:t>STRICT ETHICAL GUARDRAILS &amp; RULES OF ENGAGEMENT</a:t>
            </a:r>
          </a:p>
          <a:p>
            <a:pPr algn="l">
              <a:spcBef>
                <a:spcPts val="200"/>
              </a:spcBef>
              <a:defRPr b="0" sz="850">
                <a:solidFill>
                  <a:srgbClr val="475569"/>
                </a:solidFill>
                <a:latin typeface="Arial"/>
              </a:defRPr>
            </a:pPr>
            <a:r>
              <a:t>All security testing was executed strictly on an authorized, locally self-hosted sandbox instance (localhost:3000) using seeded test data. Zero active probing, scanning, or exploitation was conducted against production 'worldmonitor.app' or external upstream services. All 5 developed verification scripts are non-destructive and limited strictly to existence validation. Fully compliant with NTRO guidelines, Indian IT Act (Sections 43 and 66), and responsible vulnerability disclosure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ARGUS - SIH26163 Idea Submission</dc:title>
  <dc:subject>PptxGenJS Presentation</dc:subject>
  <dc:creator>PptxGenJS</dc:creator>
  <cp:lastModifiedBy>PptxGenJS</cp:lastModifiedBy>
  <cp:revision>1</cp:revision>
  <dcterms:created xsi:type="dcterms:W3CDTF">2026-09-28T21:06:06Z</dcterms:created>
  <dcterms:modified xsi:type="dcterms:W3CDTF">2026-09-28T21:06:06Z</dcterms:modified>
</cp:coreProperties>
</file>