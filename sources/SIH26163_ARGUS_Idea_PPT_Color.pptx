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page. Replace [Team ID] and [Team Name] with the values on the SIH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why this matters and PS scope coverage. Middle: the 4-stage ARGUS flow. Right: what makes it different. Bottom: a preview risk landscape — bars will be replaced with real severities once scans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diagram at top, then a flow chart of the 8-step methodology (scope gate stops anything not local/authorized; findings need two confirming signals before a PoC). The right box lists the concrete tools per layer and the four components, matching the reference template style.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Feasibility/Viability/Challenges/Use-cases as icon bullet lines, matching the reference template style. Roadmap is a chevron flow instead of a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split by audience and benefit type as icon bullet lines. Scalability path and the 8 mandatory report fields are shown as diagrams (flow + numbered badges) instead of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 support tool choices, correlation design and the OWASP/CWE/CVSS standards used throughout.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FAE"/>
          </a:solidFill>
          <a:ln w="12700">
            <a:solidFill>
              <a:srgbClr val="1B5FA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INDIA HACKATHON 2026</a:t>
            </a:r>
            <a:endParaRPr lang="en-US" sz="3400" dirty="0"/>
          </a:p>
        </p:txBody>
      </p:sp>
      <p:pic>
        <p:nvPicPr>
          <p:cNvPr id="4" name="Image 0" descr="/home/claude/tpl/logo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82880"/>
            <a:ext cx="2103120" cy="98572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371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F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 PAGE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2176272"/>
            <a:ext cx="100584" cy="100584"/>
          </a:xfrm>
          <a:prstGeom prst="ellipse">
            <a:avLst/>
          </a:prstGeom>
          <a:solidFill>
            <a:srgbClr val="1B5FAE"/>
          </a:solidFill>
          <a:ln w="12700">
            <a:solidFill>
              <a:srgbClr val="1B5FA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0574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Title- </a:t>
            </a:r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Assessment of the World Monitor Application (SIH26163)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48640" y="2907792"/>
            <a:ext cx="100584" cy="100584"/>
          </a:xfrm>
          <a:prstGeom prst="ellipse">
            <a:avLst/>
          </a:prstGeom>
          <a:solidFill>
            <a:srgbClr val="1B5FAE"/>
          </a:solidFill>
          <a:ln w="12700">
            <a:solidFill>
              <a:srgbClr val="1B5FA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27889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Theme- </a:t>
            </a:r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Automation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548640" y="3502152"/>
            <a:ext cx="100584" cy="100584"/>
          </a:xfrm>
          <a:prstGeom prst="ellipse">
            <a:avLst/>
          </a:prstGeom>
          <a:solidFill>
            <a:srgbClr val="1B5FAE"/>
          </a:solidFill>
          <a:ln w="12700">
            <a:solidFill>
              <a:srgbClr val="1B5FA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33832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Category- </a:t>
            </a:r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548640" y="4096512"/>
            <a:ext cx="100584" cy="100584"/>
          </a:xfrm>
          <a:prstGeom prst="ellipse">
            <a:avLst/>
          </a:prstGeom>
          <a:solidFill>
            <a:srgbClr val="1B5FAE"/>
          </a:solidFill>
          <a:ln w="12700">
            <a:solidFill>
              <a:srgbClr val="1B5FA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39776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ID- </a:t>
            </a:r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ID]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548640" y="4690872"/>
            <a:ext cx="100584" cy="100584"/>
          </a:xfrm>
          <a:prstGeom prst="ellipse">
            <a:avLst/>
          </a:prstGeom>
          <a:solidFill>
            <a:srgbClr val="1B5FAE"/>
          </a:solidFill>
          <a:ln w="12700">
            <a:solidFill>
              <a:srgbClr val="1B5FA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45720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(Registered on portal)- </a:t>
            </a:r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</a:t>
            </a:r>
            <a:endParaRPr lang="en-US" sz="1900" dirty="0"/>
          </a:p>
        </p:txBody>
      </p:sp>
      <p:pic>
        <p:nvPicPr>
          <p:cNvPr id="16" name="Image 1" descr="/home/claude/tpl/bulb_col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1965960"/>
            <a:ext cx="2788920" cy="3099585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" y="5532120"/>
            <a:ext cx="7863840" cy="658368"/>
          </a:xfrm>
          <a:prstGeom prst="rect">
            <a:avLst/>
          </a:prstGeom>
          <a:solidFill>
            <a:srgbClr val="0E2A4A"/>
          </a:solidFill>
          <a:ln w="12700">
            <a:solidFill>
              <a:srgbClr val="0E2A4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48640" y="5532120"/>
            <a:ext cx="7863840" cy="658368"/>
          </a:xfrm>
          <a:prstGeom prst="rect">
            <a:avLst/>
          </a:prstGeom>
          <a:noFill/>
          <a:ln/>
        </p:spPr>
        <p:txBody>
          <a:bodyPr wrap="square" lIns="139700" tIns="139700" rIns="139700" bIns="13970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 </a:t>
            </a:r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ARGUS — Automated Risk &amp; Vulnerability Unified Scanner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600200" cy="914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1828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164592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ARGUS: Risk &amp; Vulnerability Unified Scanner</a:t>
            </a:r>
            <a:endParaRPr lang="en-US" sz="2200" dirty="0"/>
          </a:p>
        </p:txBody>
      </p:sp>
      <p:pic>
        <p:nvPicPr>
          <p:cNvPr id="5" name="Image 0" descr="/home/claude/tpl/logo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18872"/>
            <a:ext cx="2103120" cy="98572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1B5FAE"/>
          </a:solidFill>
          <a:ln w="12700">
            <a:solidFill>
              <a:srgbClr val="1B5FA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743200" y="6428232"/>
            <a:ext cx="6702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SIH26163  |  ARGUS  |  NTRO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155680" y="6428232"/>
            <a:ext cx="576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1B5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Solution: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157276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pipeline that scans a locally hosted World Monitor, cross-confirms findings across tools, scores them with CVSS 3.1, proves them with a safe PoC, and recommends fixes.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19202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Addressing the Problem :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231136"/>
            <a:ext cx="320040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8368" y="2395728"/>
            <a:ext cx="279806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all 7 PS scope areas: auth, access control, input validation, API, client-side, comms, data privacy.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NTRO evidence-backed findings (CVSS, PoC, business impact) instead of a manual one-off audit.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scan runs only on a local, self-hosted copy — never a production system.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3950208" y="19202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Flow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950208" y="2231136"/>
            <a:ext cx="4297680" cy="566928"/>
          </a:xfrm>
          <a:prstGeom prst="roundRect">
            <a:avLst>
              <a:gd name="adj" fmla="val 16129"/>
            </a:avLst>
          </a:prstGeom>
          <a:solidFill>
            <a:srgbClr val="1B5FAE"/>
          </a:solidFill>
          <a:ln w="12700">
            <a:solidFill>
              <a:srgbClr val="1B5FA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059936" y="230428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2404872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663440" y="22768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4663440" y="25328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· DAST · API</a:t>
            </a:r>
            <a:endParaRPr lang="en-US" sz="880" dirty="0"/>
          </a:p>
        </p:txBody>
      </p:sp>
      <p:sp>
        <p:nvSpPr>
          <p:cNvPr id="20" name="Shape 16"/>
          <p:cNvSpPr/>
          <p:nvPr/>
        </p:nvSpPr>
        <p:spPr>
          <a:xfrm>
            <a:off x="6099048" y="2807208"/>
            <a:ext cx="0" cy="13716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3950208" y="2953512"/>
            <a:ext cx="4297680" cy="566928"/>
          </a:xfrm>
          <a:prstGeom prst="roundRect">
            <a:avLst>
              <a:gd name="adj" fmla="val 16129"/>
            </a:avLst>
          </a:prstGeom>
          <a:solidFill>
            <a:srgbClr val="E8792A"/>
          </a:solidFill>
          <a:ln w="12700">
            <a:solidFill>
              <a:srgbClr val="E8792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059936" y="302666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3127248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663440" y="2999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</a:t>
            </a:r>
            <a:endParaRPr lang="en-US" sz="1250" dirty="0"/>
          </a:p>
        </p:txBody>
      </p:sp>
      <p:sp>
        <p:nvSpPr>
          <p:cNvPr id="25" name="Text 20"/>
          <p:cNvSpPr txBox="1"/>
          <p:nvPr/>
        </p:nvSpPr>
        <p:spPr>
          <a:xfrm>
            <a:off x="4663440" y="32552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OWASP/CWE · CVSS</a:t>
            </a:r>
            <a:endParaRPr lang="en-US" sz="880" dirty="0"/>
          </a:p>
        </p:txBody>
      </p:sp>
      <p:sp>
        <p:nvSpPr>
          <p:cNvPr id="26" name="Shape 21"/>
          <p:cNvSpPr/>
          <p:nvPr/>
        </p:nvSpPr>
        <p:spPr>
          <a:xfrm>
            <a:off x="6099048" y="3529584"/>
            <a:ext cx="0" cy="13716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3950208" y="3675888"/>
            <a:ext cx="4297680" cy="566928"/>
          </a:xfrm>
          <a:prstGeom prst="roundRect">
            <a:avLst>
              <a:gd name="adj" fmla="val 16129"/>
            </a:avLst>
          </a:prstGeom>
          <a:solidFill>
            <a:srgbClr val="139488"/>
          </a:solidFill>
          <a:ln w="12700">
            <a:solidFill>
              <a:srgbClr val="139488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059936" y="374904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3849624"/>
            <a:ext cx="219456" cy="219456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663440" y="3721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</a:t>
            </a:r>
            <a:endParaRPr lang="en-US" sz="1250" dirty="0"/>
          </a:p>
        </p:txBody>
      </p:sp>
      <p:sp>
        <p:nvSpPr>
          <p:cNvPr id="31" name="Text 25"/>
          <p:cNvSpPr txBox="1"/>
          <p:nvPr/>
        </p:nvSpPr>
        <p:spPr>
          <a:xfrm>
            <a:off x="4663440" y="397764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PoC + evidence</a:t>
            </a:r>
            <a:endParaRPr lang="en-US" sz="880" dirty="0"/>
          </a:p>
        </p:txBody>
      </p:sp>
      <p:sp>
        <p:nvSpPr>
          <p:cNvPr id="32" name="Shape 26"/>
          <p:cNvSpPr/>
          <p:nvPr/>
        </p:nvSpPr>
        <p:spPr>
          <a:xfrm>
            <a:off x="6099048" y="4251960"/>
            <a:ext cx="0" cy="13716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33" name="Shape 27"/>
          <p:cNvSpPr/>
          <p:nvPr/>
        </p:nvSpPr>
        <p:spPr>
          <a:xfrm>
            <a:off x="3950208" y="4398264"/>
            <a:ext cx="4297680" cy="566928"/>
          </a:xfrm>
          <a:prstGeom prst="roundRect">
            <a:avLst>
              <a:gd name="adj" fmla="val 16129"/>
            </a:avLst>
          </a:prstGeom>
          <a:solidFill>
            <a:srgbClr val="0E2A4A"/>
          </a:solidFill>
          <a:ln w="12700">
            <a:solidFill>
              <a:srgbClr val="0E2A4A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4059936" y="4471416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520" y="4572000"/>
            <a:ext cx="219456" cy="219456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4663440" y="4443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Remediate</a:t>
            </a:r>
            <a:endParaRPr lang="en-US" sz="1250" dirty="0"/>
          </a:p>
        </p:txBody>
      </p:sp>
      <p:sp>
        <p:nvSpPr>
          <p:cNvPr id="37" name="Text 30"/>
          <p:cNvSpPr txBox="1"/>
          <p:nvPr/>
        </p:nvSpPr>
        <p:spPr>
          <a:xfrm>
            <a:off x="4663440" y="470001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+ re-scan</a:t>
            </a:r>
            <a:endParaRPr lang="en-US" sz="880" dirty="0"/>
          </a:p>
        </p:txBody>
      </p:sp>
      <p:sp>
        <p:nvSpPr>
          <p:cNvPr id="38" name="Text 31"/>
          <p:cNvSpPr txBox="1"/>
          <p:nvPr/>
        </p:nvSpPr>
        <p:spPr>
          <a:xfrm>
            <a:off x="8458200" y="192024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Overview :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8458200" y="2231136"/>
            <a:ext cx="324612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8613648" y="2276856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Cross-tool confirmation ranks findings by confidence.</a:t>
            </a:r>
            <a:endParaRPr lang="en-US" sz="920" dirty="0"/>
          </a:p>
        </p:txBody>
      </p:sp>
      <p:sp>
        <p:nvSpPr>
          <p:cNvPr id="41" name="Shape 34"/>
          <p:cNvSpPr/>
          <p:nvPr/>
        </p:nvSpPr>
        <p:spPr>
          <a:xfrm>
            <a:off x="8458200" y="2953512"/>
            <a:ext cx="324612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8613648" y="2999232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Attack-surface graph links endpoints &amp; trust boundaries.</a:t>
            </a:r>
            <a:endParaRPr lang="en-US" sz="920" dirty="0"/>
          </a:p>
        </p:txBody>
      </p:sp>
      <p:sp>
        <p:nvSpPr>
          <p:cNvPr id="43" name="Shape 36"/>
          <p:cNvSpPr/>
          <p:nvPr/>
        </p:nvSpPr>
        <p:spPr>
          <a:xfrm>
            <a:off x="8458200" y="3675888"/>
            <a:ext cx="324612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8613648" y="3721608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ASVS posture diff shows what improved on re-scan.</a:t>
            </a:r>
            <a:endParaRPr lang="en-US" sz="920" dirty="0"/>
          </a:p>
        </p:txBody>
      </p:sp>
      <p:sp>
        <p:nvSpPr>
          <p:cNvPr id="45" name="Shape 38"/>
          <p:cNvSpPr/>
          <p:nvPr/>
        </p:nvSpPr>
        <p:spPr>
          <a:xfrm>
            <a:off x="8458200" y="4398264"/>
            <a:ext cx="324612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8613648" y="4443984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OWASP LLM Top-10 checks for AI summary features.</a:t>
            </a:r>
            <a:endParaRPr lang="en-US" sz="920" dirty="0"/>
          </a:p>
        </p:txBody>
      </p:sp>
      <p:sp>
        <p:nvSpPr>
          <p:cNvPr id="47" name="Text 40"/>
          <p:cNvSpPr txBox="1"/>
          <p:nvPr/>
        </p:nvSpPr>
        <p:spPr>
          <a:xfrm>
            <a:off x="457200" y="53492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Vulnerability Landscape (to be confirmed by scanning)</a:t>
            </a:r>
            <a:endParaRPr lang="en-US" sz="1400" dirty="0"/>
          </a:p>
        </p:txBody>
      </p:sp>
      <p:sp>
        <p:nvSpPr>
          <p:cNvPr id="48" name="Text 41"/>
          <p:cNvSpPr txBox="1"/>
          <p:nvPr/>
        </p:nvSpPr>
        <p:spPr>
          <a:xfrm>
            <a:off x="457200" y="5669280"/>
            <a:ext cx="21488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SSRF via URL-fetching functions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2651760" y="5719572"/>
            <a:ext cx="5212080" cy="59436"/>
          </a:xfrm>
          <a:prstGeom prst="rect">
            <a:avLst/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2651760" y="5719572"/>
            <a:ext cx="4690872" cy="59436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51" name="Text 44"/>
          <p:cNvSpPr txBox="1"/>
          <p:nvPr/>
        </p:nvSpPr>
        <p:spPr>
          <a:xfrm>
            <a:off x="7909560" y="5669280"/>
            <a:ext cx="8229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52" name="Text 45"/>
          <p:cNvSpPr txBox="1"/>
          <p:nvPr/>
        </p:nvSpPr>
        <p:spPr>
          <a:xfrm>
            <a:off x="457200" y="5856732"/>
            <a:ext cx="21488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XSS from feed content</a:t>
            </a:r>
            <a:endParaRPr lang="en-US" sz="900" dirty="0"/>
          </a:p>
        </p:txBody>
      </p:sp>
      <p:sp>
        <p:nvSpPr>
          <p:cNvPr id="53" name="Shape 46"/>
          <p:cNvSpPr/>
          <p:nvPr/>
        </p:nvSpPr>
        <p:spPr>
          <a:xfrm>
            <a:off x="2651760" y="5907024"/>
            <a:ext cx="5212080" cy="59436"/>
          </a:xfrm>
          <a:prstGeom prst="rect">
            <a:avLst/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sp>
        <p:nvSpPr>
          <p:cNvPr id="54" name="Shape 47"/>
          <p:cNvSpPr/>
          <p:nvPr/>
        </p:nvSpPr>
        <p:spPr>
          <a:xfrm>
            <a:off x="2651760" y="5907024"/>
            <a:ext cx="4065422" cy="59436"/>
          </a:xfrm>
          <a:prstGeom prst="rect">
            <a:avLst/>
          </a:prstGeom>
          <a:solidFill>
            <a:srgbClr val="E8792A"/>
          </a:solidFill>
          <a:ln w="12700">
            <a:solidFill>
              <a:srgbClr val="E8792A"/>
            </a:solidFill>
            <a:prstDash val="solid"/>
          </a:ln>
        </p:spPr>
      </p:sp>
      <p:sp>
        <p:nvSpPr>
          <p:cNvPr id="55" name="Text 48"/>
          <p:cNvSpPr txBox="1"/>
          <p:nvPr/>
        </p:nvSpPr>
        <p:spPr>
          <a:xfrm>
            <a:off x="7909560" y="5856732"/>
            <a:ext cx="8229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7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Med-High</a:t>
            </a:r>
            <a:endParaRPr lang="en-US" sz="850" dirty="0"/>
          </a:p>
        </p:txBody>
      </p:sp>
      <p:sp>
        <p:nvSpPr>
          <p:cNvPr id="56" name="Text 49"/>
          <p:cNvSpPr txBox="1"/>
          <p:nvPr/>
        </p:nvSpPr>
        <p:spPr>
          <a:xfrm>
            <a:off x="457200" y="6044184"/>
            <a:ext cx="21488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API rate limiting</a:t>
            </a:r>
            <a:endParaRPr lang="en-US" sz="900" dirty="0"/>
          </a:p>
        </p:txBody>
      </p:sp>
      <p:sp>
        <p:nvSpPr>
          <p:cNvPr id="57" name="Shape 50"/>
          <p:cNvSpPr/>
          <p:nvPr/>
        </p:nvSpPr>
        <p:spPr>
          <a:xfrm>
            <a:off x="2651760" y="6094476"/>
            <a:ext cx="5212080" cy="59436"/>
          </a:xfrm>
          <a:prstGeom prst="rect">
            <a:avLst/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sp>
        <p:nvSpPr>
          <p:cNvPr id="58" name="Shape 51"/>
          <p:cNvSpPr/>
          <p:nvPr/>
        </p:nvSpPr>
        <p:spPr>
          <a:xfrm>
            <a:off x="2651760" y="6094476"/>
            <a:ext cx="2866644" cy="59436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59" name="Text 52"/>
          <p:cNvSpPr txBox="1"/>
          <p:nvPr/>
        </p:nvSpPr>
        <p:spPr>
          <a:xfrm>
            <a:off x="7909560" y="6044184"/>
            <a:ext cx="8229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60" name="Text 53"/>
          <p:cNvSpPr txBox="1"/>
          <p:nvPr/>
        </p:nvSpPr>
        <p:spPr>
          <a:xfrm>
            <a:off x="457200" y="6231636"/>
            <a:ext cx="21488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CORS / headers</a:t>
            </a:r>
            <a:endParaRPr lang="en-US" sz="900" dirty="0"/>
          </a:p>
        </p:txBody>
      </p:sp>
      <p:sp>
        <p:nvSpPr>
          <p:cNvPr id="61" name="Shape 54"/>
          <p:cNvSpPr/>
          <p:nvPr/>
        </p:nvSpPr>
        <p:spPr>
          <a:xfrm>
            <a:off x="2651760" y="6281928"/>
            <a:ext cx="5212080" cy="59436"/>
          </a:xfrm>
          <a:prstGeom prst="rect">
            <a:avLst/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sp>
        <p:nvSpPr>
          <p:cNvPr id="62" name="Shape 55"/>
          <p:cNvSpPr/>
          <p:nvPr/>
        </p:nvSpPr>
        <p:spPr>
          <a:xfrm>
            <a:off x="2651760" y="6281928"/>
            <a:ext cx="1824228" cy="59436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3" name="Text 56"/>
          <p:cNvSpPr txBox="1"/>
          <p:nvPr/>
        </p:nvSpPr>
        <p:spPr>
          <a:xfrm>
            <a:off x="7909560" y="6231636"/>
            <a:ext cx="8229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600200" cy="914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1828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164592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2600" dirty="0"/>
          </a:p>
        </p:txBody>
      </p:sp>
      <p:pic>
        <p:nvPicPr>
          <p:cNvPr id="5" name="Image 0" descr="/home/claude/tpl/logo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18872"/>
            <a:ext cx="2103120" cy="98572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1B5FAE"/>
          </a:solidFill>
          <a:ln w="12700">
            <a:solidFill>
              <a:srgbClr val="1B5FA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743200" y="6428232"/>
            <a:ext cx="6702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SIH26163  |  ARGUS  |  NTRO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155680" y="6428232"/>
            <a:ext cx="576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234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Diagram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1572768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1B5FAE"/>
          </a:solidFill>
          <a:ln w="12700">
            <a:solidFill>
              <a:srgbClr val="1B5FA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5216" y="170078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792224"/>
            <a:ext cx="237744" cy="2377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78992" y="16459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603504" y="208483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Monitor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(self-hosted, localhost)</a:t>
            </a:r>
            <a:endParaRPr lang="en-US" sz="830" dirty="0"/>
          </a:p>
        </p:txBody>
      </p:sp>
      <p:sp>
        <p:nvSpPr>
          <p:cNvPr id="15" name="Shape 11"/>
          <p:cNvSpPr/>
          <p:nvPr/>
        </p:nvSpPr>
        <p:spPr>
          <a:xfrm>
            <a:off x="2624328" y="2093976"/>
            <a:ext cx="164592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2788920" y="1572768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E8792A"/>
          </a:solidFill>
          <a:ln w="12700">
            <a:solidFill>
              <a:srgbClr val="E8792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916936" y="170078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376" y="1792224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410712" y="16459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Engines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2935224" y="208483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Semgrep · ZAP · Nuclei · Gitleaks</a:t>
            </a:r>
            <a:endParaRPr lang="en-US" sz="830" dirty="0"/>
          </a:p>
        </p:txBody>
      </p:sp>
      <p:sp>
        <p:nvSpPr>
          <p:cNvPr id="21" name="Shape 16"/>
          <p:cNvSpPr/>
          <p:nvPr/>
        </p:nvSpPr>
        <p:spPr>
          <a:xfrm>
            <a:off x="4956048" y="2093976"/>
            <a:ext cx="164592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5120640" y="1572768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0E2A4A"/>
          </a:solidFill>
          <a:ln w="12700">
            <a:solidFill>
              <a:srgbClr val="0E2A4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248656" y="170078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096" y="1792224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742432" y="16459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Engine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5266944" y="208483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 · OWASP/CWE · CVSS</a:t>
            </a:r>
            <a:endParaRPr lang="en-US" sz="830" dirty="0"/>
          </a:p>
        </p:txBody>
      </p:sp>
      <p:sp>
        <p:nvSpPr>
          <p:cNvPr id="27" name="Shape 21"/>
          <p:cNvSpPr/>
          <p:nvPr/>
        </p:nvSpPr>
        <p:spPr>
          <a:xfrm>
            <a:off x="7287768" y="2093976"/>
            <a:ext cx="164592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7452360" y="1572768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139488"/>
          </a:solidFill>
          <a:ln w="12700">
            <a:solidFill>
              <a:srgbClr val="13948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580376" y="170078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1816" y="1792224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8074152" y="16459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150" dirty="0"/>
          </a:p>
        </p:txBody>
      </p:sp>
      <p:sp>
        <p:nvSpPr>
          <p:cNvPr id="32" name="Text 25"/>
          <p:cNvSpPr txBox="1"/>
          <p:nvPr/>
        </p:nvSpPr>
        <p:spPr>
          <a:xfrm>
            <a:off x="7598664" y="208483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PDF · JSON/SARIF</a:t>
            </a:r>
            <a:endParaRPr lang="en-US" sz="830" dirty="0"/>
          </a:p>
        </p:txBody>
      </p:sp>
      <p:sp>
        <p:nvSpPr>
          <p:cNvPr id="33" name="Text 26"/>
          <p:cNvSpPr txBox="1"/>
          <p:nvPr/>
        </p:nvSpPr>
        <p:spPr>
          <a:xfrm>
            <a:off x="457200" y="2743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Scanners feed the correlation engine, which normalises, deduplicates, cross-confirms and scores results before packaging outputs with evidence.</a:t>
            </a:r>
            <a:endParaRPr lang="en-US" sz="950" dirty="0"/>
          </a:p>
        </p:txBody>
      </p:sp>
      <p:sp>
        <p:nvSpPr>
          <p:cNvPr id="34" name="Text 27"/>
          <p:cNvSpPr txBox="1"/>
          <p:nvPr/>
        </p:nvSpPr>
        <p:spPr>
          <a:xfrm>
            <a:off x="457200" y="31272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&amp; Process (flow chart)</a:t>
            </a:r>
            <a:endParaRPr lang="en-US" sz="1400" dirty="0"/>
          </a:p>
        </p:txBody>
      </p:sp>
      <p:sp>
        <p:nvSpPr>
          <p:cNvPr id="35" name="Shape 28"/>
          <p:cNvSpPr/>
          <p:nvPr/>
        </p:nvSpPr>
        <p:spPr>
          <a:xfrm>
            <a:off x="457200" y="3456432"/>
            <a:ext cx="1234440" cy="777240"/>
          </a:xfrm>
          <a:prstGeom prst="diamond">
            <a:avLst>
              <a:gd name="adj" fmla="val 9412"/>
            </a:avLst>
          </a:prstGeom>
          <a:solidFill>
            <a:srgbClr val="E8792A"/>
          </a:solidFill>
          <a:ln w="12700">
            <a:solidFill>
              <a:srgbClr val="E8792A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640080" y="36027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Gate</a:t>
            </a:r>
            <a:endParaRPr lang="en-US" sz="830" dirty="0"/>
          </a:p>
        </p:txBody>
      </p:sp>
      <p:sp>
        <p:nvSpPr>
          <p:cNvPr id="37" name="Text 30"/>
          <p:cNvSpPr txBox="1"/>
          <p:nvPr/>
        </p:nvSpPr>
        <p:spPr>
          <a:xfrm>
            <a:off x="640080" y="3840480"/>
            <a:ext cx="868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&amp;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authorized?</a:t>
            </a:r>
            <a:endParaRPr lang="en-US" sz="700" dirty="0"/>
          </a:p>
        </p:txBody>
      </p:sp>
      <p:sp>
        <p:nvSpPr>
          <p:cNvPr id="38" name="Shape 31"/>
          <p:cNvSpPr/>
          <p:nvPr/>
        </p:nvSpPr>
        <p:spPr>
          <a:xfrm>
            <a:off x="1874520" y="3456432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1B5FAE"/>
          </a:solidFill>
          <a:ln w="12700">
            <a:solidFill>
              <a:srgbClr val="1B5FAE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1947672" y="3511296"/>
            <a:ext cx="108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Recon</a:t>
            </a:r>
            <a:endParaRPr lang="en-US" sz="950" dirty="0"/>
          </a:p>
        </p:txBody>
      </p:sp>
      <p:sp>
        <p:nvSpPr>
          <p:cNvPr id="40" name="Text 33"/>
          <p:cNvSpPr txBox="1"/>
          <p:nvPr/>
        </p:nvSpPr>
        <p:spPr>
          <a:xfrm>
            <a:off x="1947672" y="3749040"/>
            <a:ext cx="10881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attack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760" dirty="0"/>
          </a:p>
        </p:txBody>
      </p:sp>
      <p:sp>
        <p:nvSpPr>
          <p:cNvPr id="41" name="Shape 34"/>
          <p:cNvSpPr/>
          <p:nvPr/>
        </p:nvSpPr>
        <p:spPr>
          <a:xfrm>
            <a:off x="3291840" y="3456432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1B5FAE"/>
          </a:solidFill>
          <a:ln w="12700">
            <a:solidFill>
              <a:srgbClr val="1B5FAE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3364992" y="3511296"/>
            <a:ext cx="108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Scan</a:t>
            </a:r>
            <a:endParaRPr lang="en-US" sz="950" dirty="0"/>
          </a:p>
        </p:txBody>
      </p:sp>
      <p:sp>
        <p:nvSpPr>
          <p:cNvPr id="43" name="Text 36"/>
          <p:cNvSpPr txBox="1"/>
          <p:nvPr/>
        </p:nvSpPr>
        <p:spPr>
          <a:xfrm>
            <a:off x="3364992" y="3749040"/>
            <a:ext cx="10881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SAST+DAST+API</a:t>
            </a:r>
            <a:endParaRPr lang="en-US" sz="760" dirty="0"/>
          </a:p>
        </p:txBody>
      </p:sp>
      <p:sp>
        <p:nvSpPr>
          <p:cNvPr id="44" name="Shape 37"/>
          <p:cNvSpPr/>
          <p:nvPr/>
        </p:nvSpPr>
        <p:spPr>
          <a:xfrm>
            <a:off x="4709160" y="3456432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0E2A4A"/>
          </a:solidFill>
          <a:ln w="12700">
            <a:solidFill>
              <a:srgbClr val="0E2A4A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4782312" y="3511296"/>
            <a:ext cx="108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Correlate</a:t>
            </a:r>
            <a:endParaRPr lang="en-US" sz="950" dirty="0"/>
          </a:p>
        </p:txBody>
      </p:sp>
      <p:sp>
        <p:nvSpPr>
          <p:cNvPr id="46" name="Text 39"/>
          <p:cNvSpPr txBox="1"/>
          <p:nvPr/>
        </p:nvSpPr>
        <p:spPr>
          <a:xfrm>
            <a:off x="4782312" y="3749040"/>
            <a:ext cx="10881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Dedupe, map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OWASP/CWE</a:t>
            </a:r>
            <a:endParaRPr lang="en-US" sz="760" dirty="0"/>
          </a:p>
        </p:txBody>
      </p:sp>
      <p:sp>
        <p:nvSpPr>
          <p:cNvPr id="47" name="Shape 40"/>
          <p:cNvSpPr/>
          <p:nvPr/>
        </p:nvSpPr>
        <p:spPr>
          <a:xfrm>
            <a:off x="1709928" y="3840480"/>
            <a:ext cx="137160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48" name="Shape 41"/>
          <p:cNvSpPr/>
          <p:nvPr/>
        </p:nvSpPr>
        <p:spPr>
          <a:xfrm>
            <a:off x="3127248" y="3840480"/>
            <a:ext cx="137160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49" name="Shape 42"/>
          <p:cNvSpPr/>
          <p:nvPr/>
        </p:nvSpPr>
        <p:spPr>
          <a:xfrm>
            <a:off x="4544568" y="3840480"/>
            <a:ext cx="137160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50" name="Shape 43"/>
          <p:cNvSpPr/>
          <p:nvPr/>
        </p:nvSpPr>
        <p:spPr>
          <a:xfrm>
            <a:off x="5326380" y="4251960"/>
            <a:ext cx="0" cy="384048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51" name="Shape 44"/>
          <p:cNvSpPr/>
          <p:nvPr/>
        </p:nvSpPr>
        <p:spPr>
          <a:xfrm>
            <a:off x="4709160" y="4709160"/>
            <a:ext cx="1234440" cy="777240"/>
          </a:xfrm>
          <a:prstGeom prst="diamond">
            <a:avLst>
              <a:gd name="adj" fmla="val 9412"/>
            </a:avLst>
          </a:prstGeom>
          <a:solidFill>
            <a:srgbClr val="E8792A"/>
          </a:solidFill>
          <a:ln w="12700">
            <a:solidFill>
              <a:srgbClr val="E8792A"/>
            </a:solidFill>
            <a:prstDash val="solid"/>
          </a:ln>
        </p:spPr>
      </p:sp>
      <p:sp>
        <p:nvSpPr>
          <p:cNvPr id="52" name="Text 45"/>
          <p:cNvSpPr txBox="1"/>
          <p:nvPr/>
        </p:nvSpPr>
        <p:spPr>
          <a:xfrm>
            <a:off x="4892040" y="485546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</a:t>
            </a:r>
            <a:endParaRPr lang="en-US" sz="830" dirty="0"/>
          </a:p>
        </p:txBody>
      </p:sp>
      <p:sp>
        <p:nvSpPr>
          <p:cNvPr id="53" name="Text 46"/>
          <p:cNvSpPr txBox="1"/>
          <p:nvPr/>
        </p:nvSpPr>
        <p:spPr>
          <a:xfrm>
            <a:off x="4892040" y="5093208"/>
            <a:ext cx="868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signals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agree?</a:t>
            </a:r>
            <a:endParaRPr lang="en-US" sz="700" dirty="0"/>
          </a:p>
        </p:txBody>
      </p:sp>
      <p:sp>
        <p:nvSpPr>
          <p:cNvPr id="54" name="Shape 47"/>
          <p:cNvSpPr/>
          <p:nvPr/>
        </p:nvSpPr>
        <p:spPr>
          <a:xfrm>
            <a:off x="3291840" y="470916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1B5FAE"/>
          </a:solidFill>
          <a:ln w="12700">
            <a:solidFill>
              <a:srgbClr val="1B5FAE"/>
            </a:solidFill>
            <a:prstDash val="solid"/>
          </a:ln>
        </p:spPr>
      </p:sp>
      <p:sp>
        <p:nvSpPr>
          <p:cNvPr id="55" name="Text 48"/>
          <p:cNvSpPr txBox="1"/>
          <p:nvPr/>
        </p:nvSpPr>
        <p:spPr>
          <a:xfrm>
            <a:off x="3364992" y="4764024"/>
            <a:ext cx="108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Prove</a:t>
            </a:r>
            <a:endParaRPr lang="en-US" sz="950" dirty="0"/>
          </a:p>
        </p:txBody>
      </p:sp>
      <p:sp>
        <p:nvSpPr>
          <p:cNvPr id="56" name="Text 49"/>
          <p:cNvSpPr txBox="1"/>
          <p:nvPr/>
        </p:nvSpPr>
        <p:spPr>
          <a:xfrm>
            <a:off x="3364992" y="5001768"/>
            <a:ext cx="10881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PoC +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760" dirty="0"/>
          </a:p>
        </p:txBody>
      </p:sp>
      <p:sp>
        <p:nvSpPr>
          <p:cNvPr id="57" name="Shape 50"/>
          <p:cNvSpPr/>
          <p:nvPr/>
        </p:nvSpPr>
        <p:spPr>
          <a:xfrm>
            <a:off x="1874520" y="470916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1B5FAE"/>
          </a:solidFill>
          <a:ln w="12700">
            <a:solidFill>
              <a:srgbClr val="1B5FAE"/>
            </a:solidFill>
            <a:prstDash val="solid"/>
          </a:ln>
        </p:spPr>
      </p:sp>
      <p:sp>
        <p:nvSpPr>
          <p:cNvPr id="58" name="Text 51"/>
          <p:cNvSpPr txBox="1"/>
          <p:nvPr/>
        </p:nvSpPr>
        <p:spPr>
          <a:xfrm>
            <a:off x="1947672" y="4764024"/>
            <a:ext cx="108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Score</a:t>
            </a:r>
            <a:endParaRPr lang="en-US" sz="950" dirty="0"/>
          </a:p>
        </p:txBody>
      </p:sp>
      <p:sp>
        <p:nvSpPr>
          <p:cNvPr id="59" name="Text 52"/>
          <p:cNvSpPr txBox="1"/>
          <p:nvPr/>
        </p:nvSpPr>
        <p:spPr>
          <a:xfrm>
            <a:off x="1947672" y="5001768"/>
            <a:ext cx="10881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3.1 +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760" dirty="0"/>
          </a:p>
        </p:txBody>
      </p:sp>
      <p:sp>
        <p:nvSpPr>
          <p:cNvPr id="60" name="Shape 53"/>
          <p:cNvSpPr/>
          <p:nvPr/>
        </p:nvSpPr>
        <p:spPr>
          <a:xfrm>
            <a:off x="457200" y="470916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139488"/>
          </a:solidFill>
          <a:ln w="12700">
            <a:solidFill>
              <a:srgbClr val="139488"/>
            </a:solidFill>
            <a:prstDash val="solid"/>
          </a:ln>
        </p:spPr>
      </p:sp>
      <p:sp>
        <p:nvSpPr>
          <p:cNvPr id="61" name="Text 54"/>
          <p:cNvSpPr txBox="1"/>
          <p:nvPr/>
        </p:nvSpPr>
        <p:spPr>
          <a:xfrm>
            <a:off x="530352" y="4764024"/>
            <a:ext cx="108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Report</a:t>
            </a:r>
            <a:endParaRPr lang="en-US" sz="950" dirty="0"/>
          </a:p>
        </p:txBody>
      </p:sp>
      <p:sp>
        <p:nvSpPr>
          <p:cNvPr id="62" name="Text 55"/>
          <p:cNvSpPr txBox="1"/>
          <p:nvPr/>
        </p:nvSpPr>
        <p:spPr>
          <a:xfrm>
            <a:off x="530352" y="5001768"/>
            <a:ext cx="10881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+ re-scan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760" dirty="0"/>
          </a:p>
        </p:txBody>
      </p:sp>
      <p:sp>
        <p:nvSpPr>
          <p:cNvPr id="63" name="Shape 56"/>
          <p:cNvSpPr/>
          <p:nvPr/>
        </p:nvSpPr>
        <p:spPr>
          <a:xfrm flipH="1">
            <a:off x="1709928" y="5093208"/>
            <a:ext cx="137160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64" name="Shape 57"/>
          <p:cNvSpPr/>
          <p:nvPr/>
        </p:nvSpPr>
        <p:spPr>
          <a:xfrm flipH="1">
            <a:off x="3127248" y="5093208"/>
            <a:ext cx="137160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65" name="Shape 58"/>
          <p:cNvSpPr/>
          <p:nvPr/>
        </p:nvSpPr>
        <p:spPr>
          <a:xfrm flipH="1">
            <a:off x="4544568" y="5093208"/>
            <a:ext cx="137160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66" name="Text 59"/>
          <p:cNvSpPr txBox="1"/>
          <p:nvPr/>
        </p:nvSpPr>
        <p:spPr>
          <a:xfrm>
            <a:off x="457200" y="42519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stop</a:t>
            </a:r>
            <a:endParaRPr lang="en-US" sz="750" dirty="0"/>
          </a:p>
        </p:txBody>
      </p:sp>
      <p:sp>
        <p:nvSpPr>
          <p:cNvPr id="67" name="Text 60"/>
          <p:cNvSpPr txBox="1"/>
          <p:nvPr/>
        </p:nvSpPr>
        <p:spPr>
          <a:xfrm>
            <a:off x="4709160" y="550468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discard</a:t>
            </a:r>
            <a:endParaRPr lang="en-US" sz="750" dirty="0"/>
          </a:p>
        </p:txBody>
      </p:sp>
      <p:sp>
        <p:nvSpPr>
          <p:cNvPr id="68" name="Shape 61"/>
          <p:cNvSpPr/>
          <p:nvPr/>
        </p:nvSpPr>
        <p:spPr>
          <a:xfrm>
            <a:off x="6172200" y="3127248"/>
            <a:ext cx="5577840" cy="3246120"/>
          </a:xfrm>
          <a:prstGeom prst="roundRect">
            <a:avLst>
              <a:gd name="adj" fmla="val 2817"/>
            </a:avLst>
          </a:prstGeom>
          <a:solidFill>
            <a:srgbClr val="EEF2F7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9" name="Text 62"/>
          <p:cNvSpPr txBox="1"/>
          <p:nvPr/>
        </p:nvSpPr>
        <p:spPr>
          <a:xfrm>
            <a:off x="6382512" y="3291840"/>
            <a:ext cx="5166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115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  <a:p>
            <a:pPr marL="152400" indent="-152400"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target: World Monitor source tree + running instance (Docker/npm), no real users</a:t>
            </a:r>
            <a:endParaRPr lang="en-US" sz="1150" dirty="0"/>
          </a:p>
          <a:p>
            <a:pPr marL="152400" indent="-152400"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SAST: Semgrep, Gitleaks, OSV-Scanner across the codebase</a:t>
            </a:r>
            <a:endParaRPr lang="en-US" sz="1150" dirty="0"/>
          </a:p>
          <a:p>
            <a:pPr marL="152400" indent="-152400"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DAST: OWASP ZAP baseline + active scan on localhost</a:t>
            </a:r>
            <a:endParaRPr lang="en-US" sz="1150" dirty="0"/>
          </a:p>
          <a:p>
            <a:pPr marL="152400" indent="-152400"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API/LLM: Nuclei + Playwright abuse tests; prompt-injection probes on AI summaries</a:t>
            </a:r>
            <a:endParaRPr lang="en-US" sz="1150" dirty="0"/>
          </a:p>
          <a:p>
            <a:pPr marL="152400" indent="-152400"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(FastAPI): normalises, dedupes, cross-confirms, maps CWE/OWASP, computes CVSS 3.1</a:t>
            </a:r>
            <a:endParaRPr lang="en-US" sz="1150" dirty="0"/>
          </a:p>
          <a:p>
            <a:pPr indent="0" marL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115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150" dirty="0"/>
          </a:p>
          <a:p>
            <a:pPr marL="152400" indent="-152400"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vault: screenshots, HAR, logs per finding</a:t>
            </a:r>
            <a:endParaRPr lang="en-US" sz="1150" dirty="0"/>
          </a:p>
          <a:p>
            <a:pPr marL="152400" indent="-152400"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builder: Jinja2 + WeasyPrint → PDF; React dashboard for live findings</a:t>
            </a:r>
            <a:endParaRPr lang="en-US" sz="1150" dirty="0"/>
          </a:p>
          <a:p>
            <a:pPr marL="152400" indent="-152400"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SQLite/PostgreSQL for findings + evidence metadata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600200" cy="914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1828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164592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2600" dirty="0"/>
          </a:p>
        </p:txBody>
      </p:sp>
      <p:pic>
        <p:nvPicPr>
          <p:cNvPr id="5" name="Image 0" descr="/home/claude/tpl/logo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18872"/>
            <a:ext cx="2103120" cy="98572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1B5FAE"/>
          </a:solidFill>
          <a:ln w="12700">
            <a:solidFill>
              <a:srgbClr val="1B5FA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743200" y="6428232"/>
            <a:ext cx="6702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SIH26163  |  ARGUS  |  NTRO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155680" y="6428232"/>
            <a:ext cx="576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2070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: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1572768"/>
            <a:ext cx="292608" cy="292608"/>
          </a:xfrm>
          <a:prstGeom prst="ellipse">
            <a:avLst/>
          </a:prstGeom>
          <a:solidFill>
            <a:srgbClr val="1B5FAE"/>
          </a:solidFill>
          <a:ln w="12700">
            <a:solidFill>
              <a:srgbClr val="1B5FA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278" y="1648846"/>
            <a:ext cx="140452" cy="14045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41248" y="1545336"/>
            <a:ext cx="510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Technical:</a:t>
            </a:r>
            <a:pPr indent="0" marL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open-source target, self-hosted; every scanner (ZAP, Semgrep, Nuclei) is free and scriptable.</a:t>
            </a:r>
            <a:endParaRPr lang="en-US" sz="1030" dirty="0"/>
          </a:p>
        </p:txBody>
      </p:sp>
      <p:sp>
        <p:nvSpPr>
          <p:cNvPr id="13" name="Shape 9"/>
          <p:cNvSpPr/>
          <p:nvPr/>
        </p:nvSpPr>
        <p:spPr>
          <a:xfrm>
            <a:off x="457200" y="2194560"/>
            <a:ext cx="292608" cy="292608"/>
          </a:xfrm>
          <a:prstGeom prst="ellipse">
            <a:avLst/>
          </a:prstGeom>
          <a:solidFill>
            <a:srgbClr val="E8792A"/>
          </a:solidFill>
          <a:ln w="12700">
            <a:solidFill>
              <a:srgbClr val="E8792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78" y="2270638"/>
            <a:ext cx="140452" cy="14045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41248" y="2167128"/>
            <a:ext cx="510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Economic:</a:t>
            </a:r>
            <a:pPr indent="0" marL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zero licence cost; automates repetitive manual VAPT work.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457200" y="2816352"/>
            <a:ext cx="292608" cy="292608"/>
          </a:xfrm>
          <a:prstGeom prst="ellipse">
            <a:avLst/>
          </a:prstGeom>
          <a:solidFill>
            <a:srgbClr val="139488"/>
          </a:solidFill>
          <a:ln w="12700">
            <a:solidFill>
              <a:srgbClr val="139488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278" y="2892430"/>
            <a:ext cx="140452" cy="14045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41248" y="2788920"/>
            <a:ext cx="510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Operational:</a:t>
            </a:r>
            <a:pPr indent="0" marL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 docker-compose command reproduces target + pipeline end to end.</a:t>
            </a:r>
            <a:endParaRPr lang="en-US" sz="1030" dirty="0"/>
          </a:p>
        </p:txBody>
      </p:sp>
      <p:sp>
        <p:nvSpPr>
          <p:cNvPr id="19" name="Text 13"/>
          <p:cNvSpPr txBox="1"/>
          <p:nvPr/>
        </p:nvSpPr>
        <p:spPr>
          <a:xfrm>
            <a:off x="457200" y="3611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: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57200" y="3977640"/>
            <a:ext cx="292608" cy="29260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278" y="4053718"/>
            <a:ext cx="140452" cy="14045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41248" y="3950208"/>
            <a:ext cx="510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positives:</a:t>
            </a:r>
            <a:pPr indent="0" marL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scanner noise reduced by two-signal cross-tool confirmation.</a:t>
            </a:r>
            <a:endParaRPr lang="en-US" sz="1030" dirty="0"/>
          </a:p>
        </p:txBody>
      </p:sp>
      <p:sp>
        <p:nvSpPr>
          <p:cNvPr id="23" name="Shape 16"/>
          <p:cNvSpPr/>
          <p:nvPr/>
        </p:nvSpPr>
        <p:spPr>
          <a:xfrm>
            <a:off x="457200" y="4599432"/>
            <a:ext cx="292608" cy="292608"/>
          </a:xfrm>
          <a:prstGeom prst="ellipse">
            <a:avLst/>
          </a:prstGeom>
          <a:solidFill>
            <a:srgbClr val="E8792A"/>
          </a:solidFill>
          <a:ln w="12700">
            <a:solidFill>
              <a:srgbClr val="E8792A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278" y="4675510"/>
            <a:ext cx="140452" cy="140452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841248" y="4572000"/>
            <a:ext cx="510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Threat-model mismatch:</a:t>
            </a:r>
            <a:pPr indent="0" marL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PS assumes roles/BOLA; recon first to match the real self-hosted app.</a:t>
            </a:r>
            <a:endParaRPr lang="en-US" sz="1030" dirty="0"/>
          </a:p>
        </p:txBody>
      </p:sp>
      <p:sp>
        <p:nvSpPr>
          <p:cNvPr id="26" name="Shape 18"/>
          <p:cNvSpPr/>
          <p:nvPr/>
        </p:nvSpPr>
        <p:spPr>
          <a:xfrm>
            <a:off x="457200" y="5221224"/>
            <a:ext cx="292608" cy="292608"/>
          </a:xfrm>
          <a:prstGeom prst="ellipse">
            <a:avLst/>
          </a:prstGeom>
          <a:solidFill>
            <a:srgbClr val="1B5FAE"/>
          </a:solidFill>
          <a:ln w="12700">
            <a:solidFill>
              <a:srgbClr val="1B5FAE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278" y="5297302"/>
            <a:ext cx="140452" cy="140452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41248" y="5193792"/>
            <a:ext cx="510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Safety:</a:t>
            </a:r>
            <a:pPr indent="0" marL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PoCs are localhost-only, non-destructive, allow-listed — never real users or data.</a:t>
            </a:r>
            <a:endParaRPr lang="en-US" sz="1030" dirty="0"/>
          </a:p>
        </p:txBody>
      </p:sp>
      <p:sp>
        <p:nvSpPr>
          <p:cNvPr id="29" name="Text 20"/>
          <p:cNvSpPr txBox="1"/>
          <p:nvPr/>
        </p:nvSpPr>
        <p:spPr>
          <a:xfrm>
            <a:off x="6263640" y="12070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Viability :</a:t>
            </a:r>
            <a:endParaRPr lang="en-US" sz="1400" dirty="0"/>
          </a:p>
        </p:txBody>
      </p:sp>
      <p:sp>
        <p:nvSpPr>
          <p:cNvPr id="30" name="Shape 21"/>
          <p:cNvSpPr/>
          <p:nvPr/>
        </p:nvSpPr>
        <p:spPr>
          <a:xfrm>
            <a:off x="6263640" y="1572768"/>
            <a:ext cx="292608" cy="292608"/>
          </a:xfrm>
          <a:prstGeom prst="ellipse">
            <a:avLst/>
          </a:prstGeom>
          <a:solidFill>
            <a:srgbClr val="1B5FAE"/>
          </a:solidFill>
          <a:ln w="12700">
            <a:solidFill>
              <a:srgbClr val="1B5FAE"/>
            </a:solidFill>
            <a:prstDash val="solid"/>
          </a:ln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9718" y="1648846"/>
            <a:ext cx="140452" cy="14045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6647688" y="1545336"/>
            <a:ext cx="510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need:</a:t>
            </a:r>
            <a:pPr indent="0" marL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organisation with a web app needs repeatable, evidenced VAPT.</a:t>
            </a:r>
            <a:endParaRPr lang="en-US" sz="1030" dirty="0"/>
          </a:p>
        </p:txBody>
      </p:sp>
      <p:sp>
        <p:nvSpPr>
          <p:cNvPr id="33" name="Shape 23"/>
          <p:cNvSpPr/>
          <p:nvPr/>
        </p:nvSpPr>
        <p:spPr>
          <a:xfrm>
            <a:off x="6263640" y="2194560"/>
            <a:ext cx="292608" cy="292608"/>
          </a:xfrm>
          <a:prstGeom prst="ellipse">
            <a:avLst/>
          </a:prstGeom>
          <a:solidFill>
            <a:srgbClr val="139488"/>
          </a:solidFill>
          <a:ln w="12700">
            <a:solidFill>
              <a:srgbClr val="139488"/>
            </a:solidFill>
            <a:prstDash val="solid"/>
          </a:ln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9718" y="2270638"/>
            <a:ext cx="140452" cy="140452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6647688" y="2167128"/>
            <a:ext cx="510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Scalable:</a:t>
            </a:r>
            <a:pPr indent="0" marL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config-driven target means the same pipeline audits any web app.</a:t>
            </a:r>
            <a:endParaRPr lang="en-US" sz="1030" dirty="0"/>
          </a:p>
        </p:txBody>
      </p:sp>
      <p:sp>
        <p:nvSpPr>
          <p:cNvPr id="36" name="Shape 25"/>
          <p:cNvSpPr/>
          <p:nvPr/>
        </p:nvSpPr>
        <p:spPr>
          <a:xfrm>
            <a:off x="6263640" y="2816352"/>
            <a:ext cx="292608" cy="29260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9718" y="2892430"/>
            <a:ext cx="140452" cy="140452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6647688" y="2788920"/>
            <a:ext cx="510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Sustainable:</a:t>
            </a:r>
            <a:pPr indent="0" marL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ASVS posture-diff means the tool improves the app over repeated re-scans.</a:t>
            </a:r>
            <a:endParaRPr lang="en-US" sz="1030" dirty="0"/>
          </a:p>
        </p:txBody>
      </p:sp>
      <p:sp>
        <p:nvSpPr>
          <p:cNvPr id="39" name="Text 27"/>
          <p:cNvSpPr txBox="1"/>
          <p:nvPr/>
        </p:nvSpPr>
        <p:spPr>
          <a:xfrm>
            <a:off x="6263640" y="3611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:</a:t>
            </a:r>
            <a:endParaRPr lang="en-US" sz="1400" dirty="0"/>
          </a:p>
        </p:txBody>
      </p:sp>
      <p:sp>
        <p:nvSpPr>
          <p:cNvPr id="40" name="Shape 28"/>
          <p:cNvSpPr/>
          <p:nvPr/>
        </p:nvSpPr>
        <p:spPr>
          <a:xfrm>
            <a:off x="6263640" y="3977640"/>
            <a:ext cx="292608" cy="29260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39718" y="4053718"/>
            <a:ext cx="140452" cy="140452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6647688" y="395020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triage: evidenced findings the moment a scan completes.</a:t>
            </a:r>
            <a:endParaRPr lang="en-US" sz="1030" dirty="0"/>
          </a:p>
        </p:txBody>
      </p:sp>
      <p:sp>
        <p:nvSpPr>
          <p:cNvPr id="43" name="Shape 30"/>
          <p:cNvSpPr/>
          <p:nvPr/>
        </p:nvSpPr>
        <p:spPr>
          <a:xfrm>
            <a:off x="6263640" y="4599432"/>
            <a:ext cx="292608" cy="29260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4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39718" y="4675510"/>
            <a:ext cx="140452" cy="140452"/>
          </a:xfrm>
          <a:prstGeom prst="rect">
            <a:avLst/>
          </a:prstGeom>
        </p:spPr>
      </p:pic>
      <p:sp>
        <p:nvSpPr>
          <p:cNvPr id="45" name="Text 31"/>
          <p:cNvSpPr txBox="1"/>
          <p:nvPr/>
        </p:nvSpPr>
        <p:spPr>
          <a:xfrm>
            <a:off x="6647688" y="45720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fixing: severity + business impact rank what to patch first.</a:t>
            </a:r>
            <a:endParaRPr lang="en-US" sz="1030" dirty="0"/>
          </a:p>
        </p:txBody>
      </p:sp>
      <p:sp>
        <p:nvSpPr>
          <p:cNvPr id="46" name="Shape 32"/>
          <p:cNvSpPr/>
          <p:nvPr/>
        </p:nvSpPr>
        <p:spPr>
          <a:xfrm>
            <a:off x="6263640" y="5221224"/>
            <a:ext cx="292608" cy="29260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4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39718" y="5297302"/>
            <a:ext cx="140452" cy="140452"/>
          </a:xfrm>
          <a:prstGeom prst="rect">
            <a:avLst/>
          </a:prstGeom>
        </p:spPr>
      </p:pic>
      <p:sp>
        <p:nvSpPr>
          <p:cNvPr id="48" name="Text 33"/>
          <p:cNvSpPr txBox="1"/>
          <p:nvPr/>
        </p:nvSpPr>
        <p:spPr>
          <a:xfrm>
            <a:off x="6647688" y="519379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posture: scheduled re-scans catch regressions early.</a:t>
            </a:r>
            <a:endParaRPr lang="en-US" sz="1030" dirty="0"/>
          </a:p>
        </p:txBody>
      </p:sp>
      <p:sp>
        <p:nvSpPr>
          <p:cNvPr id="49" name="Text 34"/>
          <p:cNvSpPr txBox="1"/>
          <p:nvPr/>
        </p:nvSpPr>
        <p:spPr>
          <a:xfrm>
            <a:off x="457200" y="55321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Roadmap</a:t>
            </a:r>
            <a:endParaRPr lang="en-US" sz="1400" dirty="0"/>
          </a:p>
        </p:txBody>
      </p:sp>
      <p:sp>
        <p:nvSpPr>
          <p:cNvPr id="50" name="Shape 35"/>
          <p:cNvSpPr/>
          <p:nvPr/>
        </p:nvSpPr>
        <p:spPr>
          <a:xfrm>
            <a:off x="457200" y="5870448"/>
            <a:ext cx="2139696" cy="420624"/>
          </a:xfrm>
          <a:prstGeom prst="chevron">
            <a:avLst/>
          </a:prstGeom>
          <a:solidFill>
            <a:srgbClr val="1B5FA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36"/>
          <p:cNvSpPr txBox="1"/>
          <p:nvPr/>
        </p:nvSpPr>
        <p:spPr>
          <a:xfrm>
            <a:off x="841248" y="5870448"/>
            <a:ext cx="163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Recon</a:t>
            </a:r>
            <a:endParaRPr lang="en-US" sz="900" dirty="0"/>
          </a:p>
        </p:txBody>
      </p:sp>
      <p:sp>
        <p:nvSpPr>
          <p:cNvPr id="52" name="Shape 37"/>
          <p:cNvSpPr/>
          <p:nvPr/>
        </p:nvSpPr>
        <p:spPr>
          <a:xfrm>
            <a:off x="2651760" y="5870448"/>
            <a:ext cx="2139696" cy="420624"/>
          </a:xfrm>
          <a:prstGeom prst="chevron">
            <a:avLst/>
          </a:prstGeom>
          <a:solidFill>
            <a:srgbClr val="E879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38"/>
          <p:cNvSpPr txBox="1"/>
          <p:nvPr/>
        </p:nvSpPr>
        <p:spPr>
          <a:xfrm>
            <a:off x="3035808" y="5870448"/>
            <a:ext cx="163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Correlation engine</a:t>
            </a:r>
            <a:endParaRPr lang="en-US" sz="900" dirty="0"/>
          </a:p>
        </p:txBody>
      </p:sp>
      <p:sp>
        <p:nvSpPr>
          <p:cNvPr id="54" name="Shape 39"/>
          <p:cNvSpPr/>
          <p:nvPr/>
        </p:nvSpPr>
        <p:spPr>
          <a:xfrm>
            <a:off x="4846320" y="5870448"/>
            <a:ext cx="2139696" cy="420624"/>
          </a:xfrm>
          <a:prstGeom prst="chevron">
            <a:avLst/>
          </a:prstGeom>
          <a:solidFill>
            <a:srgbClr val="13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40"/>
          <p:cNvSpPr txBox="1"/>
          <p:nvPr/>
        </p:nvSpPr>
        <p:spPr>
          <a:xfrm>
            <a:off x="5230368" y="5870448"/>
            <a:ext cx="163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PoC + CVSS</a:t>
            </a:r>
            <a:endParaRPr lang="en-US" sz="900" dirty="0"/>
          </a:p>
        </p:txBody>
      </p:sp>
      <p:sp>
        <p:nvSpPr>
          <p:cNvPr id="56" name="Shape 41"/>
          <p:cNvSpPr/>
          <p:nvPr/>
        </p:nvSpPr>
        <p:spPr>
          <a:xfrm>
            <a:off x="7040880" y="5870448"/>
            <a:ext cx="2139696" cy="420624"/>
          </a:xfrm>
          <a:prstGeom prst="chevron">
            <a:avLst/>
          </a:prstGeom>
          <a:solidFill>
            <a:srgbClr val="0E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42"/>
          <p:cNvSpPr txBox="1"/>
          <p:nvPr/>
        </p:nvSpPr>
        <p:spPr>
          <a:xfrm>
            <a:off x="7424928" y="5870448"/>
            <a:ext cx="163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Report + dashboard</a:t>
            </a:r>
            <a:endParaRPr lang="en-US" sz="900" dirty="0"/>
          </a:p>
        </p:txBody>
      </p:sp>
      <p:sp>
        <p:nvSpPr>
          <p:cNvPr id="58" name="Shape 43"/>
          <p:cNvSpPr/>
          <p:nvPr/>
        </p:nvSpPr>
        <p:spPr>
          <a:xfrm>
            <a:off x="9235440" y="5870448"/>
            <a:ext cx="2139696" cy="420624"/>
          </a:xfrm>
          <a:prstGeom prst="chevron">
            <a:avLst/>
          </a:prstGeom>
          <a:solidFill>
            <a:srgbClr val="2E8B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44"/>
          <p:cNvSpPr txBox="1"/>
          <p:nvPr/>
        </p:nvSpPr>
        <p:spPr>
          <a:xfrm>
            <a:off x="9619488" y="5870448"/>
            <a:ext cx="163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Demo rehearsal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600200" cy="914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1828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164592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BENEFITS</a:t>
            </a:r>
            <a:endParaRPr lang="en-US" sz="2600" dirty="0"/>
          </a:p>
        </p:txBody>
      </p:sp>
      <p:pic>
        <p:nvPicPr>
          <p:cNvPr id="5" name="Image 0" descr="/home/claude/tpl/logo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18872"/>
            <a:ext cx="2103120" cy="98572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1B5FAE"/>
          </a:solidFill>
          <a:ln w="12700">
            <a:solidFill>
              <a:srgbClr val="1B5FA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743200" y="6428232"/>
            <a:ext cx="6702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SIH26163  |  ARGUS  |  NTRO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155680" y="6428232"/>
            <a:ext cx="576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2070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Benefits :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1572768"/>
            <a:ext cx="292608" cy="292608"/>
          </a:xfrm>
          <a:prstGeom prst="ellipse">
            <a:avLst/>
          </a:prstGeom>
          <a:solidFill>
            <a:srgbClr val="0E2A4A"/>
          </a:solidFill>
          <a:ln w="12700">
            <a:solidFill>
              <a:srgbClr val="0E2A4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278" y="1648846"/>
            <a:ext cx="140452" cy="14045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41248" y="1545336"/>
            <a:ext cx="510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NTRO &amp; agencies:</a:t>
            </a:r>
            <a:pPr indent="0" marL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reusable audit tool for other government-facing applications.</a:t>
            </a:r>
            <a:endParaRPr lang="en-US" sz="1030" dirty="0"/>
          </a:p>
        </p:txBody>
      </p:sp>
      <p:sp>
        <p:nvSpPr>
          <p:cNvPr id="13" name="Shape 9"/>
          <p:cNvSpPr/>
          <p:nvPr/>
        </p:nvSpPr>
        <p:spPr>
          <a:xfrm>
            <a:off x="457200" y="2139696"/>
            <a:ext cx="292608" cy="292608"/>
          </a:xfrm>
          <a:prstGeom prst="ellipse">
            <a:avLst/>
          </a:prstGeom>
          <a:solidFill>
            <a:srgbClr val="1B5FAE"/>
          </a:solidFill>
          <a:ln w="12700">
            <a:solidFill>
              <a:srgbClr val="1B5FAE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78" y="2215774"/>
            <a:ext cx="140452" cy="14045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41248" y="2112264"/>
            <a:ext cx="510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Developers:</a:t>
            </a:r>
            <a:pPr indent="0" marL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prioritised, copy-ready fixes with re-scan proof.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457200" y="2706624"/>
            <a:ext cx="292608" cy="292608"/>
          </a:xfrm>
          <a:prstGeom prst="ellipse">
            <a:avLst/>
          </a:prstGeom>
          <a:solidFill>
            <a:srgbClr val="E8792A"/>
          </a:solidFill>
          <a:ln w="12700">
            <a:solidFill>
              <a:srgbClr val="E8792A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278" y="2782702"/>
            <a:ext cx="140452" cy="14045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41248" y="2679192"/>
            <a:ext cx="510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users:</a:t>
            </a:r>
            <a:pPr indent="0" marL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safer open-source intelligence dashboard.</a:t>
            </a:r>
            <a:endParaRPr lang="en-US" sz="1030" dirty="0"/>
          </a:p>
        </p:txBody>
      </p:sp>
      <p:sp>
        <p:nvSpPr>
          <p:cNvPr id="19" name="Shape 13"/>
          <p:cNvSpPr/>
          <p:nvPr/>
        </p:nvSpPr>
        <p:spPr>
          <a:xfrm>
            <a:off x="457200" y="3273552"/>
            <a:ext cx="292608" cy="29260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278" y="3349630"/>
            <a:ext cx="140452" cy="14045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41248" y="3246120"/>
            <a:ext cx="510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</a:t>
            </a:r>
            <a:pPr indent="0" marL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zero licence fees — fully open-source vs. commercial scanners.</a:t>
            </a:r>
            <a:endParaRPr lang="en-US" sz="1030" dirty="0"/>
          </a:p>
        </p:txBody>
      </p:sp>
      <p:sp>
        <p:nvSpPr>
          <p:cNvPr id="22" name="Text 15"/>
          <p:cNvSpPr txBox="1"/>
          <p:nvPr/>
        </p:nvSpPr>
        <p:spPr>
          <a:xfrm>
            <a:off x="457200" y="37947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: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457200" y="4160520"/>
            <a:ext cx="292608" cy="292608"/>
          </a:xfrm>
          <a:prstGeom prst="ellipse">
            <a:avLst/>
          </a:prstGeom>
          <a:solidFill>
            <a:srgbClr val="139488"/>
          </a:solidFill>
          <a:ln w="12700">
            <a:solidFill>
              <a:srgbClr val="139488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278" y="4236598"/>
            <a:ext cx="140452" cy="140452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841248" y="4133088"/>
            <a:ext cx="510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Social:</a:t>
            </a:r>
            <a:pPr indent="0" marL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raises security awareness; safer public-interest platform.</a:t>
            </a:r>
            <a:endParaRPr lang="en-US" sz="1030" dirty="0"/>
          </a:p>
        </p:txBody>
      </p:sp>
      <p:sp>
        <p:nvSpPr>
          <p:cNvPr id="26" name="Shape 18"/>
          <p:cNvSpPr/>
          <p:nvPr/>
        </p:nvSpPr>
        <p:spPr>
          <a:xfrm>
            <a:off x="457200" y="4727448"/>
            <a:ext cx="292608" cy="29260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278" y="4803526"/>
            <a:ext cx="140452" cy="140452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41248" y="4700016"/>
            <a:ext cx="510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Environmental:</a:t>
            </a:r>
            <a:pPr indent="0" marL="0">
              <a:buNone/>
            </a:pPr>
            <a:r>
              <a:rPr lang="en-US" sz="10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runs locally on existing hardware — no dedicated infrastructure.</a:t>
            </a:r>
            <a:endParaRPr lang="en-US" sz="1030" dirty="0"/>
          </a:p>
        </p:txBody>
      </p:sp>
      <p:sp>
        <p:nvSpPr>
          <p:cNvPr id="29" name="Text 20"/>
          <p:cNvSpPr txBox="1"/>
          <p:nvPr/>
        </p:nvSpPr>
        <p:spPr>
          <a:xfrm>
            <a:off x="6263640" y="12070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Path :</a:t>
            </a:r>
            <a:endParaRPr lang="en-US" sz="1400" dirty="0"/>
          </a:p>
        </p:txBody>
      </p:sp>
      <p:sp>
        <p:nvSpPr>
          <p:cNvPr id="30" name="Shape 21"/>
          <p:cNvSpPr/>
          <p:nvPr/>
        </p:nvSpPr>
        <p:spPr>
          <a:xfrm>
            <a:off x="6263640" y="1572768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B5FAE"/>
          </a:solidFill>
          <a:ln w="12700">
            <a:solidFill>
              <a:srgbClr val="1B5FAE"/>
            </a:solidFill>
            <a:prstDash val="solid"/>
          </a:ln>
        </p:spPr>
      </p:sp>
      <p:sp>
        <p:nvSpPr>
          <p:cNvPr id="31" name="Text 22"/>
          <p:cNvSpPr txBox="1"/>
          <p:nvPr/>
        </p:nvSpPr>
        <p:spPr>
          <a:xfrm>
            <a:off x="6400800" y="162763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00" dirty="0"/>
          </a:p>
        </p:txBody>
      </p:sp>
      <p:sp>
        <p:nvSpPr>
          <p:cNvPr id="32" name="Text 23"/>
          <p:cNvSpPr txBox="1"/>
          <p:nvPr/>
        </p:nvSpPr>
        <p:spPr>
          <a:xfrm>
            <a:off x="6400800" y="181051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Monitor</a:t>
            </a:r>
            <a:endParaRPr lang="en-US" sz="1250" dirty="0"/>
          </a:p>
        </p:txBody>
      </p:sp>
      <p:sp>
        <p:nvSpPr>
          <p:cNvPr id="33" name="Text 24"/>
          <p:cNvSpPr txBox="1"/>
          <p:nvPr/>
        </p:nvSpPr>
        <p:spPr>
          <a:xfrm>
            <a:off x="6400800" y="20482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assessment, reproducible via Docker Compose</a:t>
            </a:r>
            <a:endParaRPr lang="en-US" sz="870" dirty="0"/>
          </a:p>
        </p:txBody>
      </p:sp>
      <p:sp>
        <p:nvSpPr>
          <p:cNvPr id="34" name="Shape 25"/>
          <p:cNvSpPr/>
          <p:nvPr/>
        </p:nvSpPr>
        <p:spPr>
          <a:xfrm>
            <a:off x="9006840" y="2368296"/>
            <a:ext cx="0" cy="118872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35" name="Shape 26"/>
          <p:cNvSpPr/>
          <p:nvPr/>
        </p:nvSpPr>
        <p:spPr>
          <a:xfrm>
            <a:off x="6263640" y="2487168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E8792A"/>
          </a:solidFill>
          <a:ln w="12700">
            <a:solidFill>
              <a:srgbClr val="E8792A"/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6400800" y="254203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6400800" y="272491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web app</a:t>
            </a:r>
            <a:endParaRPr lang="en-US" sz="1250" dirty="0"/>
          </a:p>
        </p:txBody>
      </p:sp>
      <p:sp>
        <p:nvSpPr>
          <p:cNvPr id="38" name="Text 29"/>
          <p:cNvSpPr txBox="1"/>
          <p:nvPr/>
        </p:nvSpPr>
        <p:spPr>
          <a:xfrm>
            <a:off x="6400800" y="29626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 target; CI/CD security gate (GitHub Actions)</a:t>
            </a:r>
            <a:endParaRPr lang="en-US" sz="870" dirty="0"/>
          </a:p>
        </p:txBody>
      </p:sp>
      <p:sp>
        <p:nvSpPr>
          <p:cNvPr id="39" name="Shape 30"/>
          <p:cNvSpPr/>
          <p:nvPr/>
        </p:nvSpPr>
        <p:spPr>
          <a:xfrm>
            <a:off x="9006840" y="3282696"/>
            <a:ext cx="0" cy="118872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40" name="Shape 31"/>
          <p:cNvSpPr/>
          <p:nvPr/>
        </p:nvSpPr>
        <p:spPr>
          <a:xfrm>
            <a:off x="6263640" y="3401568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0E2A4A"/>
          </a:solidFill>
          <a:ln w="12700">
            <a:solidFill>
              <a:srgbClr val="0E2A4A"/>
            </a:solidFill>
            <a:prstDash val="solid"/>
          </a:ln>
        </p:spPr>
      </p:sp>
      <p:sp>
        <p:nvSpPr>
          <p:cNvPr id="41" name="Text 32"/>
          <p:cNvSpPr txBox="1"/>
          <p:nvPr/>
        </p:nvSpPr>
        <p:spPr>
          <a:xfrm>
            <a:off x="6400800" y="345643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900" dirty="0"/>
          </a:p>
        </p:txBody>
      </p:sp>
      <p:sp>
        <p:nvSpPr>
          <p:cNvPr id="42" name="Text 33"/>
          <p:cNvSpPr txBox="1"/>
          <p:nvPr/>
        </p:nvSpPr>
        <p:spPr>
          <a:xfrm>
            <a:off x="6400800" y="363931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posture</a:t>
            </a:r>
            <a:endParaRPr lang="en-US" sz="1250" dirty="0"/>
          </a:p>
        </p:txBody>
      </p:sp>
      <p:sp>
        <p:nvSpPr>
          <p:cNvPr id="43" name="Text 34"/>
          <p:cNvSpPr txBox="1"/>
          <p:nvPr/>
        </p:nvSpPr>
        <p:spPr>
          <a:xfrm>
            <a:off x="6400800" y="38770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re-scans, multi-target queue, ASVS drift alerts</a:t>
            </a:r>
            <a:endParaRPr lang="en-US" sz="870" dirty="0"/>
          </a:p>
        </p:txBody>
      </p:sp>
      <p:sp>
        <p:nvSpPr>
          <p:cNvPr id="44" name="Text 35"/>
          <p:cNvSpPr txBox="1"/>
          <p:nvPr/>
        </p:nvSpPr>
        <p:spPr>
          <a:xfrm>
            <a:off x="6263640" y="44348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per Vulnerability (8 required fields) :</a:t>
            </a:r>
            <a:endParaRPr lang="en-US" sz="1400" dirty="0"/>
          </a:p>
        </p:txBody>
      </p:sp>
      <p:sp>
        <p:nvSpPr>
          <p:cNvPr id="45" name="Shape 36"/>
          <p:cNvSpPr/>
          <p:nvPr/>
        </p:nvSpPr>
        <p:spPr>
          <a:xfrm>
            <a:off x="6263640" y="4800600"/>
            <a:ext cx="384048" cy="384048"/>
          </a:xfrm>
          <a:prstGeom prst="ellipse">
            <a:avLst/>
          </a:prstGeom>
          <a:solidFill>
            <a:srgbClr val="1B5FAE"/>
          </a:solidFill>
          <a:ln w="12700">
            <a:solidFill>
              <a:srgbClr val="1B5FAE"/>
            </a:solidFill>
            <a:prstDash val="solid"/>
          </a:ln>
        </p:spPr>
      </p:sp>
      <p:sp>
        <p:nvSpPr>
          <p:cNvPr id="46" name="Text 37"/>
          <p:cNvSpPr txBox="1"/>
          <p:nvPr/>
        </p:nvSpPr>
        <p:spPr>
          <a:xfrm>
            <a:off x="6263640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7" name="Text 38"/>
          <p:cNvSpPr txBox="1"/>
          <p:nvPr/>
        </p:nvSpPr>
        <p:spPr>
          <a:xfrm>
            <a:off x="6172200" y="520293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760" dirty="0"/>
          </a:p>
        </p:txBody>
      </p:sp>
      <p:sp>
        <p:nvSpPr>
          <p:cNvPr id="48" name="Shape 39"/>
          <p:cNvSpPr/>
          <p:nvPr/>
        </p:nvSpPr>
        <p:spPr>
          <a:xfrm>
            <a:off x="7644384" y="4800600"/>
            <a:ext cx="384048" cy="384048"/>
          </a:xfrm>
          <a:prstGeom prst="ellipse">
            <a:avLst/>
          </a:prstGeom>
          <a:solidFill>
            <a:srgbClr val="E8792A"/>
          </a:solidFill>
          <a:ln w="12700">
            <a:solidFill>
              <a:srgbClr val="E8792A"/>
            </a:solidFill>
            <a:prstDash val="solid"/>
          </a:ln>
        </p:spPr>
      </p:sp>
      <p:sp>
        <p:nvSpPr>
          <p:cNvPr id="49" name="Text 40"/>
          <p:cNvSpPr txBox="1"/>
          <p:nvPr/>
        </p:nvSpPr>
        <p:spPr>
          <a:xfrm>
            <a:off x="7644384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50" name="Text 41"/>
          <p:cNvSpPr txBox="1"/>
          <p:nvPr/>
        </p:nvSpPr>
        <p:spPr>
          <a:xfrm>
            <a:off x="7552944" y="520293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760" dirty="0"/>
          </a:p>
        </p:txBody>
      </p:sp>
      <p:sp>
        <p:nvSpPr>
          <p:cNvPr id="51" name="Shape 42"/>
          <p:cNvSpPr/>
          <p:nvPr/>
        </p:nvSpPr>
        <p:spPr>
          <a:xfrm>
            <a:off x="9025128" y="4800600"/>
            <a:ext cx="384048" cy="384048"/>
          </a:xfrm>
          <a:prstGeom prst="ellipse">
            <a:avLst/>
          </a:prstGeom>
          <a:solidFill>
            <a:srgbClr val="139488"/>
          </a:solidFill>
          <a:ln w="12700">
            <a:solidFill>
              <a:srgbClr val="139488"/>
            </a:solidFill>
            <a:prstDash val="solid"/>
          </a:ln>
        </p:spPr>
      </p:sp>
      <p:sp>
        <p:nvSpPr>
          <p:cNvPr id="52" name="Text 43"/>
          <p:cNvSpPr txBox="1"/>
          <p:nvPr/>
        </p:nvSpPr>
        <p:spPr>
          <a:xfrm>
            <a:off x="9025128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3" name="Text 44"/>
          <p:cNvSpPr txBox="1"/>
          <p:nvPr/>
        </p:nvSpPr>
        <p:spPr>
          <a:xfrm>
            <a:off x="8933688" y="520293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component</a:t>
            </a:r>
            <a:endParaRPr lang="en-US" sz="760" dirty="0"/>
          </a:p>
        </p:txBody>
      </p:sp>
      <p:sp>
        <p:nvSpPr>
          <p:cNvPr id="54" name="Shape 45"/>
          <p:cNvSpPr/>
          <p:nvPr/>
        </p:nvSpPr>
        <p:spPr>
          <a:xfrm>
            <a:off x="10405872" y="4800600"/>
            <a:ext cx="384048" cy="38404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55" name="Text 46"/>
          <p:cNvSpPr txBox="1"/>
          <p:nvPr/>
        </p:nvSpPr>
        <p:spPr>
          <a:xfrm>
            <a:off x="10405872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56" name="Text 47"/>
          <p:cNvSpPr txBox="1"/>
          <p:nvPr/>
        </p:nvSpPr>
        <p:spPr>
          <a:xfrm>
            <a:off x="10314432" y="520293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(CVSS 3.1)</a:t>
            </a:r>
            <a:endParaRPr lang="en-US" sz="760" dirty="0"/>
          </a:p>
        </p:txBody>
      </p:sp>
      <p:sp>
        <p:nvSpPr>
          <p:cNvPr id="57" name="Shape 48"/>
          <p:cNvSpPr/>
          <p:nvPr/>
        </p:nvSpPr>
        <p:spPr>
          <a:xfrm>
            <a:off x="6263640" y="5577840"/>
            <a:ext cx="384048" cy="384048"/>
          </a:xfrm>
          <a:prstGeom prst="ellipse">
            <a:avLst/>
          </a:prstGeom>
          <a:solidFill>
            <a:srgbClr val="1B5FAE"/>
          </a:solidFill>
          <a:ln w="12700">
            <a:solidFill>
              <a:srgbClr val="1B5FAE"/>
            </a:solidFill>
            <a:prstDash val="solid"/>
          </a:ln>
        </p:spPr>
      </p:sp>
      <p:sp>
        <p:nvSpPr>
          <p:cNvPr id="58" name="Text 49"/>
          <p:cNvSpPr txBox="1"/>
          <p:nvPr/>
        </p:nvSpPr>
        <p:spPr>
          <a:xfrm>
            <a:off x="6263640" y="5577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9" name="Text 50"/>
          <p:cNvSpPr txBox="1"/>
          <p:nvPr/>
        </p:nvSpPr>
        <p:spPr>
          <a:xfrm>
            <a:off x="6172200" y="598017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to reproduce</a:t>
            </a:r>
            <a:endParaRPr lang="en-US" sz="760" dirty="0"/>
          </a:p>
        </p:txBody>
      </p:sp>
      <p:sp>
        <p:nvSpPr>
          <p:cNvPr id="60" name="Shape 51"/>
          <p:cNvSpPr/>
          <p:nvPr/>
        </p:nvSpPr>
        <p:spPr>
          <a:xfrm>
            <a:off x="7644384" y="5577840"/>
            <a:ext cx="384048" cy="384048"/>
          </a:xfrm>
          <a:prstGeom prst="ellipse">
            <a:avLst/>
          </a:prstGeom>
          <a:solidFill>
            <a:srgbClr val="E8792A"/>
          </a:solidFill>
          <a:ln w="12700">
            <a:solidFill>
              <a:srgbClr val="E8792A"/>
            </a:solidFill>
            <a:prstDash val="solid"/>
          </a:ln>
        </p:spPr>
      </p:sp>
      <p:sp>
        <p:nvSpPr>
          <p:cNvPr id="61" name="Text 52"/>
          <p:cNvSpPr txBox="1"/>
          <p:nvPr/>
        </p:nvSpPr>
        <p:spPr>
          <a:xfrm>
            <a:off x="7644384" y="5577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62" name="Text 53"/>
          <p:cNvSpPr txBox="1"/>
          <p:nvPr/>
        </p:nvSpPr>
        <p:spPr>
          <a:xfrm>
            <a:off x="7552944" y="598017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760" dirty="0"/>
          </a:p>
        </p:txBody>
      </p:sp>
      <p:sp>
        <p:nvSpPr>
          <p:cNvPr id="63" name="Shape 54"/>
          <p:cNvSpPr/>
          <p:nvPr/>
        </p:nvSpPr>
        <p:spPr>
          <a:xfrm>
            <a:off x="9025128" y="5577840"/>
            <a:ext cx="384048" cy="384048"/>
          </a:xfrm>
          <a:prstGeom prst="ellipse">
            <a:avLst/>
          </a:prstGeom>
          <a:solidFill>
            <a:srgbClr val="139488"/>
          </a:solidFill>
          <a:ln w="12700">
            <a:solidFill>
              <a:srgbClr val="139488"/>
            </a:solidFill>
            <a:prstDash val="solid"/>
          </a:ln>
        </p:spPr>
      </p:sp>
      <p:sp>
        <p:nvSpPr>
          <p:cNvPr id="64" name="Text 55"/>
          <p:cNvSpPr txBox="1"/>
          <p:nvPr/>
        </p:nvSpPr>
        <p:spPr>
          <a:xfrm>
            <a:off x="9025128" y="5577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65" name="Text 56"/>
          <p:cNvSpPr txBox="1"/>
          <p:nvPr/>
        </p:nvSpPr>
        <p:spPr>
          <a:xfrm>
            <a:off x="8933688" y="598017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760" dirty="0"/>
          </a:p>
        </p:txBody>
      </p:sp>
      <p:sp>
        <p:nvSpPr>
          <p:cNvPr id="66" name="Shape 57"/>
          <p:cNvSpPr/>
          <p:nvPr/>
        </p:nvSpPr>
        <p:spPr>
          <a:xfrm>
            <a:off x="10405872" y="5577840"/>
            <a:ext cx="384048" cy="384048"/>
          </a:xfrm>
          <a:prstGeom prst="ellipse">
            <a:avLst/>
          </a:prstGeom>
          <a:solidFill>
            <a:srgbClr val="0E2A4A"/>
          </a:solidFill>
          <a:ln w="12700">
            <a:solidFill>
              <a:srgbClr val="0E2A4A"/>
            </a:solidFill>
            <a:prstDash val="solid"/>
          </a:ln>
        </p:spPr>
      </p:sp>
      <p:sp>
        <p:nvSpPr>
          <p:cNvPr id="67" name="Text 58"/>
          <p:cNvSpPr txBox="1"/>
          <p:nvPr/>
        </p:nvSpPr>
        <p:spPr>
          <a:xfrm>
            <a:off x="10405872" y="5577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68" name="Text 59"/>
          <p:cNvSpPr txBox="1"/>
          <p:nvPr/>
        </p:nvSpPr>
        <p:spPr>
          <a:xfrm>
            <a:off x="10314432" y="598017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7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600200" cy="914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1828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164592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AND REFERENCES</a:t>
            </a:r>
            <a:endParaRPr lang="en-US" sz="2600" dirty="0"/>
          </a:p>
        </p:txBody>
      </p:sp>
      <p:pic>
        <p:nvPicPr>
          <p:cNvPr id="5" name="Image 0" descr="/home/claude/tpl/logo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18872"/>
            <a:ext cx="2103120" cy="98572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1B5FAE"/>
          </a:solidFill>
          <a:ln w="12700">
            <a:solidFill>
              <a:srgbClr val="1B5FA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743200" y="6428232"/>
            <a:ext cx="6702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SIH26163  |  ARGUS  |  NTRO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155680" y="6428232"/>
            <a:ext cx="576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252728"/>
            <a:ext cx="365760" cy="365760"/>
          </a:xfrm>
          <a:prstGeom prst="ellipse">
            <a:avLst/>
          </a:prstGeom>
          <a:solidFill>
            <a:srgbClr val="1B5FAE"/>
          </a:solidFill>
          <a:ln w="12700">
            <a:solidFill>
              <a:srgbClr val="1B5FA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1252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12344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Qadir et al. (2025) — Comparative evaluation of approaches &amp; tools for effective web security testing, PeerJ CS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869680" y="12344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peerj.com/articles/cs-2821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1709928"/>
            <a:ext cx="11274552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1819656"/>
            <a:ext cx="365760" cy="365760"/>
          </a:xfrm>
          <a:prstGeom prst="ellipse">
            <a:avLst/>
          </a:prstGeom>
          <a:solidFill>
            <a:srgbClr val="E8792A"/>
          </a:solidFill>
          <a:ln w="12700">
            <a:solidFill>
              <a:srgbClr val="E8792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1819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60120" y="180136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methodology for evaluating DAST scanners (2025), Springer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869680" y="180136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7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doi.org/10.1007/s10207-025-01054-8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2276856"/>
            <a:ext cx="11274552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2386584"/>
            <a:ext cx="365760" cy="365760"/>
          </a:xfrm>
          <a:prstGeom prst="ellipse">
            <a:avLst/>
          </a:prstGeom>
          <a:solidFill>
            <a:srgbClr val="139488"/>
          </a:solidFill>
          <a:ln w="12700">
            <a:solidFill>
              <a:srgbClr val="13948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2386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960120" y="23682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Novel VAPT Algorithm: OWASP Top 10 Optimization (2023)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869680" y="236829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arXiv:2311.10450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7200" y="2843784"/>
            <a:ext cx="11274552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7200" y="2953512"/>
            <a:ext cx="365760" cy="365760"/>
          </a:xfrm>
          <a:prstGeom prst="ellipse">
            <a:avLst/>
          </a:prstGeom>
          <a:solidFill>
            <a:srgbClr val="1B5FAE"/>
          </a:solidFill>
          <a:ln w="12700">
            <a:solidFill>
              <a:srgbClr val="1B5FA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7200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960120" y="293522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comparison of vulnerability detection techniques (2022)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8869680" y="293522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arXiv:2208.01595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57200" y="3410712"/>
            <a:ext cx="11274552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7200" y="3520440"/>
            <a:ext cx="365760" cy="365760"/>
          </a:xfrm>
          <a:prstGeom prst="ellipse">
            <a:avLst/>
          </a:prstGeom>
          <a:solidFill>
            <a:srgbClr val="E8792A"/>
          </a:solidFill>
          <a:ln w="12700">
            <a:solidFill>
              <a:srgbClr val="E8792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5720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960120" y="3502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Similarity-Based Clustering of Security Findings (2022)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8869680" y="350215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7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arXiv:2211.11057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57200" y="3977640"/>
            <a:ext cx="11274552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57200" y="4087368"/>
            <a:ext cx="365760" cy="365760"/>
          </a:xfrm>
          <a:prstGeom prst="ellipse">
            <a:avLst/>
          </a:prstGeom>
          <a:solidFill>
            <a:srgbClr val="0E2A4A"/>
          </a:solidFill>
          <a:ln w="12700">
            <a:solidFill>
              <a:srgbClr val="0E2A4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57200" y="4087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960120" y="406908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10:2021 · ASVS 5.0 · OWASP LLM Top 10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8869680" y="40690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owasp.org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57200" y="4544568"/>
            <a:ext cx="11274552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57200" y="4654296"/>
            <a:ext cx="365760" cy="365760"/>
          </a:xfrm>
          <a:prstGeom prst="ellipse">
            <a:avLst/>
          </a:prstGeom>
          <a:solidFill>
            <a:srgbClr val="139488"/>
          </a:solidFill>
          <a:ln w="12700">
            <a:solidFill>
              <a:srgbClr val="139488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57200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960120" y="463600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 Top 25 · FIRST CVSS v3.1 specification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8869680" y="463600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cwe.mitre.org · first.org/cvss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457200" y="5111496"/>
            <a:ext cx="11274552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57200" y="5221224"/>
            <a:ext cx="365760" cy="365760"/>
          </a:xfrm>
          <a:prstGeom prst="ellipse">
            <a:avLst/>
          </a:prstGeom>
          <a:solidFill>
            <a:srgbClr val="1B5FAE"/>
          </a:solidFill>
          <a:ln w="12700">
            <a:solidFill>
              <a:srgbClr val="1B5FAE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57200" y="5221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6" name="Text 43"/>
          <p:cNvSpPr txBox="1"/>
          <p:nvPr/>
        </p:nvSpPr>
        <p:spPr>
          <a:xfrm>
            <a:off x="960120" y="520293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Monitor repository &amp; SECURITY.md (target + threat model)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8869680" y="520293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5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github.com/koala73/worldmonitor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457200" y="5678424"/>
            <a:ext cx="11274552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57200" y="5715000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0E2A4A"/>
          </a:solidFill>
          <a:ln w="12700">
            <a:solidFill>
              <a:srgbClr val="0E2A4A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40080" y="571500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scope: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testing runs only on a locally self-hosted copy of World Monitor — never worldmonitor.app; exploitation is PoC-only.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ARGUS - SIH26163 Idea Submission</dc:title>
  <dc:subject>PptxGenJS Presentation</dc:subject>
  <dc:creator>PptxGenJS</dc:creator>
  <cp:lastModifiedBy>PptxGenJS</cp:lastModifiedBy>
  <cp:revision>1</cp:revision>
  <dcterms:created xsi:type="dcterms:W3CDTF">2026-09-28T21:06:06Z</dcterms:created>
  <dcterms:modified xsi:type="dcterms:W3CDTF">2026-09-28T21:06:06Z</dcterms:modified>
</cp:coreProperties>
</file>