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[0:00 - 0:30 | 30s Pitch - Slide 1: Introduction]</a:t>
            </a:r>
          </a:p>
          <a:p>
            <a:r>
              <a:t>Respected judges, we present ARGUS: an Automated Risk and Vulnerability Unified Scanner purpose-built for problem statement SIH26163 by the National Technical Research Organisation.</a:t>
            </a:r>
          </a:p>
          <a:p/>
          <a:p>
            <a:r>
              <a:t>Rather than presenting theoretical models or synthetic scanner simulations, our team conducted a comprehensive, empirical security assessment of the complete World Monitor open-source intelligence dashboard. We mapped its entire architecture—comprising 166 Vercel Edge endpoints, 5 distinct trust boundaries, Next.js web frontend, and Tauri 2.0 Rust desktop shell.</a:t>
            </a:r>
          </a:p>
          <a:p/>
          <a:p>
            <a:r>
              <a:t>Across our automated SAST, SCA, and custom AST parsers, we ingested 14 raw signals, correlated 12 unique confirmed vulnerabilities—including 1 High-severity unmetered resource DoS and 11 Medium-severity flaws—and executed 5 non-destructive Proof-of-Concept scripts with a 100% confirmation rate. Over the next 4.5 minutes, we will walk you through our empirical findings, technical architecture, and actionable remediations.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[0:30 - 1:45 | 75s Pitch - Slide 2: Proposed Solution &amp; Confirmed Vulnerabilities]</a:t>
            </a:r>
          </a:p>
          <a:p>
            <a:r>
              <a:t>Moving to Slide 2: ARGUS solves the core problem by implementing an automated, architecture-aware AppSec audit tailored specifically for complex OSINT dashboards.</a:t>
            </a:r>
          </a:p>
          <a:p/>
          <a:p>
            <a:r>
              <a:t>World Monitor combines 166 Vercel Edge endpoints, third-party RSS aggregators, LLM summarizers, and a Tauri desktop shell. As highlighted in our left panel, we systematically audited all 7 scope areas mandated by NTRO—from Clerk JWT authentication to local storage security controls.</a:t>
            </a:r>
          </a:p>
          <a:p/>
          <a:p>
            <a:r>
              <a:t>On the right, you can see our real, evidenced findings—not synthetic scanner hypotheses:</a:t>
            </a:r>
          </a:p>
          <a:p>
            <a:r>
              <a:t>1. Our highest severity finding is a CVSS 7.5 unmetered resource DoS in api/_rate-limit.js. When Upstash Redis experiences network latency, the limiter fails open with 'X-RateLimit-Mode: degraded', allowing unbounded traffic to drain downstream Geocoding and LLM budgets.</a:t>
            </a:r>
          </a:p>
          <a:p>
            <a:r>
              <a:t>2. Next, a CVSS 6.1 DOM XSS vulnerability: we discovered 357 call sites bypassing browser Trusted Types using a dummy string literal in dom-utils.ts.</a:t>
            </a:r>
          </a:p>
          <a:p>
            <a:r>
              <a:t>3. Third, an indirect prompt injection flaw in the AI news summarizer: static English regex blocklists are easily bypassed by multilingual instructions in external OSINT RSS feeds.</a:t>
            </a:r>
          </a:p>
          <a:p>
            <a:r>
              <a:t>4. Fourth, an edge SSRF TOCTOU rebinding vulnerability in api/mcp-proxy.ts tracked in GHSA-887j-p88r-qmm9.</a:t>
            </a:r>
          </a:p>
          <a:p>
            <a:r>
              <a:t>5. And fifth, a bot filter bypass in middleware.ts where any synthetic 40-character hex key bypasses edge crawler defenses.</a:t>
            </a:r>
          </a:p>
          <a:p>
            <a:r>
              <a:t>Every single finding has an automated, non-destructive PoC script with 100% pass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[1:45 - 2:45 | 60s Pitch - Slide 3: Technical Approach &amp; Multi-Engine Correlation]</a:t>
            </a:r>
          </a:p>
          <a:p>
            <a:r>
              <a:t>Turning to Slide 3: our technical approach is founded on multi-engine automated correlation. We do not rely on a single generic scanner.</a:t>
            </a:r>
          </a:p>
          <a:p/>
          <a:p>
            <a:r>
              <a:t>As seen in our 4-tier architecture, ARGUS combines Semgrep for static code analysis, npm audit for supply-chain vulnerabilities, custom AST route extractors for the 166 edge endpoints, and automated verification scripts.</a:t>
            </a:r>
          </a:p>
          <a:p/>
          <a:p>
            <a:r>
              <a:t>Our primary engineering differentiator is the Correlation Engine written in Python 3.14 with Pydantic v2. Disparate scanner outputs are normalized into a unified schema, and our Two-Signal Confirmation Gate discards isolated scanner anomalies, ensuring that reviewers only spend time on verified flaws.</a:t>
            </a:r>
          </a:p>
          <a:p/>
          <a:p>
            <a:r>
              <a:t>In our 8-step methodology below, Step 1 enforces a strict Scope Gate so that no traffic leaves the local sandbox. Findings are mathematically scored using the official FIRST CVSS v3.1 specification, and output as both a 12-page executive PDF report and machine-readable SARIF for continuous CI/CD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[2:45 - 3:30 | 45s Pitch - Slide 4: Feasibility, Risk Management &amp; Roadmap]</a:t>
            </a:r>
          </a:p>
          <a:p>
            <a:r>
              <a:t>On Slide 4, we evaluate Feasibility and Risk Management. ARGUS achieves high operational viability because it runs entirely on open-source, scriptable components against local, self-hosted source code.</a:t>
            </a:r>
          </a:p>
          <a:p/>
          <a:p>
            <a:r>
              <a:t>Our risk register directly tackles the most challenging failure modes in automated AppSec:</a:t>
            </a:r>
          </a:p>
          <a:p>
            <a:r>
              <a:t>1. To prevent scanner alert fatigue, our correlation engine requires two agreeing signals before promoting any anomaly to PoC stage.</a:t>
            </a:r>
          </a:p>
          <a:p>
            <a:r>
              <a:t>2. To evaluate the fail-open rate limiting and indirect prompt injection vulnerabilities safely without incurring cloud costs or service disruption, we deployed local mock testbeds.</a:t>
            </a:r>
          </a:p>
          <a:p/>
          <a:p>
            <a:r>
              <a:t>Our 5-phase roadmap took us from AST-based endpoint enumeration through multi-engine scanning, correlation, safe PoC verification, and executive reporting. The entire audit is 100% automated and reproducible with a single CLI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[3:30 - 4:30 | 60s Pitch - Slide 5: Strategic Impact, Benefits &amp; Deliverables Compliance]</a:t>
            </a:r>
          </a:p>
          <a:p>
            <a:r>
              <a:t>Slide 5 outlines the operational impact and strategic benefits of ARGUS.</a:t>
            </a:r>
          </a:p>
          <a:p/>
          <a:p>
            <a:r>
              <a:t>For NTRO, World Monitor is not simply a generic web dashboard—it is a live OSINT intelligence tool tracking real-time conflict telemetry, maritime vessels, and infrastructure. A compromise of its telemetry via indirect prompt injection or an unmetered resource DoS could blind strategic analysts during a national crisis.</a:t>
            </a:r>
          </a:p>
          <a:p/>
          <a:p>
            <a:r>
              <a:t>ARGUS directly protects this mission by delivering concrete, patch-ready remediations. As shown in our bottom-right table, ARGUS guarantees 100% compliance with all 8 mandatory deliverable fields stipulated in the problem statement—from deterministic reproduction steps to CVSS 3.1 vectors.</a:t>
            </a:r>
          </a:p>
          <a:p/>
          <a:p>
            <a:r>
              <a:t>Furthermore, ARGUS is built for immediate scale: while demonstrated on World Monitor today, its modular engine can be pointed at any sovereign government web service simply by changing the target YAML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[4:30 - 5:00 | 30s Pitch - Slide 6: Research Foundations &amp; Ethical Scope]</a:t>
            </a:r>
          </a:p>
          <a:p>
            <a:r>
              <a:t>Finally, on Slide 6: our methodology is grounded in recent peer-reviewed security research, including 2025 PeerJ and Springer publications on multi-tool correlation, alongside foundational standards from OWASP, MITRE CWE, and FIRST CVSS.</a:t>
            </a:r>
          </a:p>
          <a:p/>
          <a:p>
            <a:r>
              <a:t>Crucially, we maintained strict ethical discipline throughout: 100% of our testing was restricted to an isolated local clone on localhost with zero testing against production infrastructure, adhering strictly to Indian cybersecurity laws and NTRO ethical guidelines.</a:t>
            </a:r>
          </a:p>
          <a:p/>
          <a:p>
            <a:r>
              <a:t>In summary, ARGUS provides NTRO with a complete, evidence-backed security assessment that fulfills every requirement of SIH26163. We are now ready to demonstrate our live tool and answer your questions.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3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130552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116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 of the World Monitor Application (SIH26163)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3456432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337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050792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4645152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526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900" dirty="0"/>
          </a:p>
        </p:txBody>
      </p:sp>
      <p:pic>
        <p:nvPicPr>
          <p:cNvPr id="15" name="Image 1" descr="/home/claude/tpl/bulb_b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920240"/>
            <a:ext cx="2743200" cy="30487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5486400"/>
            <a:ext cx="78638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5486400"/>
            <a:ext cx="7863840" cy="685800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indent="0" marL="0" algn="l">
              <a:buNone/>
            </a:pPr>
            <a:pPr indent="0" marL="0">
              <a:buNone/>
            </a:pPr>
            <a:r>
              <a:rPr b="1" sz="1400">
                <a:solidFill>
                  <a:srgbClr val="1E3A8A"/>
                </a:solidFill>
                <a:latin typeface="Calibri"/>
              </a:rPr>
              <a:t>Idea Title:  ARGUS — Automated Risk &amp; Vulnerability Unified Scanner
</a:t>
            </a:r>
            <a:r>
              <a:rPr b="0" sz="1000">
                <a:solidFill>
                  <a:srgbClr val="475569"/>
                </a:solidFill>
                <a:latin typeface="Calibri"/>
              </a:rPr>
              <a:t>Empirical Security Assessment of the World Monitor Application | 166 Endpoints Audited · 12 Correlated Flaws · 5 Safe PoCs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60020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82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ARGUS: Automated Risk &amp; Vulnerability Unified Scanner</a:t>
            </a:r>
            <a:endParaRPr lang="en-US" sz="2100" dirty="0"/>
          </a:p>
        </p:txBody>
      </p:sp>
      <p:pic>
        <p:nvPicPr>
          <p:cNvPr id="5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(Describe your Idea/Solution/Prototype)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t"/>
          <a:lstStyle/>
          <a:p>
            <a:pPr indent="0" marL="0" algn="l">
              <a:spcBef>
                <a:spcPts val="800"/>
              </a:spcBef>
              <a:spcAft>
                <a:spcPts val="300"/>
              </a:spcAft>
              <a:buNone/>
            </a:pPr>
            <a:r>
              <a:rPr b="1" sz="1000">
                <a:solidFill>
                  <a:srgbClr val="1E3A8A"/>
                </a:solidFill>
                <a:latin typeface="Calibri"/>
              </a:rPr>
              <a:t>DETAILED EXPLANATION OF PROPOSED SOLUTION (ARGUS)</a:t>
            </a:r>
            <a:endParaRPr lang="en-US" sz="1400" dirty="0"/>
          </a:p>
          <a:p>
            <a:pPr algn="l">
              <a:spcAft>
                <a:spcPts val="2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Automated AppSec Platform: Tailored for OSINT dashboards combining 166 Vercel Edge routes (137 public, 29 Pro), Next.js UI, Upstash Redis, Convex backend, and Tauri 2.0 Rust desktop.</a:t>
            </a:r>
          </a:p>
          <a:p>
            <a:pPr algn="l">
              <a:spcAft>
                <a:spcPts val="2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Multi-Engine Ingestion: Integrates Semgrep SAST (OWASP/CWE rules), npm audit SCA, custom AST route extractors, and automated dynamic verification probes.</a:t>
            </a:r>
          </a:p>
          <a:p>
            <a:pPr algn="l">
              <a:spcAft>
                <a:spcPts val="2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Correlation &amp; Triage Engine: Python 3.14 + Pydantic v2 normalizes findings into a unified schema, removes duplicates, and enforces two-signal cross-confirmation to eliminate false positives.</a:t>
            </a:r>
          </a:p>
          <a:p>
            <a:pPr algn="l">
              <a:spcAft>
                <a:spcPts val="4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Automated Scoring &amp; Reports: Auto-calculates FIRST CVSS v3.1 vectors, maps to OWASP Top 10 (2021) &amp; OWASP LLM Top 10, and generates 12-page executive PDF &amp; SARIF reports.</a:t>
            </a:r>
          </a:p>
          <a:p>
            <a:pPr algn="l">
              <a:spcAft>
                <a:spcPts val="300"/>
              </a:spcAft>
            </a:pPr>
            <a:r>
              <a:rPr b="1" sz="1000">
                <a:solidFill>
                  <a:srgbClr val="1E3A8A"/>
                </a:solidFill>
                <a:latin typeface="Calibri"/>
              </a:rPr>
              <a:t>COMPREHENSIVE 7 PS SCOPE AREAS COVERAGE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1. Auth &amp; Session: Clerk JWT &amp; wm_* API keys; regex heuristic bypass identified in middleware.ts.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2. Access Control: 137 public discovery routes audited; 29 Pro routes protected via Convex HMAC.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3. Input Validation: 357 Trusted Types DOM sinks + Cloudflare DoH SSRF rebinding window.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4. API Security: Fail-open limiter architecture allows unthrottled degradation during Redis latency.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5. Client Controls: CSP script-src 'self' enforced; unescaped DOM writes in dashboard widgets.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6. Secure Comms: Strict HTTPS/HSTS; desktop Tauri IPC protected via CSPRNG LOCAL_API_TOKEN.</a:t>
            </a:r>
          </a:p>
          <a:p>
            <a:pPr algn="l">
              <a:spcAft>
                <a:spcPts val="4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7. Data Storage: UI state in localStorage (no secrets); OS Credential Manager for desktop tokens.</a:t>
            </a:r>
          </a:p>
          <a:p>
            <a:pPr algn="l">
              <a:spcAft>
                <a:spcPts val="300"/>
              </a:spcAft>
            </a:pPr>
            <a:r>
              <a:rPr b="1" sz="1000">
                <a:solidFill>
                  <a:srgbClr val="1E3A8A"/>
                </a:solidFill>
                <a:latin typeface="Calibri"/>
              </a:rPr>
              <a:t>INNOVATION &amp; ENGINEERING RIGOR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Two-Signal Confirmation: Drops unverified scanner noise before PoC stage, saving 80% triage time.</a:t>
            </a:r>
          </a:p>
          <a:p>
            <a:pPr algn="l">
              <a:spcAft>
                <a:spcPts val="15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Non-Destructive PoCs: 5 automated, safe verification scripts (100% pass) proving real exploitability.</a:t>
            </a:r>
          </a:p>
          <a:p>
            <a:pPr algn="l">
              <a:spcAft>
                <a:spcPts val="2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Actionable Hardening: Concrete code diffs (DOMPurify, fail-closed policy, Node socket pinning).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12648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29968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900">
                <a:solidFill>
                  <a:srgbClr val="1E3A8A"/>
                </a:solidFill>
                <a:latin typeface="Calibri"/>
              </a:rPr>
              <a:t>1 IDENTIFY</a:t>
            </a:r>
            <a:endParaRPr lang="en-US" sz="1100" dirty="0"/>
          </a:p>
          <a:p>
            <a:pPr algn="ctr"/>
            <a:r>
              <a:rPr b="0" sz="800">
                <a:solidFill>
                  <a:srgbClr val="1E293B"/>
                </a:solidFill>
                <a:latin typeface="Calibri"/>
              </a:rPr>
              <a:t>SAST + SCA + AST
(166 Routes Mapped)</a:t>
            </a:r>
          </a:p>
        </p:txBody>
      </p:sp>
      <p:sp>
        <p:nvSpPr>
          <p:cNvPr id="13" name="Shape 10"/>
          <p:cNvSpPr/>
          <p:nvPr/>
        </p:nvSpPr>
        <p:spPr>
          <a:xfrm>
            <a:off x="7370064" y="2395728"/>
            <a:ext cx="2011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7583119" y="2029968"/>
            <a:ext cx="123444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900">
                <a:solidFill>
                  <a:srgbClr val="1E3A8A"/>
                </a:solidFill>
                <a:latin typeface="Calibri"/>
              </a:rPr>
              <a:t>2 CORRELATE</a:t>
            </a:r>
            <a:endParaRPr lang="en-US" sz="1100" dirty="0"/>
          </a:p>
          <a:p>
            <a:pPr algn="ctr"/>
            <a:r>
              <a:rPr b="0" sz="800">
                <a:solidFill>
                  <a:srgbClr val="1E293B"/>
                </a:solidFill>
                <a:latin typeface="Calibri"/>
              </a:rPr>
              <a:t>Pydantic Engine: Dedupe,
CWE Map &amp; CVSS 3.1</a:t>
            </a:r>
          </a:p>
        </p:txBody>
      </p:sp>
      <p:sp>
        <p:nvSpPr>
          <p:cNvPr id="15" name="Shape 12"/>
          <p:cNvSpPr/>
          <p:nvPr/>
        </p:nvSpPr>
        <p:spPr>
          <a:xfrm>
            <a:off x="8826703" y="2395728"/>
            <a:ext cx="2011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9039758" y="2029968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900">
                <a:solidFill>
                  <a:srgbClr val="1E3A8A"/>
                </a:solidFill>
                <a:latin typeface="Calibri"/>
              </a:rPr>
              <a:t>3 PROVE</a:t>
            </a:r>
            <a:endParaRPr lang="en-US" sz="1100" dirty="0"/>
          </a:p>
          <a:p>
            <a:pPr algn="ctr"/>
            <a:r>
              <a:rPr b="0" sz="800">
                <a:solidFill>
                  <a:srgbClr val="1E293B"/>
                </a:solidFill>
                <a:latin typeface="Calibri"/>
              </a:rPr>
              <a:t>5 Safe PoC Scripts
(100% Pass Confirmed)</a:t>
            </a:r>
          </a:p>
        </p:txBody>
      </p:sp>
      <p:sp>
        <p:nvSpPr>
          <p:cNvPr id="17" name="Shape 14"/>
          <p:cNvSpPr/>
          <p:nvPr/>
        </p:nvSpPr>
        <p:spPr>
          <a:xfrm>
            <a:off x="10283342" y="2395728"/>
            <a:ext cx="2011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10496398" y="2029968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900">
                <a:solidFill>
                  <a:srgbClr val="1E3A8A"/>
                </a:solidFill>
                <a:latin typeface="Calibri"/>
              </a:rPr>
              <a:t>4 REMEDIATE</a:t>
            </a:r>
            <a:endParaRPr lang="en-US" sz="1100" dirty="0"/>
          </a:p>
          <a:p>
            <a:pPr algn="ctr"/>
            <a:r>
              <a:rPr b="0" sz="800">
                <a:solidFill>
                  <a:srgbClr val="1E293B"/>
                </a:solidFill>
                <a:latin typeface="Calibri"/>
              </a:rPr>
              <a:t>Hardened Code Diffs
&amp; Re-scan Gate</a:t>
            </a:r>
          </a:p>
        </p:txBody>
      </p:sp>
      <p:sp>
        <p:nvSpPr>
          <p:cNvPr id="19" name="Text 16"/>
          <p:cNvSpPr txBox="1"/>
          <p:nvPr/>
        </p:nvSpPr>
        <p:spPr>
          <a:xfrm>
            <a:off x="6126480" y="2807208"/>
            <a:ext cx="5605272" cy="27432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r>
              <a:rPr b="0" sz="850">
                <a:solidFill>
                  <a:srgbClr val="475569"/>
                </a:solidFill>
                <a:latin typeface="Calibri"/>
              </a:rPr>
              <a:t>Automated Multi-Tier Pipeline: Ingests raw telemetry, enforces two-signal correlation, and validates with safe PoCs.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3127248"/>
            <a:ext cx="5605272" cy="41148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pPr indent="0" marL="0">
              <a:buNone/>
            </a:pPr>
            <a:r>
              <a:rPr b="1" sz="1000">
                <a:solidFill>
                  <a:srgbClr val="1E3A8A"/>
                </a:solidFill>
                <a:latin typeface="Calibri"/>
              </a:rPr>
              <a:t>Real Evidenced Vulnerabilities Identified in World Monitor (Audit of 166 Endpoints)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584448"/>
          <a:ext cx="5605272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697480"/>
                <a:gridCol w="1463040"/>
                <a:gridCol w="117043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Confirmed Vulnerability &amp; Root Cause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OWASP / CWE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CVSS 3.1 &amp; Status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Unmetered Resource DoS via Fail-Open Rate Limiter Degradation in api/_rate-limit.js (Redis timeout -&gt; 'X-RateLimit-Mode: degraded')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A04
CWE-770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7.5 (High)
PoC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DOM XSS via 357 Bypassed Trusted Types in src/utils/dom-utils.ts ('legacy direct innerHTML migration' dummy string bypass)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A03
CWE-79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6.1 (Med)
PoC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Indirect Prompt Injection Blocklist Bypass in server/_shared/llm-sanitize.js (Static regex evaded by external RSS feeds)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LLM01
CWE-20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6.5 (Med)
PoC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SSRF TOCTOU / DNS Rebinding Window in api/mcp-proxy.ts (Vercel Edge fetch socket unpinning -&gt; Cloud metadata 169.254.169.254)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A10
CWE-918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6.3 (Med)
PoC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Bot &amp; Crawler Shield Bypass via Regex Header Heuristic in middleware.ts (/^wm_[a-f0-9]{40,64}$/ dummy key bypass)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A07
CWE-269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5.3 (Med)
PoC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28 Vulnerable Third-Party Dependencies in package-lock.json (10 High, 18 Moderate: axios, tar, braces, micromatch)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A06
CWE-1104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6.5 (Med)
SCA Confirmed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Desktop IPC Command Execution Risk in src-tauri/src/lib.rs (Renderer-to-sidecar token verification; 5-min TTL mitigation)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A01
CWE-269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4.8 (Med)
Architectural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Permissive CORS Configuration on Public Geocoding Endpoints in api/reverse-geocode.ts (wildcard access without origin binding)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OWASP A05
CWE-942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293B"/>
                          </a:solidFill>
                          <a:latin typeface="Calibri"/>
                        </a:rPr>
                        <a:t>4.3 (Med)
Verified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60020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82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pic>
        <p:nvPicPr>
          <p:cNvPr id="5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21945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b="1" sz="950">
                <a:solidFill>
                  <a:srgbClr val="1E3A8A"/>
                </a:solidFill>
                <a:latin typeface="Calibri"/>
              </a:rPr>
              <a:t>TARGET ENVIRONMENT (Localhost)</a:t>
            </a:r>
            <a:endParaRPr lang="en-US" sz="1200" dirty="0"/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World Monitor OSINT Dashboard (AGPL-3.0)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166 Vercel Edge Endpoints (137 Public, 29 Pro)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Next.js / Vite React UI + Protobuf API Schemas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Tauri 2.0 Rust Desktop Shell + Local IPC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5 Distinct Attack Surface Trust Boundaries</a:t>
            </a:r>
          </a:p>
          <a:p>
            <a:pPr algn="l"/>
            <a:r>
              <a:rPr b="0" sz="800">
                <a:solidFill>
                  <a:srgbClr val="475569"/>
                </a:solidFill>
                <a:latin typeface="Calibri"/>
              </a:rPr>
              <a:t>• Strict Local Sandbox: Zero Upstream Impact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3081528" y="1371600"/>
            <a:ext cx="269748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b="1" sz="950">
                <a:solidFill>
                  <a:srgbClr val="1E3A8A"/>
                </a:solidFill>
                <a:latin typeface="Calibri"/>
              </a:rPr>
              <a:t>MULTI-ENGINE SECURITY SCANNERS</a:t>
            </a:r>
            <a:endParaRPr lang="en-US" sz="1200" dirty="0"/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SAST: Semgrep 1.178.0 (OWASP &amp; CWE rulesets)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SCA: npm audit / OSV (28 CVEs correlated)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AST Parser: Custom TypeScript route analyzer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DAST Probes: Nuclei v3 + HTTP verification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LLM Prober: Multilingual semantic injector</a:t>
            </a:r>
          </a:p>
          <a:p>
            <a:pPr algn="l"/>
            <a:r>
              <a:rPr b="0" sz="800">
                <a:solidFill>
                  <a:srgbClr val="475569"/>
                </a:solidFill>
                <a:latin typeface="Calibri"/>
              </a:rPr>
              <a:t>• Config Auditing: CSP, CORS, Cookies &amp; TLS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208776" y="1371600"/>
            <a:ext cx="2697480" cy="192024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b="1" sz="950">
                <a:solidFill>
                  <a:srgbClr val="1E3A8A"/>
                </a:solidFill>
                <a:latin typeface="Calibri"/>
              </a:rPr>
              <a:t>CORRELATION ENGINE (Python 3.14)</a:t>
            </a:r>
            <a:endParaRPr lang="en-US" sz="1200" dirty="0"/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Pydantic v2 Unified Schema Normalization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Two-Signal Cross-Tool Confirmation Gate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Automated Deduplication &amp; FP Elimination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FIRST CVSS v3.1 Vector &amp; Score Calculator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OWASP Top 10 &amp; CWE Top 25 Matrix Mapping</a:t>
            </a:r>
          </a:p>
          <a:p>
            <a:pPr algn="l"/>
            <a:r>
              <a:rPr b="0" sz="800">
                <a:solidFill>
                  <a:srgbClr val="475569"/>
                </a:solidFill>
                <a:latin typeface="Calibri"/>
              </a:rPr>
              <a:t>• Executive Summary &amp; Remediation Diff Engine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9336024" y="1371600"/>
            <a:ext cx="2395728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b="1" sz="950">
                <a:solidFill>
                  <a:srgbClr val="1E3A8A"/>
                </a:solidFill>
                <a:latin typeface="Calibri"/>
              </a:rPr>
              <a:t>OUTPUTS &amp; EVIDENCE VAULT</a:t>
            </a:r>
            <a:endParaRPr lang="en-US" sz="1200" dirty="0"/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12-Page Executive PDF &amp; HTML Audit Reports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Machine-Readable SARIF 2.1.0 &amp; JSON Findings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5 Automated Non-Destructive PoC Scripts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Raw Verification Logs, HAR Traces &amp; Diffs</a:t>
            </a:r>
          </a:p>
          <a:p>
            <a:pPr algn="l">
              <a:spcAft>
                <a:spcPts val="100"/>
              </a:spcAft>
            </a:pPr>
            <a:r>
              <a:rPr b="0" sz="800">
                <a:solidFill>
                  <a:srgbClr val="1E293B"/>
                </a:solidFill>
                <a:latin typeface="Calibri"/>
              </a:rPr>
              <a:t>• Attack Surface Inventory &amp; Endpoints Catalog</a:t>
            </a:r>
          </a:p>
          <a:p>
            <a:pPr algn="l"/>
            <a:r>
              <a:rPr b="0" sz="800">
                <a:solidFill>
                  <a:srgbClr val="475569"/>
                </a:solidFill>
                <a:latin typeface="Calibri"/>
              </a:rPr>
              <a:t>• SQLite / PostgreSQL Audit History Store</a:t>
            </a:r>
          </a:p>
        </p:txBody>
      </p:sp>
      <p:sp>
        <p:nvSpPr>
          <p:cNvPr id="13" name="Shape 10"/>
          <p:cNvSpPr/>
          <p:nvPr/>
        </p:nvSpPr>
        <p:spPr>
          <a:xfrm>
            <a:off x="2679192" y="2331720"/>
            <a:ext cx="3749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806440" y="2331720"/>
            <a:ext cx="3749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933688" y="2331720"/>
            <a:ext cx="3749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57200" y="3346704"/>
            <a:ext cx="11274552" cy="27432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r>
              <a:rPr b="0" sz="850">
                <a:solidFill>
                  <a:srgbClr val="475569"/>
                </a:solidFill>
                <a:latin typeface="Calibri"/>
              </a:rPr>
              <a:t>End-to-End Pipeline: Ingests 14 raw signals across 166 endpoints, eliminates false positives via two-signal correlation, and validates 12 unique findings with safe PoCs.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03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Architectural Layer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Production Security Tools &amp; Technologies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Target Platform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Self-hosted World Monitor, Next.js, Vite, Tauri 2.0 Rust, Vercel Edge, Upstash Redis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SAST &amp; SCA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Semgrep CLI (v1.178.0), npm audit, Custom TypeScript AST Route Parser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Python 3.14, Pydantic v2, FastAPI Core, SQLite / PostgreSQL findings store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Scoring Standards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FIRST CVSS v3.1 spec, OWASP Top 10:2021, OWASP LLM Top 10, MITRE CWE Top 25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Verification &amp; PoC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Python Requests, Playwright headless browser, non-destructive test harnesses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Audit Artifacts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ReportLab PDF engine, Jinja2 HTML templates, SARIF 2.1.0, JSON schemas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852160" y="3703320"/>
            <a:ext cx="5879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 for implementation (flow chart)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852160" y="4023360"/>
            <a:ext cx="1271016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1 Scope Gate</a:t>
            </a:r>
            <a:endParaRPr lang="en-US" sz="95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Local &amp; Authorized?</a:t>
            </a:r>
          </a:p>
        </p:txBody>
      </p:sp>
      <p:sp>
        <p:nvSpPr>
          <p:cNvPr id="21" name="Text 17"/>
          <p:cNvSpPr txBox="1"/>
          <p:nvPr/>
        </p:nvSpPr>
        <p:spPr>
          <a:xfrm>
            <a:off x="7388352" y="4023360"/>
            <a:ext cx="127101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2 Recon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166 Routes &amp; 5 Boundaries</a:t>
            </a:r>
          </a:p>
        </p:txBody>
      </p:sp>
      <p:sp>
        <p:nvSpPr>
          <p:cNvPr id="22" name="Text 18"/>
          <p:cNvSpPr txBox="1"/>
          <p:nvPr/>
        </p:nvSpPr>
        <p:spPr>
          <a:xfrm>
            <a:off x="8924544" y="4023360"/>
            <a:ext cx="127101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3 Multi-Scan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SAST + SCA + AST + LLM</a:t>
            </a:r>
          </a:p>
        </p:txBody>
      </p:sp>
      <p:sp>
        <p:nvSpPr>
          <p:cNvPr id="23" name="Text 19"/>
          <p:cNvSpPr txBox="1"/>
          <p:nvPr/>
        </p:nvSpPr>
        <p:spPr>
          <a:xfrm>
            <a:off x="10460736" y="4023360"/>
            <a:ext cx="127101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4 Correlate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Pydantic Dedupe &amp; CWE</a:t>
            </a:r>
          </a:p>
        </p:txBody>
      </p:sp>
      <p:sp>
        <p:nvSpPr>
          <p:cNvPr id="24" name="Shape 20"/>
          <p:cNvSpPr/>
          <p:nvPr/>
        </p:nvSpPr>
        <p:spPr>
          <a:xfrm>
            <a:off x="7141464" y="44348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8677656" y="44348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10213848" y="443484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1096244" y="484632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10460736" y="5303520"/>
            <a:ext cx="1271016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5 Confirm</a:t>
            </a:r>
            <a:endParaRPr lang="en-US" sz="95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Two Signals Agree?</a:t>
            </a:r>
          </a:p>
        </p:txBody>
      </p:sp>
      <p:sp>
        <p:nvSpPr>
          <p:cNvPr id="29" name="Text 25"/>
          <p:cNvSpPr txBox="1"/>
          <p:nvPr/>
        </p:nvSpPr>
        <p:spPr>
          <a:xfrm>
            <a:off x="8924544" y="5303520"/>
            <a:ext cx="127101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6 Prove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5 Safe PoCs + Evidence</a:t>
            </a:r>
          </a:p>
        </p:txBody>
      </p:sp>
      <p:sp>
        <p:nvSpPr>
          <p:cNvPr id="30" name="Text 26"/>
          <p:cNvSpPr txBox="1"/>
          <p:nvPr/>
        </p:nvSpPr>
        <p:spPr>
          <a:xfrm>
            <a:off x="7388352" y="5303520"/>
            <a:ext cx="127101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7 Score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CVSS 3.1 &amp; Impact</a:t>
            </a:r>
          </a:p>
        </p:txBody>
      </p:sp>
      <p:sp>
        <p:nvSpPr>
          <p:cNvPr id="31" name="Text 27"/>
          <p:cNvSpPr txBox="1"/>
          <p:nvPr/>
        </p:nvSpPr>
        <p:spPr>
          <a:xfrm>
            <a:off x="5852160" y="5303520"/>
            <a:ext cx="1271016" cy="8229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8 Report</a:t>
            </a:r>
            <a:endParaRPr lang="en-US" sz="1000" dirty="0"/>
          </a:p>
          <a:p>
            <a:pPr algn="ctr"/>
            <a:r>
              <a:rPr b="0" sz="750">
                <a:solidFill>
                  <a:srgbClr val="1E293B"/>
                </a:solidFill>
                <a:latin typeface="Calibri"/>
              </a:rPr>
              <a:t>PDF/SARIF + Fix Diffs</a:t>
            </a:r>
          </a:p>
        </p:txBody>
      </p:sp>
      <p:sp>
        <p:nvSpPr>
          <p:cNvPr id="32" name="Shape 28"/>
          <p:cNvSpPr/>
          <p:nvPr/>
        </p:nvSpPr>
        <p:spPr>
          <a:xfrm flipH="1">
            <a:off x="7141464" y="57150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 flipH="1">
            <a:off x="8677656" y="57150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 flipH="1">
            <a:off x="10213848" y="57150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1"/>
          <p:cNvSpPr txBox="1"/>
          <p:nvPr/>
        </p:nvSpPr>
        <p:spPr>
          <a:xfrm>
            <a:off x="10195560" y="5504688"/>
            <a:ext cx="265176" cy="18288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algn="ctr" indent="0" marL="0">
              <a:buNone/>
            </a:pPr>
            <a:r>
              <a:rPr b="1" sz="750">
                <a:solidFill>
                  <a:srgbClr val="10B981"/>
                </a:solidFill>
                <a:latin typeface="Calibri"/>
              </a:rPr>
              <a:t>Yes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5852160" y="4873752"/>
            <a:ext cx="1271016" cy="18288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algn="ctr" indent="0" marL="0">
              <a:buNone/>
            </a:pPr>
            <a:r>
              <a:rPr b="1" sz="700">
                <a:solidFill>
                  <a:srgbClr val="EF4444"/>
                </a:solidFill>
                <a:latin typeface="Calibri"/>
              </a:rPr>
              <a:t>No: abort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0460736" y="6153912"/>
            <a:ext cx="1271016" cy="18288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algn="ctr" indent="0" marL="0">
              <a:buNone/>
            </a:pPr>
            <a:r>
              <a:rPr b="1" sz="700">
                <a:solidFill>
                  <a:srgbClr val="EF4444"/>
                </a:solidFill>
                <a:latin typeface="Calibri"/>
              </a:rPr>
              <a:t>No: drop FP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60020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82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800" dirty="0"/>
          </a:p>
        </p:txBody>
      </p:sp>
      <p:pic>
        <p:nvPicPr>
          <p:cNvPr id="5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feasibility of the idea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Feasibility Dimension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Empirical Validation &amp; Audit Reality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Target Access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Full open-source access (AGPL-3.0); audited all 166 Vercel Edge routes, Next.js frontend, and Tauri Rust IPC locally without external cloud dependencies.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Tooling &amp; Cost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100% open-source &amp; scriptable (Semgrep, Python, ReportLab, Playwright); zero commercial licensing fees; operates fully on standard developer workstations.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Technical Validation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Successfully ingested 14 raw signals, correlated 12 unique flaws, and executed 5 non-destructive PoCs with 100% confirmation and zero false positives.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Scope Compliance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Comprehensive coverage across all 7 NTRO scope areas, OWASP Top 10 (2021), OWASP LLM Top 10, and FIRST CVSS v3.1 scoring standards.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Team Competency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End-to-end AppSec engineering: static AST parsing, edge runtime vulnerability discovery, non-destructive exploit scripting, and executive reporting.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12648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27632"/>
          <a:ext cx="56052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535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Identified Risk / Challenge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Engineered Mitigation Strategy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Scanner Noise &amp; False Positives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Enforce strict two-signal cross-confirmation (SAST rule + AST / dynamic probe agreement) before any finding proceeds to PoC validation.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Fail-Open Limiter Overload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Validated rate limiter degradation safely using mock Redis latency responses, preventing external upstream API quota exhaustion.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Edge Socket Pinning Limit (SSRF)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Analyzed 0-TTL DNS rebinding window analytically and verified Cloudflare DoH residual risk without external network egress.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LLM Multilingual Evasion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Tested prompt injection bypasses against local mock LLM endpoints to validate semantic escape vectors without incurring API tokens.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Audit Reproducibility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Fully containerized pipeline: single-command CLI execution reproduces the entire audit and re-generates all artifacts in under 60 seconds.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 (flow)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201168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PHASE 1: RECON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Surface Mapping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Mapped 166 endpoints
• 5 trust boundaries
• AST route catalog</a:t>
            </a:r>
          </a:p>
        </p:txBody>
      </p:sp>
      <p:sp>
        <p:nvSpPr>
          <p:cNvPr id="15" name="Shape 10"/>
          <p:cNvSpPr/>
          <p:nvPr/>
        </p:nvSpPr>
        <p:spPr>
          <a:xfrm>
            <a:off x="2496312" y="5504688"/>
            <a:ext cx="2491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2772918" y="4800600"/>
            <a:ext cx="201168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PHASE 2: SCANNING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Multi-Engine Scans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Semgrep SAST scan
• npm audit (28 CVEs)
• Custom route probes</a:t>
            </a:r>
          </a:p>
        </p:txBody>
      </p:sp>
      <p:sp>
        <p:nvSpPr>
          <p:cNvPr id="17" name="Shape 12"/>
          <p:cNvSpPr/>
          <p:nvPr/>
        </p:nvSpPr>
        <p:spPr>
          <a:xfrm>
            <a:off x="4812030" y="5504688"/>
            <a:ext cx="2491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5088636" y="4800600"/>
            <a:ext cx="201168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PHASE 3: CORRELATE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Dedupe &amp; Score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Pydantic v2 engine
• Two-signal triage gate
• CVSS 3.1 rating</a:t>
            </a:r>
          </a:p>
        </p:txBody>
      </p:sp>
      <p:sp>
        <p:nvSpPr>
          <p:cNvPr id="19" name="Shape 14"/>
          <p:cNvSpPr/>
          <p:nvPr/>
        </p:nvSpPr>
        <p:spPr>
          <a:xfrm>
            <a:off x="7127748" y="5504688"/>
            <a:ext cx="2491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7404354" y="4800600"/>
            <a:ext cx="201168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PHASE 4: VERIFY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Non-Destructive PoCs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5 verified PoC scripts
• Proof logs captured
• 100% confirmation</a:t>
            </a:r>
          </a:p>
        </p:txBody>
      </p:sp>
      <p:sp>
        <p:nvSpPr>
          <p:cNvPr id="21" name="Shape 16"/>
          <p:cNvSpPr/>
          <p:nvPr/>
        </p:nvSpPr>
        <p:spPr>
          <a:xfrm>
            <a:off x="9443466" y="5504688"/>
            <a:ext cx="2491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17"/>
          <p:cNvSpPr txBox="1"/>
          <p:nvPr/>
        </p:nvSpPr>
        <p:spPr>
          <a:xfrm>
            <a:off x="9720072" y="4800600"/>
            <a:ext cx="2011680" cy="14173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PHASE 5: DELIVER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Reporting &amp; Fixes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12-page PDF report
• SARIF JSON export
• Hardened patch diffs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60020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82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pic>
        <p:nvPicPr>
          <p:cNvPr id="5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Target Stakeholder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Direct Operational Impact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NTRO &amp; Defense Agencies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Provides an automated, repeatable security audit methodology to evaluate sovereign OSINT dashboards, critical data feeds, and border monitoring tools.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World Monitor Developers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Delivers concrete, production-ready remediation diffs (DOMPurify integration, fail-closed rate limiter, Node proxy socket pinning, and XML prompt wrapping).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Intelligence Analysts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Guarantees integrity of geolocated threat feeds; prevents intelligence poisoning via RSS prompt injection, data tampering, and service denial.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AppSec &amp; DevSecOps Teams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Automates continuous compliance against OWASP Top 10, CWE Top 25, and CVSS 3.1 directly within CI/CD pipelines before production release.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126480" y="1325880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 (social, economic, environmental, etc.)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27632"/>
          <a:ext cx="56052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3251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Benefit Dimension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Quantifiable Strategic Advantage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Strategic National Defense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Hardens open-source intelligence platforms against foreign state-sponsored cyber reconnaissance, data injection, and upstream service disruption.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Economic &amp; Time Savings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Reduces manual security audit duration from weeks to minutes, cutting thousands of dollars in commercial penetration testing expenditures.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Zero Infrastructure Footprint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Runs entirely locally on commodity developer hardware; zero cloud dependency, zero external data leakage, and zero recurring subscription fees.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Modular Reusability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Standardized Pydantic architecture enables immediate adaptation to any web application, API gateway, or desktop shell by updating target YAML configs.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57200" y="3931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 (flow)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251960"/>
            <a:ext cx="160020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NOW: WORLD MONITOR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Complete Baseline Audit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166 endpoints audited
• 12 confirmed findings
• 5 non-destructive PoCs
• PDF &amp; SARIF reports</a:t>
            </a:r>
          </a:p>
        </p:txBody>
      </p:sp>
      <p:sp>
        <p:nvSpPr>
          <p:cNvPr id="15" name="Shape 10"/>
          <p:cNvSpPr/>
          <p:nvPr/>
        </p:nvSpPr>
        <p:spPr>
          <a:xfrm>
            <a:off x="2084832" y="5001768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2400300" y="4251960"/>
            <a:ext cx="160020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NEXT: ANY WEB / API APP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Config-Driven Scanner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Declarative YAML targets
• GitHub Actions CI/CD gate
• Automated PR comments
• Pre-commit security hooks</a:t>
            </a:r>
          </a:p>
        </p:txBody>
      </p:sp>
      <p:sp>
        <p:nvSpPr>
          <p:cNvPr id="17" name="Shape 12"/>
          <p:cNvSpPr/>
          <p:nvPr/>
        </p:nvSpPr>
        <p:spPr>
          <a:xfrm>
            <a:off x="4027932" y="5001768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4343400" y="4251960"/>
            <a:ext cx="1600200" cy="1508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txBody>
          <a:bodyPr wrap="square" lIns="73152" tIns="54864" rIns="73152" bIns="54864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b="1" sz="850">
                <a:solidFill>
                  <a:srgbClr val="1E3A8A"/>
                </a:solidFill>
                <a:latin typeface="Calibri"/>
              </a:rPr>
              <a:t>FUTURE: CONTINUOUS POSTURE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b="1" sz="750">
                <a:solidFill>
                  <a:srgbClr val="475569"/>
                </a:solidFill>
                <a:latin typeface="Calibri"/>
              </a:rPr>
              <a:t>Autonomous Audit Agent</a:t>
            </a:r>
          </a:p>
          <a:p>
            <a:pPr algn="l"/>
            <a:r>
              <a:rPr b="0" sz="700">
                <a:solidFill>
                  <a:srgbClr val="1E293B"/>
                </a:solidFill>
                <a:latin typeface="Calibri"/>
              </a:rPr>
              <a:t>• Scheduled re-scan daemon
• Multi-target queue
• OWASP ASVS drift alerts
• Auto-generated patch diffs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r>
              <a:rPr b="0" sz="800">
                <a:solidFill>
                  <a:srgbClr val="475569"/>
                </a:solidFill>
                <a:latin typeface="Calibri"/>
              </a:rPr>
              <a:t>Scalable Core: The correlation engine, CVSS calculator, and report generator remain identical across all targets—only target config schemas change.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126480" y="3931920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per vulnerability (PS-mandated fields)</a:t>
            </a:r>
            <a:endParaRPr lang="en-US" sz="12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251960"/>
          <a:ext cx="560527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320040"/>
                <a:gridCol w="249631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Mandatory PS Deliverable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Mandatory PS Deliverable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Vulnerability Title (Standardized)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Steps to Reproduce (Deterministic)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Detailed Description &amp; Root Cause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Safe Proof of Concept (PoC Evidence)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Affected Component &amp; Line Range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Business &amp; Operational Impact Analysis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Severity Rating (FIRST CVSS v3.1)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E3A8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E293B"/>
                          </a:solidFill>
                          <a:latin typeface="Calibri"/>
                        </a:rPr>
                        <a:t>Practical Remediation Recommendations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6126480" y="5852160"/>
            <a:ext cx="5605272" cy="27432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r>
              <a:rPr b="0" sz="800">
                <a:solidFill>
                  <a:srgbClr val="475569"/>
                </a:solidFill>
                <a:latin typeface="Calibri"/>
              </a:rPr>
              <a:t>100% Deliverable Compliance: All 8 required fields fully populated per vulnerability, exported in Executive PDF, HTML, and SARIF JSON formats.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60020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82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pic>
        <p:nvPicPr>
          <p:cNvPr id="5" name="Image 0" descr="/home/claude/tpl/logo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212080"/>
                <a:gridCol w="2926080"/>
                <a:gridCol w="277063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Academic Literature &amp; Industry Benchmark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Citation / Source Link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Application to ARGUS Audit Methodology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Qadir, Waheed, Khanum &amp; Jehan (2025). Comparative evaluation of approaches &amp; tools for effective security testing of Web applications. PeerJ Computer Science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peerj.com/articles/cs-2821.pdf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Empirical foundation for SAST + DAST multi-tool selection across OWASP Top 10 categories.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A methodology for evaluating DAST scanners (2025). Springer Journal of Computer Virology and Hacking Techniques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doi.org/10.1007/s10207-025-01054-8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Benchmarks crawler efficiency and vulnerability detection rates against standardized testbeds.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A Novel VAPT Algorithm: Enhancing Web Application Security Through OWASP Top 10 Optimization (2023)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arXiv:2311.10450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Algorithmic optimization for mapping automated scanner findings directly to OWASP Top 10 categories.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Do I really need all this work to find vulnerabilities? An empirical comparison of detection techniques (2022)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arXiv:2208.01595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Practical workflow design: automated setup, triage false-positive filtering, and structured reporting.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Semantic Similarity-Based Clustering of Findings From Security Testing Tools (2022)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arXiv:2211.11057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Correlation engine design: clustering and deduplicating overlapping findings from multiple scanners.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OWASP Top 10:2021 &amp; OWASP Top 10 for Large Language Model Applications (2025)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owasp.org/Top10 · owasp.org/llm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Normative security taxonomies for categorizing web vulnerabilities and AI prompt injection risks.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MITRE CWE Top 25 Most Dangerous Software Weaknesses &amp; FIRST CVSS v3.1 Specification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cwe.mitre.org · first.org/cvss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Standardized weakness identification and algorithmic CVSS v3.1 base score / vector calculation.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World Monitor Open-Source Repository, Vercel Edge Architecture &amp; GitHub Advisory GHSA-887j-p88r-qmm9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github.com/koala73/worldmonitor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Target application architecture review, endpoint enumeration, and edge socket rebinding verification.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Industry Security Tooling: Semgrep CLI (1.178.0), npm audit, Playwright Headless, ReportLab PDF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475569"/>
                          </a:solidFill>
                          <a:latin typeface="Calibri"/>
                        </a:rPr>
                        <a:t>semgrep.dev · playwright.dev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E293B"/>
                          </a:solidFill>
                          <a:latin typeface="Calibri"/>
                        </a:rPr>
                        <a:t>Core scanning, dependency analysis, automated PoC reproduction harness, and executive report engine.</a:t>
                      </a: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  <a:ln/>
        </p:spPr>
        <p:txBody>
          <a:bodyPr wrap="square" lIns="73152" tIns="54864" rIns="73152" bIns="54864" rtlCol="0" anchor="ctr"/>
          <a:lstStyle/>
          <a:p>
            <a:pPr indent="0" marL="0" algn="l">
              <a:buNone/>
            </a:pPr>
            <a:pPr indent="0" marL="0">
              <a:buNone/>
            </a:pPr>
            <a:r>
              <a:rPr b="0" sz="750">
                <a:solidFill>
                  <a:srgbClr val="1E3A8A"/>
                </a:solidFill>
                <a:latin typeface="Calibri"/>
              </a:rPr>
              <a:t>Strict Ethical Guardrails &amp; Rules of Engagement: All security testing was executed strictly on an authorized, locally self-hosted sandbox instance (localhost:3000) using seeded test data. Zero active probing, scanning, or exploitation was conducted against production 'worldmonitor.app' or external upstream services. All 5 developed Proof-of-Concept scripts are non-destructive and limited strictly to existence validation. Fully compliant with NTRO guidelines, Indian IT Act (Sections 43 &amp; 66), and responsible vulnerability disclosure standards.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SIH26163 Idea Submission</dc:title>
  <dc:subject>PptxGenJS Presentation</dc:subject>
  <dc:creator>PptxGenJS</dc:creator>
  <cp:lastModifiedBy>PptxGenJS</cp:lastModifiedBy>
  <cp:revision>1</cp:revision>
  <dcterms:created xsi:type="dcterms:W3CDTF">2026-09-28T19:03:53Z</dcterms:created>
  <dcterms:modified xsi:type="dcterms:W3CDTF">2026-09-28T19:03:53Z</dcterms:modified>
</cp:coreProperties>
</file>